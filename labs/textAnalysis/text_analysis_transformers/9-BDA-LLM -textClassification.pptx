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780" r:id="rId1"/>
  </p:sldMasterIdLst>
  <p:notesMasterIdLst>
    <p:notesMasterId r:id="rId67"/>
  </p:notesMasterIdLst>
  <p:handoutMasterIdLst>
    <p:handoutMasterId r:id="rId68"/>
  </p:handoutMasterIdLst>
  <p:sldIdLst>
    <p:sldId id="256" r:id="rId2"/>
    <p:sldId id="1059" r:id="rId3"/>
    <p:sldId id="1060" r:id="rId4"/>
    <p:sldId id="1061" r:id="rId5"/>
    <p:sldId id="1062" r:id="rId6"/>
    <p:sldId id="1063" r:id="rId7"/>
    <p:sldId id="1064" r:id="rId8"/>
    <p:sldId id="1142" r:id="rId9"/>
    <p:sldId id="1143" r:id="rId10"/>
    <p:sldId id="1065" r:id="rId11"/>
    <p:sldId id="1066" r:id="rId12"/>
    <p:sldId id="1067" r:id="rId13"/>
    <p:sldId id="1068" r:id="rId14"/>
    <p:sldId id="1069" r:id="rId15"/>
    <p:sldId id="1070" r:id="rId16"/>
    <p:sldId id="1071" r:id="rId17"/>
    <p:sldId id="1072" r:id="rId18"/>
    <p:sldId id="1073" r:id="rId19"/>
    <p:sldId id="1074" r:id="rId20"/>
    <p:sldId id="1075" r:id="rId21"/>
    <p:sldId id="1147" r:id="rId22"/>
    <p:sldId id="1076" r:id="rId23"/>
    <p:sldId id="1148" r:id="rId24"/>
    <p:sldId id="1150" r:id="rId25"/>
    <p:sldId id="1149" r:id="rId26"/>
    <p:sldId id="1077" r:id="rId27"/>
    <p:sldId id="1080" r:id="rId28"/>
    <p:sldId id="1078" r:id="rId29"/>
    <p:sldId id="1079" r:id="rId30"/>
    <p:sldId id="1081" r:id="rId31"/>
    <p:sldId id="1082" r:id="rId32"/>
    <p:sldId id="1151" r:id="rId33"/>
    <p:sldId id="1152" r:id="rId34"/>
    <p:sldId id="1153" r:id="rId35"/>
    <p:sldId id="1154" r:id="rId36"/>
    <p:sldId id="1084" r:id="rId37"/>
    <p:sldId id="1155" r:id="rId38"/>
    <p:sldId id="1156" r:id="rId39"/>
    <p:sldId id="1157" r:id="rId40"/>
    <p:sldId id="1158" r:id="rId41"/>
    <p:sldId id="1159" r:id="rId42"/>
    <p:sldId id="1160" r:id="rId43"/>
    <p:sldId id="1166" r:id="rId44"/>
    <p:sldId id="1167" r:id="rId45"/>
    <p:sldId id="1168" r:id="rId46"/>
    <p:sldId id="1161" r:id="rId47"/>
    <p:sldId id="1169" r:id="rId48"/>
    <p:sldId id="1162" r:id="rId49"/>
    <p:sldId id="1170" r:id="rId50"/>
    <p:sldId id="1163" r:id="rId51"/>
    <p:sldId id="1164" r:id="rId52"/>
    <p:sldId id="1085" r:id="rId53"/>
    <p:sldId id="1086" r:id="rId54"/>
    <p:sldId id="1089" r:id="rId55"/>
    <p:sldId id="1090" r:id="rId56"/>
    <p:sldId id="1091" r:id="rId57"/>
    <p:sldId id="1092" r:id="rId58"/>
    <p:sldId id="1094" r:id="rId59"/>
    <p:sldId id="1095" r:id="rId60"/>
    <p:sldId id="1165" r:id="rId61"/>
    <p:sldId id="1097" r:id="rId62"/>
    <p:sldId id="1096" r:id="rId63"/>
    <p:sldId id="1093" r:id="rId64"/>
    <p:sldId id="348" r:id="rId65"/>
    <p:sldId id="1133" r:id="rId66"/>
  </p:sldIdLst>
  <p:sldSz cx="9144000" cy="6858000" type="screen4x3"/>
  <p:notesSz cx="6797675" cy="99266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38532663-DFA0-4222-B21A-DBFD38C277BE}">
          <p14:sldIdLst>
            <p14:sldId id="256"/>
            <p14:sldId id="1059"/>
            <p14:sldId id="1060"/>
            <p14:sldId id="1061"/>
            <p14:sldId id="1062"/>
            <p14:sldId id="1063"/>
            <p14:sldId id="1064"/>
            <p14:sldId id="1142"/>
            <p14:sldId id="1143"/>
            <p14:sldId id="1065"/>
            <p14:sldId id="1066"/>
            <p14:sldId id="1067"/>
            <p14:sldId id="1068"/>
            <p14:sldId id="1069"/>
            <p14:sldId id="1070"/>
            <p14:sldId id="1071"/>
            <p14:sldId id="1072"/>
            <p14:sldId id="1073"/>
            <p14:sldId id="1074"/>
            <p14:sldId id="1075"/>
            <p14:sldId id="1147"/>
            <p14:sldId id="1076"/>
            <p14:sldId id="1148"/>
            <p14:sldId id="1150"/>
            <p14:sldId id="1149"/>
            <p14:sldId id="1077"/>
            <p14:sldId id="1080"/>
            <p14:sldId id="1078"/>
            <p14:sldId id="1079"/>
            <p14:sldId id="1081"/>
            <p14:sldId id="1082"/>
            <p14:sldId id="1151"/>
            <p14:sldId id="1152"/>
            <p14:sldId id="1153"/>
            <p14:sldId id="1154"/>
            <p14:sldId id="1084"/>
            <p14:sldId id="1155"/>
            <p14:sldId id="1156"/>
            <p14:sldId id="1157"/>
            <p14:sldId id="1158"/>
            <p14:sldId id="1159"/>
            <p14:sldId id="1160"/>
            <p14:sldId id="1166"/>
            <p14:sldId id="1167"/>
            <p14:sldId id="1168"/>
            <p14:sldId id="1161"/>
            <p14:sldId id="1169"/>
            <p14:sldId id="1162"/>
            <p14:sldId id="1170"/>
            <p14:sldId id="1163"/>
            <p14:sldId id="1164"/>
            <p14:sldId id="1085"/>
            <p14:sldId id="1086"/>
            <p14:sldId id="1089"/>
            <p14:sldId id="1090"/>
            <p14:sldId id="1091"/>
            <p14:sldId id="1092"/>
            <p14:sldId id="1094"/>
            <p14:sldId id="1095"/>
            <p14:sldId id="1165"/>
            <p14:sldId id="1097"/>
            <p14:sldId id="1096"/>
            <p14:sldId id="1093"/>
            <p14:sldId id="348"/>
            <p14:sldId id="113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fguerra" initials="f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Stile medio 4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27" autoAdjust="0"/>
    <p:restoredTop sz="91489" autoAdjust="0"/>
  </p:normalViewPr>
  <p:slideViewPr>
    <p:cSldViewPr>
      <p:cViewPr varScale="1">
        <p:scale>
          <a:sx n="84" d="100"/>
          <a:sy n="84" d="100"/>
        </p:scale>
        <p:origin x="1555" y="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6" y="115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21298"/>
    </p:cViewPr>
  </p:sorterViewPr>
  <p:notesViewPr>
    <p:cSldViewPr>
      <p:cViewPr varScale="1">
        <p:scale>
          <a:sx n="63" d="100"/>
          <a:sy n="63" d="100"/>
        </p:scale>
        <p:origin x="-3390" y="-108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60" cy="496332"/>
          </a:xfrm>
          <a:prstGeom prst="rect">
            <a:avLst/>
          </a:prstGeom>
        </p:spPr>
        <p:txBody>
          <a:bodyPr vert="horz" lIns="92153" tIns="46078" rIns="92153" bIns="46078" rtlCol="0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50443" y="1"/>
            <a:ext cx="2945660" cy="496332"/>
          </a:xfrm>
          <a:prstGeom prst="rect">
            <a:avLst/>
          </a:prstGeom>
        </p:spPr>
        <p:txBody>
          <a:bodyPr vert="horz" lIns="92153" tIns="46078" rIns="92153" bIns="46078" rtlCol="0"/>
          <a:lstStyle>
            <a:lvl1pPr algn="r">
              <a:defRPr sz="1300"/>
            </a:lvl1pPr>
          </a:lstStyle>
          <a:p>
            <a:fld id="{013C82D1-D374-4622-8932-EF87371EF85C}" type="datetimeFigureOut">
              <a:rPr lang="it-IT" smtClean="0"/>
              <a:t>19/12/2025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9428585"/>
            <a:ext cx="2945660" cy="496332"/>
          </a:xfrm>
          <a:prstGeom prst="rect">
            <a:avLst/>
          </a:prstGeom>
        </p:spPr>
        <p:txBody>
          <a:bodyPr vert="horz" lIns="92153" tIns="46078" rIns="92153" bIns="46078" rtlCol="0" anchor="b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50443" y="9428585"/>
            <a:ext cx="2945660" cy="496332"/>
          </a:xfrm>
          <a:prstGeom prst="rect">
            <a:avLst/>
          </a:prstGeom>
        </p:spPr>
        <p:txBody>
          <a:bodyPr vert="horz" lIns="92153" tIns="46078" rIns="92153" bIns="46078" rtlCol="0" anchor="b"/>
          <a:lstStyle>
            <a:lvl1pPr algn="r">
              <a:defRPr sz="1300"/>
            </a:lvl1pPr>
          </a:lstStyle>
          <a:p>
            <a:fld id="{59DAC500-B105-4B75-838D-FC70B579A17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388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60" cy="496332"/>
          </a:xfrm>
          <a:prstGeom prst="rect">
            <a:avLst/>
          </a:prstGeom>
        </p:spPr>
        <p:txBody>
          <a:bodyPr vert="horz" lIns="92153" tIns="46078" rIns="92153" bIns="46078" rtlCol="0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60" cy="496332"/>
          </a:xfrm>
          <a:prstGeom prst="rect">
            <a:avLst/>
          </a:prstGeom>
        </p:spPr>
        <p:txBody>
          <a:bodyPr vert="horz" lIns="92153" tIns="46078" rIns="92153" bIns="46078" rtlCol="0"/>
          <a:lstStyle>
            <a:lvl1pPr algn="r">
              <a:defRPr sz="1300"/>
            </a:lvl1pPr>
          </a:lstStyle>
          <a:p>
            <a:fld id="{025D4834-976F-4EA4-868C-94B79CFA6C62}" type="datetimeFigureOut">
              <a:rPr lang="it-IT" smtClean="0"/>
              <a:t>19/12/2025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2950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53" tIns="46078" rIns="92153" bIns="46078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768" y="4715155"/>
            <a:ext cx="5438140" cy="4466987"/>
          </a:xfrm>
          <a:prstGeom prst="rect">
            <a:avLst/>
          </a:prstGeom>
        </p:spPr>
        <p:txBody>
          <a:bodyPr vert="horz" lIns="92153" tIns="46078" rIns="92153" bIns="46078" rtlCol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60" cy="496332"/>
          </a:xfrm>
          <a:prstGeom prst="rect">
            <a:avLst/>
          </a:prstGeom>
        </p:spPr>
        <p:txBody>
          <a:bodyPr vert="horz" lIns="92153" tIns="46078" rIns="92153" bIns="46078" rtlCol="0" anchor="b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5"/>
            <a:ext cx="2945660" cy="496332"/>
          </a:xfrm>
          <a:prstGeom prst="rect">
            <a:avLst/>
          </a:prstGeom>
        </p:spPr>
        <p:txBody>
          <a:bodyPr vert="horz" lIns="92153" tIns="46078" rIns="92153" bIns="46078" rtlCol="0" anchor="b"/>
          <a:lstStyle>
            <a:lvl1pPr algn="r">
              <a:defRPr sz="1300"/>
            </a:lvl1pPr>
          </a:lstStyle>
          <a:p>
            <a:fld id="{28FBF274-6D28-49CE-84A6-57C25469BA1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0821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FBF274-6D28-49CE-84A6-57C25469BA1D}" type="slidenum">
              <a:rPr lang="it-IT" smtClean="0"/>
              <a:t>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17480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it-IT"/>
              <a:t>Fare clic per modificare lo stile del titolo</a:t>
            </a:r>
            <a:endParaRPr kumimoji="0" lang="en-US"/>
          </a:p>
        </p:txBody>
      </p:sp>
      <p:sp>
        <p:nvSpPr>
          <p:cNvPr id="9" name="Sottotitolo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it-IT"/>
              <a:t>Fare clic per modificare lo stile del sottotitolo dello schema</a:t>
            </a:r>
            <a:endParaRPr kumimoji="0" lang="en-US"/>
          </a:p>
        </p:txBody>
      </p:sp>
      <p:sp>
        <p:nvSpPr>
          <p:cNvPr id="28" name="Segnaposto data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it-IT"/>
          </a:p>
        </p:txBody>
      </p:sp>
      <p:sp>
        <p:nvSpPr>
          <p:cNvPr id="17" name="Segnaposto piè di pagina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it-IT"/>
              <a:t>Francesco Guerra </a:t>
            </a:r>
          </a:p>
        </p:txBody>
      </p:sp>
      <p:sp>
        <p:nvSpPr>
          <p:cNvPr id="29" name="Segnaposto numero diapositiva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21" name="Rettangolo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ttangolo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ttangolo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ttangolo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152400"/>
            <a:ext cx="8208912" cy="990600"/>
          </a:xfrm>
        </p:spPr>
        <p:txBody>
          <a:bodyPr>
            <a:noAutofit/>
          </a:bodyPr>
          <a:lstStyle>
            <a:lvl1pPr algn="r">
              <a:defRPr sz="2800">
                <a:latin typeface="Trebuchet MS" pitchFamily="34" charset="0"/>
              </a:defRPr>
            </a:lvl1pPr>
          </a:lstStyle>
          <a:p>
            <a:r>
              <a:rPr kumimoji="0" lang="it-IT" dirty="0"/>
              <a:t>Fare clic per modificare lo stile del titolo</a:t>
            </a:r>
            <a:endParaRPr kumimoji="0" lang="en-US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83568" y="6366088"/>
            <a:ext cx="5720280" cy="340782"/>
          </a:xfrm>
        </p:spPr>
        <p:txBody>
          <a:bodyPr/>
          <a:lstStyle>
            <a:lvl1pPr>
              <a:defRPr>
                <a:latin typeface="Trebuchet MS" pitchFamily="34" charset="0"/>
              </a:defRPr>
            </a:lvl1pPr>
          </a:lstStyle>
          <a:p>
            <a:pPr algn="l"/>
            <a:r>
              <a:rPr lang="it-IT" dirty="0"/>
              <a:t>Francesco Guerra 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695256" y="6370280"/>
            <a:ext cx="1981200" cy="365760"/>
          </a:xfrm>
        </p:spPr>
        <p:txBody>
          <a:bodyPr/>
          <a:lstStyle>
            <a:lvl1pPr algn="r">
              <a:defRPr/>
            </a:lvl1pPr>
          </a:lstStyle>
          <a:p>
            <a:fld id="{E7A41E1B-4F70-4964-A407-84C68BE8251C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8" name="Segnaposto contenuto 7"/>
          <p:cNvSpPr>
            <a:spLocks noGrp="1"/>
          </p:cNvSpPr>
          <p:nvPr>
            <p:ph sz="quarter" idx="1"/>
          </p:nvPr>
        </p:nvSpPr>
        <p:spPr>
          <a:xfrm>
            <a:off x="467544" y="1219200"/>
            <a:ext cx="8229600" cy="4937760"/>
          </a:xfr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defRPr sz="2000">
                <a:latin typeface="Trebuchet MS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800">
                <a:latin typeface="Trebuchet MS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600">
                <a:latin typeface="Trebuchet MS" pitchFamily="3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600">
                <a:latin typeface="Trebuchet MS" pitchFamily="3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600">
                <a:latin typeface="Trebuchet MS" pitchFamily="34" charset="0"/>
              </a:defRPr>
            </a:lvl5pPr>
          </a:lstStyle>
          <a:p>
            <a:pPr lvl="0" eaLnBrk="1" latinLnBrk="0" hangingPunct="1"/>
            <a:r>
              <a:rPr lang="it-IT" dirty="0"/>
              <a:t>Fare clic per modificare stili del testo dello schema</a:t>
            </a:r>
          </a:p>
          <a:p>
            <a:pPr lvl="1" eaLnBrk="1" latinLnBrk="0" hangingPunct="1"/>
            <a:r>
              <a:rPr lang="it-IT" dirty="0"/>
              <a:t>Secondo livello</a:t>
            </a:r>
          </a:p>
          <a:p>
            <a:pPr lvl="2" eaLnBrk="1" latinLnBrk="0" hangingPunct="1"/>
            <a:r>
              <a:rPr lang="it-IT" dirty="0"/>
              <a:t>Terzo livello</a:t>
            </a:r>
          </a:p>
          <a:p>
            <a:pPr lvl="3" eaLnBrk="1" latinLnBrk="0" hangingPunct="1"/>
            <a:r>
              <a:rPr lang="it-IT" dirty="0"/>
              <a:t>Quarto livello</a:t>
            </a:r>
          </a:p>
          <a:p>
            <a:pPr lvl="4" eaLnBrk="1" latinLnBrk="0" hangingPunct="1"/>
            <a:r>
              <a:rPr lang="it-IT" dirty="0"/>
              <a:t>Quinto livello</a:t>
            </a:r>
            <a:endParaRPr kumimoji="0" lang="en-US" dirty="0"/>
          </a:p>
        </p:txBody>
      </p:sp>
      <p:sp>
        <p:nvSpPr>
          <p:cNvPr id="7" name="Rectangle 14"/>
          <p:cNvSpPr>
            <a:spLocks noChangeArrowheads="1"/>
          </p:cNvSpPr>
          <p:nvPr userDrawn="1"/>
        </p:nvSpPr>
        <p:spPr bwMode="auto">
          <a:xfrm>
            <a:off x="0" y="0"/>
            <a:ext cx="381000" cy="68580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it-IT" sz="1800"/>
          </a:p>
        </p:txBody>
      </p:sp>
      <p:sp>
        <p:nvSpPr>
          <p:cNvPr id="9" name="Text Box 15"/>
          <p:cNvSpPr txBox="1">
            <a:spLocks noChangeArrowheads="1"/>
          </p:cNvSpPr>
          <p:nvPr userDrawn="1"/>
        </p:nvSpPr>
        <p:spPr bwMode="auto">
          <a:xfrm rot="16200000">
            <a:off x="-1442032" y="1459135"/>
            <a:ext cx="32849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800" dirty="0">
                <a:solidFill>
                  <a:schemeClr val="bg1"/>
                </a:solidFill>
                <a:latin typeface="Trebuchet MS" pitchFamily="34" charset="0"/>
              </a:rPr>
              <a:t>BIG</a:t>
            </a:r>
            <a:r>
              <a:rPr lang="en-US" sz="1800" baseline="0" dirty="0">
                <a:solidFill>
                  <a:schemeClr val="bg1"/>
                </a:solidFill>
                <a:latin typeface="Trebuchet MS" pitchFamily="34" charset="0"/>
              </a:rPr>
              <a:t> DATA AND TEXT ANALISYS</a:t>
            </a:r>
            <a:endParaRPr lang="en-US" sz="1800" dirty="0">
              <a:solidFill>
                <a:schemeClr val="bg1"/>
              </a:solidFill>
              <a:latin typeface="Trebuchet MS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it-IT"/>
              <a:t>Fare clic per modificare lo stile del titolo</a:t>
            </a:r>
            <a:endParaRPr kumimoji="0"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it-IT"/>
              <a:t>Francesco Guerra 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7" name="Rettangolo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tangolo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it-IT"/>
              <a:t>Fare clic per modificare lo stile del titolo</a:t>
            </a:r>
            <a:endParaRPr kumimoji="0"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Francesco Guerra 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9" name="Segnaposto contenuto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it-IT"/>
              <a:t>Fare clic per modificare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11" name="Segnaposto contenuto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it-IT"/>
              <a:t>Fare clic per modificare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it-IT"/>
              <a:t>Fare clic per modificare lo stile del titolo</a:t>
            </a:r>
            <a:endParaRPr kumimoji="0" lang="en-US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Francesco Guerra 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6" name="Triangolo isosce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it-IT"/>
              <a:t>Fare clic per modificare lo stile del titolo</a:t>
            </a:r>
            <a:endParaRPr kumimoji="0"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it-IT"/>
              <a:t>Fare clic per modificare stili del testo dello schema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it-IT"/>
              <a:t>Fare clic per modificare stili del testo dello schema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Francesco Guerra 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11" name="Segnaposto contenuto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it-IT"/>
              <a:t>Fare clic per modificare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13" name="Segnaposto contenuto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it-IT"/>
              <a:t>Fare clic per modificare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Francesco Guerra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5" name="Connettore 1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riangolo isosce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it-IT"/>
              <a:t>Fare clic per modificare lo stile del titolo</a:t>
            </a:r>
            <a:endParaRPr kumimoji="0"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Francesco Guerra 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8" name="Connettore 1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Connettore 1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Triangolo isosce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egnaposto contenuto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it-IT"/>
              <a:t>Fare clic per modificare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it-IT"/>
              <a:t>Fare clic per modificare lo stile del titolo</a:t>
            </a:r>
            <a:endParaRPr kumimoji="0"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it-IT"/>
              <a:t>Fare clic sull'icona per inserire un'immagine</a:t>
            </a:r>
            <a:endParaRPr kumimoji="0" lang="en-US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Francesco Guerra 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8" name="Connettore 1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riangolo isosce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tangolo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it-IT"/>
              <a:t>Fare clic per modificare lo stile del titolo</a:t>
            </a:r>
            <a:endParaRPr kumimoji="0"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it-IT"/>
              <a:t>Fare clic per modificare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Francesco Guerra 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it-IT"/>
              <a:t>Fare clic per modificare lo stile del titolo</a:t>
            </a:r>
            <a:endParaRPr kumimoji="0"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it-IT"/>
              <a:t>Fare clic per modificare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Francesco Guerra 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7" name="Connettore 1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riangolo isosce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Connettore 1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gnaposto titolo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it-IT"/>
              <a:t>Fare clic per modificare lo stile del titolo</a:t>
            </a:r>
            <a:endParaRPr kumimoji="0" lang="en-US"/>
          </a:p>
        </p:txBody>
      </p:sp>
      <p:sp>
        <p:nvSpPr>
          <p:cNvPr id="13" name="Segnaposto testo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it-IT" dirty="0"/>
              <a:t>Fare clic per modificare stili del testo dello schema</a:t>
            </a:r>
          </a:p>
          <a:p>
            <a:pPr lvl="1" eaLnBrk="1" latinLnBrk="0" hangingPunct="1"/>
            <a:r>
              <a:rPr kumimoji="0" lang="it-IT" dirty="0"/>
              <a:t>Secondo livello</a:t>
            </a:r>
          </a:p>
          <a:p>
            <a:pPr lvl="2" eaLnBrk="1" latinLnBrk="0" hangingPunct="1"/>
            <a:r>
              <a:rPr kumimoji="0" lang="it-IT" dirty="0"/>
              <a:t>Terzo livello</a:t>
            </a:r>
          </a:p>
          <a:p>
            <a:pPr lvl="3" eaLnBrk="1" latinLnBrk="0" hangingPunct="1"/>
            <a:r>
              <a:rPr kumimoji="0" lang="it-IT" dirty="0"/>
              <a:t>Quarto livello</a:t>
            </a:r>
          </a:p>
          <a:p>
            <a:pPr lvl="4" eaLnBrk="1" latinLnBrk="0" hangingPunct="1"/>
            <a:r>
              <a:rPr kumimoji="0" lang="it-IT" dirty="0"/>
              <a:t>Quinto livello</a:t>
            </a:r>
            <a:endParaRPr kumimoji="0" lang="en-US" dirty="0"/>
          </a:p>
        </p:txBody>
      </p:sp>
      <p:sp>
        <p:nvSpPr>
          <p:cNvPr id="14" name="Segnaposto data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it-IT"/>
              <a:t>Francesco Guerra </a:t>
            </a:r>
          </a:p>
        </p:txBody>
      </p:sp>
      <p:sp>
        <p:nvSpPr>
          <p:cNvPr id="23" name="Segnaposto numero diapositiva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28" name="Connettore 1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Connettore 1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Triangolo isosce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6" r:id="rId5"/>
    <p:sldLayoutId id="2147483785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spcAft>
          <a:spcPts val="900"/>
        </a:spcAft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600"/>
        </a:spcBef>
        <a:spcAft>
          <a:spcPts val="900"/>
        </a:spcAft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600"/>
        </a:spcBef>
        <a:spcAft>
          <a:spcPts val="900"/>
        </a:spcAft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600"/>
        </a:spcBef>
        <a:spcAft>
          <a:spcPts val="900"/>
        </a:spcAft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600"/>
        </a:spcBef>
        <a:spcAft>
          <a:spcPts val="900"/>
        </a:spcAft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~jurafsky/slp3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://web.stanford.edu/~jurafsky/" TargetMode="External"/><Relationship Id="rId2" Type="http://schemas.openxmlformats.org/officeDocument/2006/relationships/hyperlink" Target="https://web.stanford.edu/~jurafsky/slp3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://www.mmds.org/" TargetMode="External"/><Relationship Id="rId4" Type="http://schemas.openxmlformats.org/officeDocument/2006/relationships/hyperlink" Target="http://www.cs.berkeley.edu/~klein/cs288/sp10/slides/SP10%20cs288%20lecture%203%20--%20language%20models%20II%20(6PP).pdf" TargetMode="Externa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hyperlink" Target="https://aclanthology.org/2022.tacl-1.11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386408" y="4005064"/>
            <a:ext cx="6858000" cy="792088"/>
          </a:xfrm>
        </p:spPr>
        <p:txBody>
          <a:bodyPr>
            <a:normAutofit/>
          </a:bodyPr>
          <a:lstStyle/>
          <a:p>
            <a:r>
              <a:rPr lang="it-IT" sz="3100" dirty="0"/>
              <a:t>Text Analysis -Transformers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t-IT" dirty="0"/>
              <a:t>Francesco Guerra</a:t>
            </a:r>
            <a:br>
              <a:rPr lang="it-IT" dirty="0"/>
            </a:br>
            <a:r>
              <a:rPr lang="it-IT" dirty="0"/>
              <a:t>francesco.guerra@unimore.it</a:t>
            </a:r>
          </a:p>
        </p:txBody>
      </p:sp>
      <p:sp>
        <p:nvSpPr>
          <p:cNvPr id="4" name="Rettangolo 3"/>
          <p:cNvSpPr/>
          <p:nvPr/>
        </p:nvSpPr>
        <p:spPr>
          <a:xfrm>
            <a:off x="3851920" y="6093296"/>
            <a:ext cx="18190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dirty="0"/>
              <a:t>Big Data Analysis </a:t>
            </a:r>
          </a:p>
        </p:txBody>
      </p:sp>
      <p:sp>
        <p:nvSpPr>
          <p:cNvPr id="5" name="Rettangolo 4"/>
          <p:cNvSpPr/>
          <p:nvPr/>
        </p:nvSpPr>
        <p:spPr>
          <a:xfrm>
            <a:off x="3842091" y="764704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Most of the material has been taken from </a:t>
            </a:r>
          </a:p>
          <a:p>
            <a:r>
              <a:rPr lang="it-IT" dirty="0" err="1"/>
              <a:t>Jurafsky</a:t>
            </a:r>
            <a:r>
              <a:rPr lang="it-IT" dirty="0"/>
              <a:t> &amp; J. H. Martin: </a:t>
            </a:r>
            <a:r>
              <a:rPr lang="it-IT" b="1" dirty="0"/>
              <a:t>Speech and Language Processing</a:t>
            </a:r>
            <a:r>
              <a:rPr lang="it-IT" dirty="0"/>
              <a:t>, </a:t>
            </a:r>
            <a:r>
              <a:rPr lang="it-IT" dirty="0" err="1"/>
              <a:t>Pearson</a:t>
            </a:r>
            <a:r>
              <a:rPr lang="it-IT" dirty="0"/>
              <a:t> International 3ed </a:t>
            </a:r>
            <a:r>
              <a:rPr lang="it-IT" dirty="0" err="1"/>
              <a:t>draft</a:t>
            </a:r>
            <a:r>
              <a:rPr lang="it-IT" dirty="0"/>
              <a:t> </a:t>
            </a:r>
            <a:r>
              <a:rPr lang="en-US" dirty="0">
                <a:hlinkClick r:id="rId3"/>
              </a:rPr>
              <a:t>https://web.stanford.edu/~jurafsky/slp3/</a:t>
            </a:r>
            <a:endParaRPr lang="en-US" dirty="0"/>
          </a:p>
          <a:p>
            <a:endParaRPr lang="en-US" dirty="0"/>
          </a:p>
          <a:p>
            <a:r>
              <a:rPr lang="en-US" dirty="0"/>
              <a:t>Jay </a:t>
            </a:r>
            <a:r>
              <a:rPr lang="en-US" dirty="0" err="1"/>
              <a:t>Alammar</a:t>
            </a:r>
            <a:r>
              <a:rPr lang="en-US" dirty="0"/>
              <a:t>, Maarten Grootendorst: Hands-On Large Language Models Published by O'Reilly Media, Inc.</a:t>
            </a:r>
          </a:p>
          <a:p>
            <a:endParaRPr lang="en-US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978" y="260648"/>
            <a:ext cx="2168859" cy="78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60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77D81D-7701-DB53-923A-218129719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224" y="3501008"/>
            <a:ext cx="8208912" cy="990600"/>
          </a:xfrm>
        </p:spPr>
        <p:txBody>
          <a:bodyPr/>
          <a:lstStyle/>
          <a:p>
            <a:r>
              <a:rPr lang="it-IT" dirty="0"/>
              <a:t>Text </a:t>
            </a:r>
            <a:r>
              <a:rPr lang="it-IT" dirty="0" err="1"/>
              <a:t>Classification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C7EAAA0-5DA9-9C7D-2EFE-631DDCF15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6D5123A-1346-26AB-4B12-1EE15BE39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1141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22E483-6050-B87B-DB74-2FE88EEAD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Text </a:t>
            </a:r>
            <a:r>
              <a:rPr lang="it-IT" dirty="0" err="1"/>
              <a:t>Classification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D96B4DA-A6B8-684A-AFB9-10AE15295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07AD29E-86FA-E051-4BDF-906A41DBF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3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57A7F0D1-6C10-D819-555E-A4C4ABDE8B5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goal of the task is to train a model to assign a label or class to some input text.</a:t>
            </a:r>
          </a:p>
          <a:p>
            <a:pPr lvl="1"/>
            <a:r>
              <a:rPr lang="en-US" dirty="0"/>
              <a:t>Classifying text is used across for sentiment analysis, intent detection, extracting entities, detecting language ... </a:t>
            </a:r>
          </a:p>
          <a:p>
            <a:r>
              <a:rPr lang="en-US" dirty="0"/>
              <a:t>Two base techniques:</a:t>
            </a:r>
          </a:p>
          <a:p>
            <a:pPr marL="274320" lvl="1" indent="0">
              <a:buNone/>
            </a:pPr>
            <a:endParaRPr lang="it-IT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97872D4-B056-FEE6-87FB-F5649AC83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3356992"/>
            <a:ext cx="571500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8340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C83FF8-9AE9-FCB2-15A7-918C90C78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Classification with Representation Models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0727EA6-5919-C4EC-3409-6BCC91BB0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E3BADA2-698C-ABF8-F441-617A28ADF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4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D74C5DEB-875C-BF2F-3221-5A2E0F6FB3A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it-IT" dirty="0"/>
              <a:t>Two techniques:</a:t>
            </a:r>
          </a:p>
          <a:p>
            <a:pPr lvl="1"/>
            <a:r>
              <a:rPr lang="en-US" dirty="0"/>
              <a:t>using a task-specific model or an embedding model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it-IT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1F2EAA3-1CB7-131F-12B7-200CF31E3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844" y="2780928"/>
            <a:ext cx="5715000" cy="273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5429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86080B-C2C2-FBF3-1A38-B2C45E02A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Model </a:t>
            </a:r>
            <a:r>
              <a:rPr lang="it-IT" dirty="0" err="1"/>
              <a:t>Selection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99FC255-624F-6766-B368-C857B3F0F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18D9E8F-FCC1-EE65-712E-E95D4EF4B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5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64AB2A5D-C473-6516-1A5B-C21E1107D70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Choosing the right models is not as straightforward </a:t>
            </a:r>
          </a:p>
          <a:p>
            <a:pPr lvl="1"/>
            <a:r>
              <a:rPr lang="en-US" dirty="0"/>
              <a:t>over 60,000 models on the Hugging Face Hub for text classification and more than 8,000 models that generate embeddings in 2025. </a:t>
            </a:r>
          </a:p>
          <a:p>
            <a:pPr lvl="1"/>
            <a:r>
              <a:rPr lang="en-US" dirty="0"/>
              <a:t>it’s crucial to select a model that fits your use case and consider its language compatibility, the underlying architecture, size, and performance.</a:t>
            </a:r>
          </a:p>
          <a:p>
            <a:r>
              <a:rPr lang="en-US" dirty="0"/>
              <a:t>BERT (or one of its variations) are a popular choice for creating task-specific and embedding models. https://huggingface.co/models</a:t>
            </a:r>
          </a:p>
          <a:p>
            <a:pPr lvl="2"/>
            <a:r>
              <a:rPr lang="it-IT" dirty="0"/>
              <a:t>BERT base model (</a:t>
            </a:r>
            <a:r>
              <a:rPr lang="it-IT" dirty="0" err="1"/>
              <a:t>uncased</a:t>
            </a:r>
            <a:r>
              <a:rPr lang="it-IT" dirty="0"/>
              <a:t>)</a:t>
            </a:r>
          </a:p>
          <a:p>
            <a:pPr lvl="2"/>
            <a:r>
              <a:rPr lang="it-IT" dirty="0" err="1"/>
              <a:t>RoBERTa</a:t>
            </a:r>
            <a:r>
              <a:rPr lang="it-IT" dirty="0"/>
              <a:t> base model</a:t>
            </a:r>
          </a:p>
          <a:p>
            <a:pPr lvl="2"/>
            <a:r>
              <a:rPr lang="it-IT" dirty="0" err="1"/>
              <a:t>DistilBERT</a:t>
            </a:r>
            <a:r>
              <a:rPr lang="it-IT" dirty="0"/>
              <a:t> base model (</a:t>
            </a:r>
            <a:r>
              <a:rPr lang="it-IT" dirty="0" err="1"/>
              <a:t>uncased</a:t>
            </a:r>
            <a:r>
              <a:rPr lang="it-IT" dirty="0"/>
              <a:t>)</a:t>
            </a:r>
          </a:p>
          <a:p>
            <a:pPr lvl="2"/>
            <a:r>
              <a:rPr lang="it-IT" dirty="0" err="1"/>
              <a:t>DeBERTa</a:t>
            </a:r>
            <a:r>
              <a:rPr lang="it-IT" dirty="0"/>
              <a:t> base model</a:t>
            </a:r>
          </a:p>
          <a:p>
            <a:pPr lvl="2"/>
            <a:r>
              <a:rPr lang="it-IT" dirty="0" err="1"/>
              <a:t>bert-tiny</a:t>
            </a:r>
            <a:endParaRPr lang="it-IT" dirty="0"/>
          </a:p>
          <a:p>
            <a:pPr lvl="2"/>
            <a:r>
              <a:rPr lang="it-IT" dirty="0"/>
              <a:t>ALBERT base v2</a:t>
            </a:r>
          </a:p>
        </p:txBody>
      </p:sp>
    </p:spTree>
    <p:extLst>
      <p:ext uri="{BB962C8B-B14F-4D97-AF65-F5344CB8AC3E}">
        <p14:creationId xmlns:p14="http://schemas.microsoft.com/office/powerpoint/2010/main" val="3988647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1CD1DC-20B6-7BDD-4EC5-F295BDDCD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52400"/>
            <a:ext cx="8208912" cy="990600"/>
          </a:xfrm>
        </p:spPr>
        <p:txBody>
          <a:bodyPr anchor="b">
            <a:normAutofit/>
          </a:bodyPr>
          <a:lstStyle/>
          <a:p>
            <a:r>
              <a:rPr lang="it-IT" dirty="0"/>
              <a:t>Using a Task-</a:t>
            </a:r>
            <a:r>
              <a:rPr lang="it-IT" dirty="0" err="1"/>
              <a:t>Specific</a:t>
            </a:r>
            <a:r>
              <a:rPr lang="it-IT" dirty="0"/>
              <a:t> Model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5184727-195A-1BC6-60C2-578451826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3568" y="6366088"/>
            <a:ext cx="5720280" cy="340782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it-IT"/>
              <a:t>Francesco Guerra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397BEF9-E106-A245-E3B7-E4A178AA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95256" y="6370280"/>
            <a:ext cx="1981200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7A41E1B-4F70-4964-A407-84C68BE8251C}" type="slidenum">
              <a:rPr lang="it-IT" smtClean="0"/>
              <a:pPr>
                <a:spcAft>
                  <a:spcPts val="600"/>
                </a:spcAft>
              </a:pPr>
              <a:t>6</a:t>
            </a:fld>
            <a:endParaRPr lang="it-IT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44F2A43-1EE4-618D-3DB3-B85F9F7F8EE2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34345" y="1772816"/>
            <a:ext cx="5412521" cy="4384144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035404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3F6AAB-CAF4-8737-0FD9-2EAF28689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Tasks That Leverage Embeddings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E0DCBAC-3C0B-DF29-255A-4B29DAE4A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E73F3B3-5A17-32D2-A8DF-9EDD36A5A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7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CF792313-7A60-3083-52AF-81C0D206786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it-IT" dirty="0" err="1"/>
              <a:t>Typically</a:t>
            </a:r>
            <a:r>
              <a:rPr lang="it-IT" dirty="0"/>
              <a:t> a </a:t>
            </a:r>
            <a:r>
              <a:rPr lang="it-IT" dirty="0" err="1"/>
              <a:t>two</a:t>
            </a:r>
            <a:r>
              <a:rPr lang="it-IT" dirty="0"/>
              <a:t> step </a:t>
            </a:r>
            <a:r>
              <a:rPr lang="it-IT" dirty="0" err="1"/>
              <a:t>approach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:</a:t>
            </a:r>
          </a:p>
          <a:p>
            <a:pPr lvl="1"/>
            <a:r>
              <a:rPr lang="en-US" dirty="0"/>
              <a:t>an embedding model for generating features. </a:t>
            </a:r>
          </a:p>
          <a:p>
            <a:pPr lvl="1"/>
            <a:r>
              <a:rPr lang="en-US" dirty="0"/>
              <a:t>a usual classifier fed with the features.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Issue: generating embeddings of sentences</a:t>
            </a:r>
            <a:endParaRPr lang="it-IT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B0CA0C-68FA-1660-E10E-5F518D00C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780928"/>
            <a:ext cx="5715000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1873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CE48C1-5C11-1C7E-3793-BE4203047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But… How Do We Generate Sentence Embeddings?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35445DE-0CED-ED3F-889D-D81F91B89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04722A5-3F5C-9D8F-F7AC-6B5F4F55F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8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17216D6C-A82F-39EE-4A86-A002F0C09BC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most intuitive approach:</a:t>
            </a:r>
          </a:p>
          <a:p>
            <a:pPr lvl="1"/>
            <a:r>
              <a:rPr lang="en-US" b="1" dirty="0"/>
              <a:t>Use BERT as an encoder to extract embeddings</a:t>
            </a:r>
            <a:endParaRPr lang="en-US" dirty="0"/>
          </a:p>
          <a:p>
            <a:r>
              <a:rPr lang="en-US" dirty="0"/>
              <a:t>Two common strategies:</a:t>
            </a:r>
          </a:p>
          <a:p>
            <a:pPr lvl="1"/>
            <a:r>
              <a:rPr lang="en-US" b="1" dirty="0"/>
              <a:t>Use the [CLS] token</a:t>
            </a:r>
            <a:endParaRPr lang="en-US" dirty="0"/>
          </a:p>
          <a:p>
            <a:pPr lvl="1"/>
            <a:r>
              <a:rPr lang="en-US" b="1" dirty="0"/>
              <a:t>Average all token embeddings</a:t>
            </a:r>
            <a:endParaRPr lang="en-US" dirty="0"/>
          </a:p>
          <a:p>
            <a:r>
              <a:rPr lang="en-US" dirty="0"/>
              <a:t>This gives us a </a:t>
            </a:r>
            <a:r>
              <a:rPr lang="en-US" b="1" dirty="0"/>
              <a:t>vector per sentence</a:t>
            </a:r>
            <a:r>
              <a:rPr lang="en-US" dirty="0"/>
              <a:t> usable in the 2-step pipeline.</a:t>
            </a:r>
          </a:p>
        </p:txBody>
      </p:sp>
    </p:spTree>
    <p:extLst>
      <p:ext uri="{BB962C8B-B14F-4D97-AF65-F5344CB8AC3E}">
        <p14:creationId xmlns:p14="http://schemas.microsoft.com/office/powerpoint/2010/main" val="649836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D6E878-5B39-E627-BA29-494D5B9FA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Limits of BERT </a:t>
            </a:r>
            <a:r>
              <a:rPr lang="it-IT" dirty="0" err="1"/>
              <a:t>Embeddings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A74720D-62F9-CD6E-337B-D48BE41FC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9BDE068-DAF7-9FAB-FC2B-90699A12B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9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7A9A6165-463A-41AC-AB54-55B9CCD964C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BERT was </a:t>
            </a:r>
            <a:r>
              <a:rPr lang="en-US" b="1" dirty="0"/>
              <a:t>not designed for independent sentence embeddings.</a:t>
            </a:r>
            <a:endParaRPr lang="en-US" dirty="0"/>
          </a:p>
          <a:p>
            <a:pPr lvl="1"/>
            <a:r>
              <a:rPr lang="en-US" dirty="0"/>
              <a:t>[CLS] and average pooling </a:t>
            </a:r>
            <a:r>
              <a:rPr lang="en-US" b="1" dirty="0"/>
              <a:t>do not capture sentence-level semantics</a:t>
            </a:r>
            <a:endParaRPr lang="en-US" dirty="0"/>
          </a:p>
          <a:p>
            <a:pPr lvl="1"/>
            <a:r>
              <a:rPr lang="en-US" dirty="0"/>
              <a:t>They often perform </a:t>
            </a:r>
            <a:r>
              <a:rPr lang="en-US" b="1" dirty="0"/>
              <a:t>worse than simple </a:t>
            </a:r>
            <a:r>
              <a:rPr lang="en-US" b="1" dirty="0" err="1"/>
              <a:t>GloVe</a:t>
            </a:r>
            <a:r>
              <a:rPr lang="en-US" b="1" dirty="0"/>
              <a:t> averages</a:t>
            </a:r>
            <a:endParaRPr lang="en-US" dirty="0"/>
          </a:p>
          <a:p>
            <a:r>
              <a:rPr lang="en-US" dirty="0"/>
              <a:t>Embeddings are not positioned in vector space according to semantic similarity.</a:t>
            </a:r>
          </a:p>
          <a:p>
            <a:r>
              <a:rPr lang="en-US" dirty="0"/>
              <a:t>✔ Good for classification </a:t>
            </a:r>
            <a:r>
              <a:rPr lang="en-US" b="1" dirty="0"/>
              <a:t>when trained jointly</a:t>
            </a:r>
          </a:p>
          <a:p>
            <a:r>
              <a:rPr lang="en-US" dirty="0"/>
              <a:t>❌ Poor when sentences are encoded </a:t>
            </a:r>
            <a:r>
              <a:rPr lang="en-US" b="1" dirty="0"/>
              <a:t>independently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501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CCCE46-D566-2E5B-5B01-017F93E7C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Sentence-BERT: Sentence embeddings using Siamese BERT-networks.(EMNLP 2019)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9FABAD1-C156-97E4-9BD1-A7F64783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CF10BE4-57D9-602D-162C-C4F77D1B8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10</a:t>
            </a:fld>
            <a:endParaRPr lang="it-IT"/>
          </a:p>
        </p:txBody>
      </p:sp>
      <p:pic>
        <p:nvPicPr>
          <p:cNvPr id="2050" name="Picture 2" descr="An SBERT model applied to a sentence pair sentence A and sentence B. Note that the BERT model outputs token embeddings (consisting of 512 768-dimensional vectors). We then compress that data into a single 768-dimensional sentence vector using a pooling function.">
            <a:extLst>
              <a:ext uri="{FF2B5EF4-FFF2-40B4-BE49-F238E27FC236}">
                <a16:creationId xmlns:a16="http://schemas.microsoft.com/office/drawing/2014/main" id="{6B8B370C-ED07-AA53-3A0D-AEE395723E00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308894"/>
            <a:ext cx="8229600" cy="475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75BD84C9-58DF-1DF5-BC9D-6C710A8E980B}"/>
              </a:ext>
            </a:extLst>
          </p:cNvPr>
          <p:cNvSpPr txBox="1"/>
          <p:nvPr/>
        </p:nvSpPr>
        <p:spPr>
          <a:xfrm>
            <a:off x="2473905" y="6042922"/>
            <a:ext cx="45765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https://www.pinecone.io/learn/series/nlp/sentence-embeddings/#Sentence-Transformers</a:t>
            </a:r>
          </a:p>
        </p:txBody>
      </p:sp>
    </p:spTree>
    <p:extLst>
      <p:ext uri="{BB962C8B-B14F-4D97-AF65-F5344CB8AC3E}">
        <p14:creationId xmlns:p14="http://schemas.microsoft.com/office/powerpoint/2010/main" val="1673923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7607F3-5BD2-5B0F-3896-8FCEF6D8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Sentence-BERT: Pre-training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9465D6E-1749-E999-4BDC-002EB7262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EA277FA-BC9A-8FB9-C0F0-7680DB97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11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C892BF4-C200-5E2A-2B35-12AE5D58FE3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67544" y="1219200"/>
            <a:ext cx="8568952" cy="5146888"/>
          </a:xfrm>
        </p:spPr>
        <p:txBody>
          <a:bodyPr>
            <a:normAutofit fontScale="85000" lnSpcReduction="20000"/>
          </a:bodyPr>
          <a:lstStyle/>
          <a:p>
            <a:r>
              <a:rPr lang="it-IT" b="1" dirty="0" err="1"/>
              <a:t>Objective</a:t>
            </a:r>
            <a:r>
              <a:rPr lang="it-IT" b="1" dirty="0"/>
              <a:t>:</a:t>
            </a:r>
            <a:endParaRPr lang="it-IT" dirty="0"/>
          </a:p>
          <a:p>
            <a:pPr lvl="1"/>
            <a:r>
              <a:rPr lang="it-IT" dirty="0"/>
              <a:t>Fine-</a:t>
            </a:r>
            <a:r>
              <a:rPr lang="it-IT" dirty="0" err="1"/>
              <a:t>tune</a:t>
            </a:r>
            <a:r>
              <a:rPr lang="it-IT" dirty="0"/>
              <a:t> </a:t>
            </a:r>
            <a:r>
              <a:rPr lang="it-IT" b="1" dirty="0"/>
              <a:t>Siamese BERT</a:t>
            </a:r>
            <a:r>
              <a:rPr lang="it-IT" dirty="0"/>
              <a:t> </a:t>
            </a:r>
            <a:r>
              <a:rPr lang="it-IT" dirty="0" err="1"/>
              <a:t>using</a:t>
            </a:r>
            <a:r>
              <a:rPr lang="it-IT" dirty="0"/>
              <a:t> </a:t>
            </a:r>
            <a:r>
              <a:rPr lang="it-IT" b="1" dirty="0" err="1"/>
              <a:t>softmax-loss</a:t>
            </a:r>
            <a:r>
              <a:rPr lang="it-IT" dirty="0"/>
              <a:t>.</a:t>
            </a:r>
          </a:p>
          <a:p>
            <a:pPr lvl="1"/>
            <a:r>
              <a:rPr lang="it-IT" dirty="0"/>
              <a:t>Datasets: </a:t>
            </a:r>
            <a:r>
              <a:rPr lang="it-IT" b="1" dirty="0"/>
              <a:t>SNLI (570K </a:t>
            </a:r>
            <a:r>
              <a:rPr lang="it-IT" b="1" dirty="0" err="1"/>
              <a:t>pairs</a:t>
            </a:r>
            <a:r>
              <a:rPr lang="it-IT" b="1" dirty="0"/>
              <a:t>)</a:t>
            </a:r>
            <a:r>
              <a:rPr lang="it-IT" dirty="0"/>
              <a:t> and </a:t>
            </a:r>
            <a:r>
              <a:rPr lang="it-IT" b="1" dirty="0"/>
              <a:t>MNLI (430K </a:t>
            </a:r>
            <a:r>
              <a:rPr lang="it-IT" b="1" dirty="0" err="1"/>
              <a:t>pairs</a:t>
            </a:r>
            <a:r>
              <a:rPr lang="it-IT" b="1" dirty="0"/>
              <a:t>)</a:t>
            </a:r>
            <a:r>
              <a:rPr lang="it-IT" dirty="0"/>
              <a:t>.</a:t>
            </a:r>
          </a:p>
          <a:p>
            <a:r>
              <a:rPr lang="it-IT" b="1" dirty="0"/>
              <a:t>Dataset labels:</a:t>
            </a:r>
            <a:endParaRPr lang="it-IT" dirty="0"/>
          </a:p>
          <a:p>
            <a:pPr lvl="1"/>
            <a:r>
              <a:rPr lang="it-IT" dirty="0"/>
              <a:t>0 — </a:t>
            </a:r>
            <a:r>
              <a:rPr lang="it-IT" dirty="0" err="1"/>
              <a:t>entailment</a:t>
            </a:r>
            <a:r>
              <a:rPr lang="it-IT" dirty="0"/>
              <a:t>: premise </a:t>
            </a:r>
            <a:r>
              <a:rPr lang="it-IT" b="1" dirty="0" err="1"/>
              <a:t>implies</a:t>
            </a:r>
            <a:r>
              <a:rPr lang="it-IT" dirty="0"/>
              <a:t> </a:t>
            </a:r>
            <a:r>
              <a:rPr lang="it-IT" dirty="0" err="1"/>
              <a:t>hypothesis</a:t>
            </a:r>
            <a:r>
              <a:rPr lang="it-IT" dirty="0"/>
              <a:t>.</a:t>
            </a:r>
          </a:p>
          <a:p>
            <a:pPr lvl="1"/>
            <a:r>
              <a:rPr lang="it-IT" dirty="0"/>
              <a:t>1 — </a:t>
            </a:r>
            <a:r>
              <a:rPr lang="it-IT" dirty="0" err="1"/>
              <a:t>neutral</a:t>
            </a:r>
            <a:r>
              <a:rPr lang="it-IT" dirty="0"/>
              <a:t>: premise and </a:t>
            </a:r>
            <a:r>
              <a:rPr lang="it-IT" dirty="0" err="1"/>
              <a:t>hypothesis</a:t>
            </a:r>
            <a:r>
              <a:rPr lang="it-IT" dirty="0"/>
              <a:t> </a:t>
            </a:r>
            <a:r>
              <a:rPr lang="it-IT" b="1" dirty="0" err="1"/>
              <a:t>not</a:t>
            </a:r>
            <a:r>
              <a:rPr lang="it-IT" b="1" dirty="0"/>
              <a:t> </a:t>
            </a:r>
            <a:r>
              <a:rPr lang="it-IT" b="1" dirty="0" err="1"/>
              <a:t>necessarily</a:t>
            </a:r>
            <a:r>
              <a:rPr lang="it-IT" b="1" dirty="0"/>
              <a:t> </a:t>
            </a:r>
            <a:r>
              <a:rPr lang="it-IT" b="1" dirty="0" err="1"/>
              <a:t>related</a:t>
            </a:r>
            <a:r>
              <a:rPr lang="it-IT" dirty="0"/>
              <a:t>.</a:t>
            </a:r>
          </a:p>
          <a:p>
            <a:pPr lvl="1"/>
            <a:r>
              <a:rPr lang="it-IT" dirty="0"/>
              <a:t>2 — </a:t>
            </a:r>
            <a:r>
              <a:rPr lang="it-IT" dirty="0" err="1"/>
              <a:t>contradiction</a:t>
            </a:r>
            <a:r>
              <a:rPr lang="it-IT" dirty="0"/>
              <a:t>: premise and </a:t>
            </a:r>
            <a:r>
              <a:rPr lang="it-IT" dirty="0" err="1"/>
              <a:t>hypothesis</a:t>
            </a:r>
            <a:r>
              <a:rPr lang="it-IT" dirty="0"/>
              <a:t> </a:t>
            </a:r>
            <a:r>
              <a:rPr lang="it-IT" b="1" dirty="0" err="1"/>
              <a:t>contradict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other</a:t>
            </a:r>
            <a:r>
              <a:rPr lang="it-IT" dirty="0"/>
              <a:t>.</a:t>
            </a:r>
          </a:p>
          <a:p>
            <a:r>
              <a:rPr lang="it-IT" b="1" dirty="0"/>
              <a:t>Procedure:</a:t>
            </a:r>
            <a:endParaRPr lang="it-IT" dirty="0"/>
          </a:p>
          <a:p>
            <a:pPr lvl="1"/>
            <a:r>
              <a:rPr lang="it-IT" dirty="0"/>
              <a:t>Feed </a:t>
            </a:r>
            <a:r>
              <a:rPr lang="it-IT" b="1" dirty="0" err="1"/>
              <a:t>sentence</a:t>
            </a:r>
            <a:r>
              <a:rPr lang="it-IT" b="1" dirty="0"/>
              <a:t> A (premise)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</a:t>
            </a:r>
            <a:r>
              <a:rPr lang="it-IT" b="1" dirty="0"/>
              <a:t>BERT A</a:t>
            </a:r>
            <a:r>
              <a:rPr lang="it-IT" dirty="0"/>
              <a:t> and </a:t>
            </a:r>
            <a:r>
              <a:rPr lang="it-IT" b="1" dirty="0" err="1"/>
              <a:t>sentence</a:t>
            </a:r>
            <a:r>
              <a:rPr lang="it-IT" b="1" dirty="0"/>
              <a:t> B (</a:t>
            </a:r>
            <a:r>
              <a:rPr lang="it-IT" b="1" dirty="0" err="1"/>
              <a:t>hypothesis</a:t>
            </a:r>
            <a:r>
              <a:rPr lang="it-IT" b="1" dirty="0"/>
              <a:t>)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</a:t>
            </a:r>
            <a:r>
              <a:rPr lang="it-IT" b="1" dirty="0"/>
              <a:t>BERT B</a:t>
            </a:r>
            <a:r>
              <a:rPr lang="it-IT" dirty="0"/>
              <a:t>.</a:t>
            </a:r>
          </a:p>
          <a:p>
            <a:pPr lvl="1"/>
            <a:r>
              <a:rPr lang="it-IT" dirty="0"/>
              <a:t>Siamese BERT </a:t>
            </a:r>
            <a:r>
              <a:rPr lang="it-IT" dirty="0" err="1"/>
              <a:t>produces</a:t>
            </a:r>
            <a:r>
              <a:rPr lang="it-IT" dirty="0"/>
              <a:t> </a:t>
            </a:r>
            <a:r>
              <a:rPr lang="it-IT" b="1" dirty="0" err="1"/>
              <a:t>pooled</a:t>
            </a:r>
            <a:r>
              <a:rPr lang="it-IT" b="1" dirty="0"/>
              <a:t> </a:t>
            </a:r>
            <a:r>
              <a:rPr lang="it-IT" b="1" dirty="0" err="1"/>
              <a:t>sentence</a:t>
            </a:r>
            <a:r>
              <a:rPr lang="it-IT" b="1" dirty="0"/>
              <a:t> </a:t>
            </a:r>
            <a:r>
              <a:rPr lang="it-IT" b="1" dirty="0" err="1"/>
              <a:t>embeddings</a:t>
            </a:r>
            <a:r>
              <a:rPr lang="it-IT" dirty="0"/>
              <a:t>.</a:t>
            </a:r>
          </a:p>
          <a:p>
            <a:r>
              <a:rPr lang="it-IT" b="1" dirty="0"/>
              <a:t>Pooling </a:t>
            </a:r>
            <a:r>
              <a:rPr lang="it-IT" b="1" dirty="0" err="1"/>
              <a:t>methods</a:t>
            </a:r>
            <a:r>
              <a:rPr lang="it-IT" b="1" dirty="0"/>
              <a:t>:</a:t>
            </a:r>
            <a:endParaRPr lang="it-IT" dirty="0"/>
          </a:p>
          <a:p>
            <a:pPr lvl="1"/>
            <a:r>
              <a:rPr lang="it-IT" b="1" dirty="0"/>
              <a:t>Mean pooling</a:t>
            </a:r>
            <a:r>
              <a:rPr lang="it-IT" dirty="0"/>
              <a:t> (best performance for NLI and STS benchmark).</a:t>
            </a:r>
          </a:p>
          <a:p>
            <a:pPr lvl="2"/>
            <a:r>
              <a:rPr lang="it-IT" dirty="0"/>
              <a:t>Max pooling</a:t>
            </a:r>
          </a:p>
          <a:p>
            <a:pPr lvl="2"/>
            <a:r>
              <a:rPr lang="it-IT" dirty="0"/>
              <a:t>[CLS] pooling</a:t>
            </a:r>
          </a:p>
        </p:txBody>
      </p:sp>
    </p:spTree>
    <p:extLst>
      <p:ext uri="{BB962C8B-B14F-4D97-AF65-F5344CB8AC3E}">
        <p14:creationId xmlns:p14="http://schemas.microsoft.com/office/powerpoint/2010/main" val="3607244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B807A7-0763-D3EC-1B03-68F8D24B1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Sentence-BERT: Pre-training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03BB4FB-A259-53C9-9044-78345880D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2414F55-C159-4477-79FE-E671CE97F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12</a:t>
            </a:fld>
            <a:endParaRPr lang="it-IT"/>
          </a:p>
        </p:txBody>
      </p:sp>
      <p:pic>
        <p:nvPicPr>
          <p:cNvPr id="4098" name="Picture 2" descr="We concatenate the embeddings u, v, and |u - v|.">
            <a:extLst>
              <a:ext uri="{FF2B5EF4-FFF2-40B4-BE49-F238E27FC236}">
                <a16:creationId xmlns:a16="http://schemas.microsoft.com/office/drawing/2014/main" id="{09D59DC2-2420-05AB-A80D-BCBC692AD748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40768"/>
            <a:ext cx="8229600" cy="3600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919D2B7-B17E-3F15-F6F6-71A4F9E0DFA1}"/>
              </a:ext>
            </a:extLst>
          </p:cNvPr>
          <p:cNvSpPr txBox="1"/>
          <p:nvPr/>
        </p:nvSpPr>
        <p:spPr>
          <a:xfrm>
            <a:off x="498984" y="5103674"/>
            <a:ext cx="83214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There</a:t>
            </a:r>
            <a:r>
              <a:rPr lang="it-IT" dirty="0"/>
              <a:t> are </a:t>
            </a:r>
            <a:r>
              <a:rPr lang="it-IT" dirty="0" err="1"/>
              <a:t>now</a:t>
            </a:r>
            <a:r>
              <a:rPr lang="it-IT" dirty="0"/>
              <a:t>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sentence</a:t>
            </a:r>
            <a:r>
              <a:rPr lang="it-IT" dirty="0"/>
              <a:t> </a:t>
            </a:r>
            <a:r>
              <a:rPr lang="it-IT" dirty="0" err="1"/>
              <a:t>embeddings</a:t>
            </a:r>
            <a:r>
              <a:rPr lang="it-IT" dirty="0"/>
              <a:t>: </a:t>
            </a:r>
            <a:r>
              <a:rPr lang="it-IT" dirty="0" err="1"/>
              <a:t>embeddings</a:t>
            </a:r>
            <a:r>
              <a:rPr lang="it-IT" dirty="0"/>
              <a:t> A u and </a:t>
            </a:r>
            <a:r>
              <a:rPr lang="it-IT" dirty="0" err="1"/>
              <a:t>embeddings</a:t>
            </a:r>
            <a:r>
              <a:rPr lang="it-IT" dirty="0"/>
              <a:t> B v. </a:t>
            </a:r>
          </a:p>
          <a:p>
            <a:r>
              <a:rPr lang="it-IT" dirty="0" err="1"/>
              <a:t>There</a:t>
            </a:r>
            <a:r>
              <a:rPr lang="it-IT" dirty="0"/>
              <a:t> are </a:t>
            </a:r>
            <a:r>
              <a:rPr lang="it-IT" dirty="0" err="1"/>
              <a:t>many</a:t>
            </a:r>
            <a:r>
              <a:rPr lang="it-IT" dirty="0"/>
              <a:t> </a:t>
            </a:r>
            <a:r>
              <a:rPr lang="it-IT" dirty="0" err="1"/>
              <a:t>concatenation</a:t>
            </a:r>
            <a:r>
              <a:rPr lang="it-IT" dirty="0"/>
              <a:t> </a:t>
            </a:r>
            <a:r>
              <a:rPr lang="it-IT" dirty="0" err="1"/>
              <a:t>approaches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can test: </a:t>
            </a:r>
            <a:r>
              <a:rPr lang="it-IT" dirty="0" err="1"/>
              <a:t>highest</a:t>
            </a:r>
            <a:r>
              <a:rPr lang="it-IT" dirty="0"/>
              <a:t> </a:t>
            </a:r>
            <a:r>
              <a:rPr lang="it-IT" dirty="0" err="1"/>
              <a:t>performing</a:t>
            </a:r>
            <a:r>
              <a:rPr lang="it-IT" dirty="0"/>
              <a:t> </a:t>
            </a:r>
            <a:r>
              <a:rPr lang="it-IT" dirty="0" err="1"/>
              <a:t>is</a:t>
            </a:r>
            <a:br>
              <a:rPr lang="it-IT" dirty="0"/>
            </a:br>
            <a:r>
              <a:rPr lang="it-IT" dirty="0"/>
              <a:t> (u, v, |u-v|).</a:t>
            </a:r>
          </a:p>
        </p:txBody>
      </p:sp>
    </p:spTree>
    <p:extLst>
      <p:ext uri="{BB962C8B-B14F-4D97-AF65-F5344CB8AC3E}">
        <p14:creationId xmlns:p14="http://schemas.microsoft.com/office/powerpoint/2010/main" val="1692271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77BB32-7B5F-0012-5646-C1BD7ACCE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Sentence-BERT: Pre-training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A90923F-9CD7-DA06-EA82-5DFA70476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ED8B2DD-8578-521C-28F9-F3752D355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13</a:t>
            </a:fld>
            <a:endParaRPr lang="it-IT"/>
          </a:p>
        </p:txBody>
      </p:sp>
      <p:pic>
        <p:nvPicPr>
          <p:cNvPr id="5122" name="Picture 2" descr="The operations were performed during training on two sentence embeddings, u and v. Note that softmax-loss refers cross-entropy loss (which contains a softmax function by default).">
            <a:extLst>
              <a:ext uri="{FF2B5EF4-FFF2-40B4-BE49-F238E27FC236}">
                <a16:creationId xmlns:a16="http://schemas.microsoft.com/office/drawing/2014/main" id="{6AFC712E-447B-1AC4-A067-F12C490897C6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143" y="1268760"/>
            <a:ext cx="5080935" cy="2619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AE8BAD1F-94BB-B048-30B2-76D63F55A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27" y="3978677"/>
            <a:ext cx="3711262" cy="2225233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9E6A0E6-DD04-946E-875F-1CDDBD94A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048" y="3216611"/>
            <a:ext cx="3779848" cy="298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580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BE585F-69A4-78F8-3007-8A0E6E69E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Zero-shot classification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AD46DA6-E2D8-93D9-860A-1A963513C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4DBC6A3-6E24-6FC0-4F07-C58C7633D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14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8289C8DB-374B-19E4-0C47-952CD42C8D9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Zero-shot classification attempts to predict the labels of input text even though it was not trained on them</a:t>
            </a:r>
          </a:p>
          <a:p>
            <a:pPr lvl="1"/>
            <a:r>
              <a:rPr lang="en-US" dirty="0"/>
              <a:t>we can describe our labels based on what they should represent. </a:t>
            </a:r>
          </a:p>
          <a:p>
            <a:pPr lvl="2"/>
            <a:r>
              <a:rPr lang="en-US" dirty="0"/>
              <a:t>a negative label can be described as “This is a negative movie review.”</a:t>
            </a:r>
          </a:p>
          <a:p>
            <a:pPr lvl="1"/>
            <a:r>
              <a:rPr lang="en-US" dirty="0"/>
              <a:t>To assign labels to documents, we can apply cosine similarity to the document label pairs.</a:t>
            </a:r>
            <a:endParaRPr lang="it-IT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829D7A6-3DC2-3B2B-62E8-55E386242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67" y="3861048"/>
            <a:ext cx="4471437" cy="2712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B43C90D-7B11-9C9A-4340-500F30B7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935" y="3807212"/>
            <a:ext cx="3837201" cy="282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5787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361A00-ECFC-6F87-EE9A-28361A622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Classification with Generative Models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4720882-0585-1C54-A2D2-89E00678E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888801D-F50E-497A-8E7F-1D88DA4E0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15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BF052B26-8D16-1964-9B7A-767A0645A1B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Prompt engineering: iteratively improving your prompt to get your preferred output.</a:t>
            </a:r>
          </a:p>
          <a:p>
            <a:pPr lvl="1"/>
            <a:r>
              <a:rPr lang="en-US" dirty="0"/>
              <a:t>T5</a:t>
            </a:r>
          </a:p>
          <a:p>
            <a:pPr lvl="1"/>
            <a:r>
              <a:rPr lang="en-US" dirty="0"/>
              <a:t>GPT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36225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D9943-F932-9F5F-EE22-D91C94441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4EAD81-314D-790B-9FB6-AC654D2D9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224" y="3501008"/>
            <a:ext cx="8208912" cy="990600"/>
          </a:xfrm>
        </p:spPr>
        <p:txBody>
          <a:bodyPr/>
          <a:lstStyle/>
          <a:p>
            <a:r>
              <a:rPr lang="it-IT" dirty="0"/>
              <a:t>Text Clustering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16FA705-7088-4D9F-84A8-552262380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3A40930-E2DC-7ECB-CD48-F81AFB50A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3971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BCBCDA-3DF8-1E8C-6DEE-21FAC3CB7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Text Clustering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96F08F3-F08C-A541-4E16-C0ABB6970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F67A5E2-BF6C-1654-754C-DFE331B9D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17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8CC89CC5-0057-0508-0702-5959058CC14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Text clustering aims to group similar texts based on their semantic content, meaning, and relationships, for</a:t>
            </a:r>
          </a:p>
          <a:p>
            <a:pPr lvl="1"/>
            <a:r>
              <a:rPr lang="en-US" dirty="0"/>
              <a:t>facilitating efficient categorization of large volumes of unstructured text </a:t>
            </a:r>
          </a:p>
          <a:p>
            <a:pPr lvl="1"/>
            <a:r>
              <a:rPr lang="en-US" dirty="0"/>
              <a:t>for quick exploratory data analysis.</a:t>
            </a:r>
          </a:p>
          <a:p>
            <a:r>
              <a:rPr lang="en-US" dirty="0"/>
              <a:t>A possible pipeline: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/>
              <a:t>Convert the input documents to embeddings with an embedding model.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/>
              <a:t>Reduce the dimensionality of embeddings with a dimensionality reduction model.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/>
              <a:t>Find groups of semantically similar documents with a cluster model.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83284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A2F440-0302-4E49-D31D-E58E613E9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Dimensionality</a:t>
            </a:r>
            <a:r>
              <a:rPr lang="it-IT" dirty="0"/>
              <a:t> </a:t>
            </a:r>
            <a:r>
              <a:rPr lang="it-IT" dirty="0" err="1"/>
              <a:t>Reduction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DEEE0E0-E396-AB40-0DC9-600F9209E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B59993B-1432-046C-2656-0C97AC69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18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2A14BC97-D672-DCA0-66F7-708C67A7909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Transforming high-dimensional features into a lower-dimensional space preserving the most representative information. </a:t>
            </a:r>
          </a:p>
          <a:p>
            <a:pPr lvl="1"/>
            <a:r>
              <a:rPr lang="en-US" dirty="0"/>
              <a:t>PCA (Principal Component Analysis): Linearly projects data onto axes of maximum variance; assumes global linear structure.</a:t>
            </a:r>
          </a:p>
          <a:p>
            <a:pPr lvl="1"/>
            <a:r>
              <a:rPr lang="en-US" dirty="0"/>
              <a:t>T-SNE (t-Distributed Stochastic Neighbor Embedding): A nonlinear technique that preserves local similarities.</a:t>
            </a:r>
          </a:p>
          <a:p>
            <a:pPr lvl="1"/>
            <a:r>
              <a:rPr lang="en-US" dirty="0"/>
              <a:t>UMAP (Uniform Manifold Approximation and Projection): A learning technique that preserves both local and some global structures.</a:t>
            </a:r>
          </a:p>
          <a:p>
            <a:pPr lvl="1"/>
            <a:r>
              <a:rPr lang="en-US" dirty="0"/>
              <a:t>Autoencoder: Learns a nonlinear compressed representation through a neural network.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44017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84FCEF-533C-01A3-E746-9DE26D890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T-SNE key </a:t>
            </a:r>
            <a:r>
              <a:rPr lang="it-IT" dirty="0" err="1"/>
              <a:t>intuition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AFA7FEC-3288-1BBF-09E4-6ED5581DD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B820FD3-BBA5-42DC-0039-3165E4427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19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C186E805-2F7C-2C56-557D-2DD03BA2657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67544" y="1219200"/>
            <a:ext cx="8352928" cy="4937760"/>
          </a:xfrm>
        </p:spPr>
        <p:txBody>
          <a:bodyPr>
            <a:normAutofit/>
          </a:bodyPr>
          <a:lstStyle/>
          <a:p>
            <a:r>
              <a:rPr lang="en-US" dirty="0"/>
              <a:t>Mapping high-dimensional data points into a two- or three-dimensional data, preserving the local relationships between points. </a:t>
            </a:r>
          </a:p>
          <a:p>
            <a:pPr lvl="1"/>
            <a:r>
              <a:rPr lang="en-US" dirty="0"/>
              <a:t>It achieves this by measuring the similarity between points in the high-dimensional space and representing this similarity as probabilities. </a:t>
            </a:r>
          </a:p>
          <a:p>
            <a:pPr lvl="1"/>
            <a:r>
              <a:rPr lang="en-US" dirty="0"/>
              <a:t>It constructs a similar probability distribution in the lower-dimensional space and minimizes the difference between distributions using gradient descent. </a:t>
            </a:r>
          </a:p>
          <a:p>
            <a:r>
              <a:rPr lang="en-US" dirty="0"/>
              <a:t>Preserving local relationships between points</a:t>
            </a:r>
          </a:p>
          <a:p>
            <a:pPr lvl="1"/>
            <a:r>
              <a:rPr lang="en-US" dirty="0"/>
              <a:t>“Preserving the local relationships between points” refers to maintaining the relative distances and similarities between neighboring data points when they are mapped from a high-dimensional space to a lower-dimensional space.</a:t>
            </a:r>
          </a:p>
          <a:p>
            <a:pPr lvl="1"/>
            <a:r>
              <a:rPr lang="en-US" dirty="0"/>
              <a:t>Points that are </a:t>
            </a:r>
            <a:r>
              <a:rPr lang="en-US" b="1" dirty="0"/>
              <a:t>close in high-dimensional space </a:t>
            </a:r>
            <a:r>
              <a:rPr lang="en-US" dirty="0"/>
              <a:t>should remain </a:t>
            </a:r>
            <a:r>
              <a:rPr lang="en-US" b="1" dirty="0"/>
              <a:t>close in low-dimensional space</a:t>
            </a:r>
          </a:p>
        </p:txBody>
      </p:sp>
    </p:spTree>
    <p:extLst>
      <p:ext uri="{BB962C8B-B14F-4D97-AF65-F5344CB8AC3E}">
        <p14:creationId xmlns:p14="http://schemas.microsoft.com/office/powerpoint/2010/main" val="1086073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856CB1-51A9-5BDF-2A42-13170DC87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Work Directly with Distances?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ABA6F11-2353-4F2F-9E8A-EDCF57EC9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69686F3-91DA-9946-1469-EDA49A212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20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718585BC-4FAD-A6DF-4966-7BB687C3BD2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Compute the distance between points is not reliable in higher dimensions due to the “curse of dimensionality.”</a:t>
            </a:r>
          </a:p>
          <a:p>
            <a:pPr lvl="1"/>
            <a:r>
              <a:rPr lang="en-US" dirty="0"/>
              <a:t>In high-dimensional spaces, </a:t>
            </a:r>
            <a:r>
              <a:rPr lang="en-US" b="1" dirty="0"/>
              <a:t>all distances become similar</a:t>
            </a:r>
            <a:endParaRPr lang="en-US" dirty="0"/>
          </a:p>
          <a:p>
            <a:pPr lvl="1"/>
            <a:r>
              <a:rPr lang="en-US" dirty="0"/>
              <a:t>Difference between nearest and farthest neighbors shrinks</a:t>
            </a:r>
          </a:p>
          <a:p>
            <a:pPr lvl="1"/>
            <a:r>
              <a:rPr lang="en-US" dirty="0"/>
              <a:t>Distance rankings become unstable and noisy</a:t>
            </a:r>
          </a:p>
          <a:p>
            <a:r>
              <a:rPr lang="en-US" b="1" dirty="0"/>
              <a:t>Example Intuition</a:t>
            </a:r>
          </a:p>
          <a:p>
            <a:pPr lvl="1"/>
            <a:r>
              <a:rPr lang="en-US" dirty="0"/>
              <a:t>In 2D: distances vary a lot → meaningful neighborhoods</a:t>
            </a:r>
          </a:p>
          <a:p>
            <a:pPr lvl="1"/>
            <a:r>
              <a:rPr lang="en-US" dirty="0"/>
              <a:t>In 100D: distances concentrate around the mean</a:t>
            </a:r>
          </a:p>
          <a:p>
            <a:pPr lvl="1"/>
            <a:r>
              <a:rPr lang="en-US" dirty="0"/>
              <a:t>Raw distances lose discriminative power</a:t>
            </a:r>
          </a:p>
        </p:txBody>
      </p:sp>
    </p:spTree>
    <p:extLst>
      <p:ext uri="{BB962C8B-B14F-4D97-AF65-F5344CB8AC3E}">
        <p14:creationId xmlns:p14="http://schemas.microsoft.com/office/powerpoint/2010/main" val="396037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80C14-1BD9-7CA2-60F5-85CED0A19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854E89-4AD9-D1AD-BAA9-955529800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Similarities in High Dimensions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507C63A-86C5-0BBE-970C-D4F9E6F8F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8117A3B-DC0E-36A9-563F-35FF17552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21</a:t>
            </a:fld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93E424EB-4C1A-7393-098A-8AB9AEF8C249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For each data point (e.g., x₁)</a:t>
                </a:r>
              </a:p>
              <a:p>
                <a:pPr lvl="1"/>
                <a:r>
                  <a:rPr lang="en-US" dirty="0"/>
                  <a:t>Compute distances to all other points</a:t>
                </a:r>
              </a:p>
              <a:p>
                <a:pPr lvl="1"/>
                <a:r>
                  <a:rPr lang="en-US" dirty="0"/>
                  <a:t>Convert distances into probabilities using a Gaussian distribution centered on the target point</a:t>
                </a:r>
              </a:p>
              <a:p>
                <a:pPr marL="274320" lvl="1" indent="0">
                  <a:buNone/>
                </a:pPr>
                <a:r>
                  <a:rPr lang="en-US" dirty="0"/>
                  <a:t>	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d>
                                              <m:dPr>
                                                <m:begChr m:val="|"/>
                                                <m:endChr m:val="|"/>
                                                <m:ctrlPr>
                                                  <a:rPr lang="it-IT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it-IT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− 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it-IT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Sup>
                                      <m:sSubSupPr>
                                        <m:ctrlP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l-GR" i="1"/>
                                          <m:t>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d>
                          </m:e>
                        </m:func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func>
                              <m:func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begChr m:val="|"/>
                                                <m:endChr m:val="|"/>
                                                <m:ctrlPr>
                                                  <a:rPr lang="it-IT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d>
                                                  <m:dPr>
                                                    <m:begChr m:val="|"/>
                                                    <m:endChr m:val="|"/>
                                                    <m:ctrlPr>
                                                      <a:rPr lang="it-IT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sSub>
                                                      <m:sSubPr>
                                                        <m:ctrlPr>
                                                          <a:rPr lang="it-IT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</m:sSub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− </m:t>
                                                    </m:r>
                                                    <m:sSub>
                                                      <m:sSubPr>
                                                        <m:ctrlPr>
                                                          <a:rPr lang="it-IT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𝑘</m:t>
                                                        </m:r>
                                                      </m:sub>
                                                    </m:sSub>
                                                  </m:e>
                                                </m:d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sSubSup>
                                          <m:sSubSupPr>
                                            <m:ctrlP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l-GR" i="1"/>
                                              <m:t>σ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den>
                                    </m:f>
                                  </m:e>
                                </m:d>
                              </m:e>
                            </m:func>
                          </m:e>
                        </m:nary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Each point has its own σᵢ</a:t>
                </a:r>
              </a:p>
              <a:p>
                <a:r>
                  <a:rPr lang="en-US" dirty="0"/>
                  <a:t>This process is repeated for every point in the dataset, generating an n × n similarity matrix.</a:t>
                </a:r>
              </a:p>
              <a:p>
                <a:pPr lvl="1"/>
                <a:r>
                  <a:rPr lang="en-US" dirty="0"/>
                  <a:t>The resulting matrix is not symmetric, since the similarity from x₁ to x₂ may differ from x₂ to x₁.</a:t>
                </a:r>
              </a:p>
              <a:p>
                <a:pPr lvl="1"/>
                <a:r>
                  <a:rPr lang="it-IT" dirty="0"/>
                  <a:t>t-SNE </a:t>
                </a:r>
                <a:r>
                  <a:rPr lang="it-IT" dirty="0" err="1"/>
                  <a:t>symmetrizes</a:t>
                </a:r>
                <a:r>
                  <a:rPr lang="it-IT" dirty="0"/>
                  <a:t> </a:t>
                </a:r>
                <a:r>
                  <a:rPr lang="it-IT" dirty="0" err="1"/>
                  <a:t>them</a:t>
                </a:r>
                <a:r>
                  <a:rPr lang="it-IT" dirty="0"/>
                  <a:t> </a:t>
                </a:r>
                <a:r>
                  <a:rPr lang="it-IT" dirty="0" err="1"/>
                  <a:t>using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93E424EB-4C1A-7393-098A-8AB9AEF8C2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222" t="-1235" r="-111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1">
            <a:extLst>
              <a:ext uri="{FF2B5EF4-FFF2-40B4-BE49-F238E27FC236}">
                <a16:creationId xmlns:a16="http://schemas.microsoft.com/office/drawing/2014/main" id="{99131C81-831C-498F-85D6-EEF74BD8D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 distances to all other points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166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052729-4A57-85DA-92E6-07A941BB4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T-SNE in a </a:t>
            </a:r>
            <a:r>
              <a:rPr lang="it-IT" dirty="0" err="1"/>
              <a:t>nutshell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184D244-9FD3-5840-430D-CFECC0F9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EEF6156-B3ED-2C0A-9D75-E276E76E0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22</a:t>
            </a:fld>
            <a:endParaRPr lang="it-IT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FCF236-4B55-3551-C5BC-EE54347F8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5440"/>
            <a:ext cx="4019550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7F95D7D0-5394-E3E3-DD6F-AA41B3402DEA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311" y="4191000"/>
            <a:ext cx="6035750" cy="26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8362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ED6A7-5B45-CBB5-BE71-53FA0B429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46AEC2-AD7F-AA98-1A05-3478E8046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Sigma (σᵢ): Density Normalization via Entropy and Perplexity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3B2887A-09A6-56E3-6055-5209934CD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2DCF5BC-FE85-54DD-B3FD-C21953AD1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23</a:t>
            </a:fld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585E70FB-6A23-A4D4-D5B3-B059DBC6DB5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Data points may lie in regions with </a:t>
                </a:r>
                <a:r>
                  <a:rPr lang="en-US" b="1" dirty="0"/>
                  <a:t>very different densities</a:t>
                </a:r>
              </a:p>
              <a:p>
                <a:r>
                  <a:rPr lang="en-US" dirty="0"/>
                  <a:t>A fixed Gaussian width would:</a:t>
                </a:r>
              </a:p>
              <a:p>
                <a:pPr lvl="1"/>
                <a:r>
                  <a:rPr lang="it-IT" dirty="0" err="1"/>
                  <a:t>oversmooth</a:t>
                </a:r>
                <a:r>
                  <a:rPr lang="it-IT" dirty="0"/>
                  <a:t> dense </a:t>
                </a:r>
                <a:r>
                  <a:rPr lang="it-IT" dirty="0" err="1"/>
                  <a:t>regions</a:t>
                </a:r>
                <a:endParaRPr lang="it-IT" dirty="0"/>
              </a:p>
              <a:p>
                <a:pPr lvl="1"/>
                <a:r>
                  <a:rPr lang="it-IT" dirty="0" err="1"/>
                  <a:t>undersmooth</a:t>
                </a:r>
                <a:r>
                  <a:rPr lang="it-IT" dirty="0"/>
                  <a:t> sparse </a:t>
                </a:r>
                <a:r>
                  <a:rPr lang="it-IT" dirty="0" err="1"/>
                  <a:t>regions</a:t>
                </a:r>
                <a:endParaRPr lang="it-IT" dirty="0"/>
              </a:p>
              <a:p>
                <a:r>
                  <a:rPr lang="en-US" dirty="0"/>
                  <a:t>Each point gets its own σᵢ to adapt to its local density</a:t>
                </a:r>
              </a:p>
              <a:p>
                <a:r>
                  <a:rPr lang="en-US" dirty="0"/>
                  <a:t>Role of Entropy</a:t>
                </a:r>
              </a:p>
              <a:p>
                <a:pPr lvl="1"/>
                <a:r>
                  <a:rPr lang="en-US" dirty="0"/>
                  <a:t>Quantifies how </a:t>
                </a:r>
                <a:r>
                  <a:rPr lang="en-US" b="1" dirty="0"/>
                  <a:t>spread out</a:t>
                </a:r>
                <a:r>
                  <a:rPr lang="en-US" dirty="0"/>
                  <a:t> the neighborhood probabilities are</a:t>
                </a:r>
              </a:p>
              <a:p>
                <a:pPr lvl="1"/>
                <a:r>
                  <a:rPr lang="en-US" dirty="0"/>
                  <a:t>Low entropy → few dominant neighbors (very local view)</a:t>
                </a:r>
              </a:p>
              <a:p>
                <a:pPr lvl="1"/>
                <a:r>
                  <a:rPr lang="en-US" dirty="0"/>
                  <a:t>High entropy → many neighbors with similar weight (broader view)</a:t>
                </a:r>
              </a:p>
              <a:p>
                <a:r>
                  <a:rPr lang="it-IT" dirty="0" err="1"/>
                  <a:t>Role</a:t>
                </a:r>
                <a:r>
                  <a:rPr lang="it-IT" dirty="0"/>
                  <a:t> of </a:t>
                </a:r>
                <a:r>
                  <a:rPr lang="it-IT" dirty="0" err="1"/>
                  <a:t>Perplexity</a:t>
                </a:r>
                <a:endParaRPr lang="it-IT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𝑃𝑒𝑟𝑝𝑙𝑒𝑥𝑖𝑡𝑦</m:t>
                    </m:r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sup>
                    </m:sSup>
                  </m:oMath>
                </a14:m>
                <a:endParaRPr lang="it-IT" dirty="0"/>
              </a:p>
              <a:p>
                <a:pPr lvl="1"/>
                <a:r>
                  <a:rPr lang="en-US" dirty="0"/>
                  <a:t>Measures the </a:t>
                </a:r>
                <a:r>
                  <a:rPr lang="en-US" b="1" dirty="0"/>
                  <a:t>effective number of neighbors</a:t>
                </a:r>
                <a:r>
                  <a:rPr lang="en-US" dirty="0"/>
                  <a:t> that xᵢ considers close</a:t>
                </a:r>
                <a:endParaRPr lang="it-IT" dirty="0"/>
              </a:p>
              <a:p>
                <a:pPr lvl="1"/>
                <a:endParaRPr lang="en-US" b="1" dirty="0"/>
              </a:p>
            </p:txBody>
          </p:sp>
        </mc:Choice>
        <mc:Fallback xmlns="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585E70FB-6A23-A4D4-D5B3-B059DBC6DB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222" t="-185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1">
            <a:extLst>
              <a:ext uri="{FF2B5EF4-FFF2-40B4-BE49-F238E27FC236}">
                <a16:creationId xmlns:a16="http://schemas.microsoft.com/office/drawing/2014/main" id="{1C295AE3-83AB-D38E-32E9-402B1C286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 distances to all other points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9609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A3CBA-6676-5F9D-AF57-D3B889F7A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006A6F-CA84-FB61-45E0-0E2A2F37D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σᵢ Is Computed (Binary Search)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06718E6-2D8F-82F5-19BA-C74FC794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583C6A3-3BA5-156B-6879-63FE9EEEA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24</a:t>
            </a:fld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F4D8E522-177C-9DBA-3F92-0462321A985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For each point xᵢ:</a:t>
                </a:r>
              </a:p>
              <a:p>
                <a:pPr lvl="1"/>
                <a:r>
                  <a:rPr lang="en-US" dirty="0"/>
                  <a:t>Start with an initial guess for </a:t>
                </a:r>
                <a:r>
                  <a:rPr lang="el-GR" dirty="0"/>
                  <a:t>σ</a:t>
                </a:r>
                <a:r>
                  <a:rPr lang="en-US" dirty="0"/>
                  <a:t>ᵢ</a:t>
                </a:r>
              </a:p>
              <a:p>
                <a:pPr lvl="1"/>
                <a:r>
                  <a:rPr lang="en-US" dirty="0"/>
                  <a:t>Compute conditional probabilities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Compute entropy H(Pᵢ) and perplexity</a:t>
                </a:r>
              </a:p>
              <a:p>
                <a:r>
                  <a:rPr lang="en-US" dirty="0"/>
                  <a:t>Compare with the target (user-defined) number of neighbors to preserve</a:t>
                </a:r>
              </a:p>
              <a:p>
                <a:r>
                  <a:rPr lang="en-US" dirty="0"/>
                  <a:t>Adjust </a:t>
                </a:r>
                <a:r>
                  <a:rPr lang="el-GR" dirty="0"/>
                  <a:t>σ</a:t>
                </a:r>
                <a:r>
                  <a:rPr lang="en-US" dirty="0"/>
                  <a:t>ᵢ:</a:t>
                </a:r>
              </a:p>
              <a:p>
                <a:pPr lvl="1"/>
                <a:r>
                  <a:rPr lang="en-US" dirty="0"/>
                  <a:t>increase </a:t>
                </a:r>
                <a:r>
                  <a:rPr lang="el-GR" dirty="0"/>
                  <a:t>σ</a:t>
                </a:r>
                <a:r>
                  <a:rPr lang="en-US" dirty="0"/>
                  <a:t>ᵢ → increase entropy / perplexity</a:t>
                </a:r>
              </a:p>
              <a:p>
                <a:pPr lvl="1"/>
                <a:r>
                  <a:rPr lang="en-US" dirty="0"/>
                  <a:t>decrease </a:t>
                </a:r>
                <a:r>
                  <a:rPr lang="el-GR" dirty="0"/>
                  <a:t>σ</a:t>
                </a:r>
                <a:r>
                  <a:rPr lang="en-US" dirty="0"/>
                  <a:t>ᵢ → decrease entropy / perplexity</a:t>
                </a:r>
              </a:p>
              <a:p>
                <a:r>
                  <a:rPr lang="en-US" dirty="0"/>
                  <a:t>Repeat until perplexity matches the target</a:t>
                </a:r>
                <a:endParaRPr lang="en-US" b="1" dirty="0"/>
              </a:p>
            </p:txBody>
          </p:sp>
        </mc:Choice>
        <mc:Fallback xmlns="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F4D8E522-177C-9DBA-3F92-0462321A98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296" t="-7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1">
            <a:extLst>
              <a:ext uri="{FF2B5EF4-FFF2-40B4-BE49-F238E27FC236}">
                <a16:creationId xmlns:a16="http://schemas.microsoft.com/office/drawing/2014/main" id="{8413A95B-D525-C297-CB02-7BD4DE5BD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 distances to all other points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500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924D4-CA22-A630-9338-2889CE497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C3365D-1073-C96D-114E-8482DE314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74C70F4-38F7-DA23-9921-1611E1196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90D1F65-7A27-F375-265B-BBEC6676E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25</a:t>
            </a:fld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F42A2CEF-B105-8165-9C8D-89696083C8E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it-IT" dirty="0"/>
                  <a:t>Number of </a:t>
                </a:r>
                <a:r>
                  <a:rPr lang="it-IT" dirty="0" err="1"/>
                  <a:t>neighbors</a:t>
                </a:r>
                <a:r>
                  <a:rPr lang="it-IT" dirty="0"/>
                  <a:t> to </a:t>
                </a:r>
                <a:r>
                  <a:rPr lang="it-IT" dirty="0" err="1"/>
                  <a:t>preserve</a:t>
                </a:r>
                <a:r>
                  <a:rPr lang="it-IT" dirty="0"/>
                  <a:t> = 3</a:t>
                </a:r>
              </a:p>
              <a:p>
                <a:r>
                  <a:rPr lang="it-IT" dirty="0" err="1"/>
                  <a:t>Initial</a:t>
                </a:r>
                <a:r>
                  <a:rPr lang="it-IT" dirty="0"/>
                  <a:t> </a:t>
                </a:r>
                <a:r>
                  <a:rPr lang="it-IT" dirty="0" err="1"/>
                  <a:t>guess</a:t>
                </a:r>
                <a:r>
                  <a:rPr lang="it-IT" dirty="0"/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σ</m:t>
                        </m:r>
                      </m:e>
                      <m:sub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dirty="0"/>
                  <a:t> = 0.2 </a:t>
                </a:r>
              </a:p>
              <a:p>
                <a:endParaRPr lang="it-IT" dirty="0"/>
              </a:p>
              <a:p>
                <a:endParaRPr lang="it-IT" dirty="0"/>
              </a:p>
              <a:p>
                <a:endParaRPr lang="it-IT" dirty="0"/>
              </a:p>
              <a:p>
                <a:endParaRPr lang="it-IT" dirty="0"/>
              </a:p>
              <a:p>
                <a:r>
                  <a:rPr lang="it-IT" dirty="0" err="1"/>
                  <a:t>Entropy</a:t>
                </a:r>
                <a:r>
                  <a:rPr lang="it-IT" dirty="0"/>
                  <a:t> = 1.31         </a:t>
                </a:r>
                <a:r>
                  <a:rPr lang="it-IT" dirty="0" err="1"/>
                  <a:t>Perplexity</a:t>
                </a:r>
                <a:r>
                  <a:rPr lang="it-IT" dirty="0"/>
                  <a:t> =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1.31</m:t>
                        </m:r>
                      </m:sup>
                    </m:sSup>
                    <m:r>
                      <m:rPr>
                        <m:nor/>
                      </m:rPr>
                      <a:rPr lang="it-IT" dirty="0"/>
                      <m:t>≈2.48</m:t>
                    </m:r>
                  </m:oMath>
                </a14:m>
                <a:endParaRPr lang="it-IT" dirty="0"/>
              </a:p>
              <a:p>
                <a:r>
                  <a:rPr lang="it-IT" dirty="0"/>
                  <a:t>The </a:t>
                </a:r>
                <a:r>
                  <a:rPr lang="it-IT" dirty="0" err="1"/>
                  <a:t>perlplexity</a:t>
                </a:r>
                <a:r>
                  <a:rPr lang="it-IT" dirty="0"/>
                  <a:t> </a:t>
                </a:r>
                <a:r>
                  <a:rPr lang="it-IT" dirty="0" err="1"/>
                  <a:t>suggests</a:t>
                </a:r>
                <a:r>
                  <a:rPr lang="it-IT" dirty="0"/>
                  <a:t> </a:t>
                </a:r>
                <a:r>
                  <a:rPr lang="it-IT" dirty="0" err="1"/>
                  <a:t>that</a:t>
                </a:r>
                <a:r>
                  <a:rPr lang="it-IT" dirty="0"/>
                  <a:t> </a:t>
                </a:r>
                <a:r>
                  <a:rPr lang="it-IT" dirty="0" err="1"/>
                  <a:t>less</a:t>
                </a:r>
                <a:r>
                  <a:rPr lang="it-IT" dirty="0"/>
                  <a:t> the 3 </a:t>
                </a:r>
                <a:r>
                  <a:rPr lang="it-IT" dirty="0" err="1"/>
                  <a:t>neighbors</a:t>
                </a:r>
                <a:r>
                  <a:rPr lang="it-IT" dirty="0"/>
                  <a:t> are </a:t>
                </a:r>
                <a:r>
                  <a:rPr lang="it-IT" dirty="0" err="1"/>
                  <a:t>taken</a:t>
                </a:r>
                <a:r>
                  <a:rPr lang="it-IT" dirty="0"/>
                  <a:t> </a:t>
                </a:r>
                <a:r>
                  <a:rPr lang="it-IT" dirty="0" err="1"/>
                  <a:t>into</a:t>
                </a:r>
                <a:r>
                  <a:rPr lang="it-IT" dirty="0"/>
                  <a:t> account…</a:t>
                </a:r>
                <a:r>
                  <a:rPr lang="it-IT" dirty="0" err="1"/>
                  <a:t>we</a:t>
                </a:r>
                <a:r>
                  <a:rPr lang="it-IT" dirty="0"/>
                  <a:t> </a:t>
                </a:r>
                <a:r>
                  <a:rPr lang="it-IT" dirty="0" err="1"/>
                  <a:t>have</a:t>
                </a:r>
                <a:r>
                  <a:rPr lang="it-IT" dirty="0"/>
                  <a:t> to </a:t>
                </a:r>
                <a:r>
                  <a:rPr lang="it-IT" dirty="0" err="1"/>
                  <a:t>adjust</a:t>
                </a:r>
                <a:r>
                  <a:rPr lang="it-IT" dirty="0"/>
                  <a:t> </a:t>
                </a:r>
                <a:r>
                  <a:rPr lang="it-IT" dirty="0" err="1"/>
                  <a:t>it</a:t>
                </a:r>
                <a:endParaRPr lang="it-IT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σ</m:t>
                        </m:r>
                      </m:e>
                      <m:sub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dirty="0"/>
                  <a:t> = 0.4         </a:t>
                </a:r>
                <a:r>
                  <a:rPr lang="it-IT" dirty="0" err="1"/>
                  <a:t>Perplexity</a:t>
                </a:r>
                <a:r>
                  <a:rPr lang="it-IT" dirty="0"/>
                  <a:t> =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1.</m:t>
                        </m:r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58</m:t>
                        </m:r>
                      </m:sup>
                    </m:sSup>
                    <m:r>
                      <m:rPr>
                        <m:nor/>
                      </m:rPr>
                      <a:rPr lang="it-IT" dirty="0"/>
                      <m:t>≈</m:t>
                    </m:r>
                  </m:oMath>
                </a14:m>
                <a:r>
                  <a:rPr lang="it-IT" dirty="0"/>
                  <a:t>3</a:t>
                </a:r>
              </a:p>
              <a:p>
                <a:pPr marL="0" indent="0">
                  <a:buNone/>
                </a:pPr>
                <a:endParaRPr lang="en-US" b="1" dirty="0"/>
              </a:p>
            </p:txBody>
          </p:sp>
        </mc:Choice>
        <mc:Fallback xmlns="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F42A2CEF-B105-8165-9C8D-89696083C8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296" t="-135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1">
            <a:extLst>
              <a:ext uri="{FF2B5EF4-FFF2-40B4-BE49-F238E27FC236}">
                <a16:creationId xmlns:a16="http://schemas.microsoft.com/office/drawing/2014/main" id="{51EF337D-EED6-80E5-C748-7F8ACD188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 distances to all other points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DBC4E686-78AF-6C38-F8F7-3C8659772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723308"/>
              </p:ext>
            </p:extLst>
          </p:nvPr>
        </p:nvGraphicFramePr>
        <p:xfrm>
          <a:off x="2554288" y="2069316"/>
          <a:ext cx="405611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2037">
                  <a:extLst>
                    <a:ext uri="{9D8B030D-6E8A-4147-A177-3AD203B41FA5}">
                      <a16:colId xmlns:a16="http://schemas.microsoft.com/office/drawing/2014/main" val="2321834087"/>
                    </a:ext>
                  </a:extLst>
                </a:gridCol>
                <a:gridCol w="1352037">
                  <a:extLst>
                    <a:ext uri="{9D8B030D-6E8A-4147-A177-3AD203B41FA5}">
                      <a16:colId xmlns:a16="http://schemas.microsoft.com/office/drawing/2014/main" val="2671142771"/>
                    </a:ext>
                  </a:extLst>
                </a:gridCol>
                <a:gridCol w="1352037">
                  <a:extLst>
                    <a:ext uri="{9D8B030D-6E8A-4147-A177-3AD203B41FA5}">
                      <a16:colId xmlns:a16="http://schemas.microsoft.com/office/drawing/2014/main" val="2443344820"/>
                    </a:ext>
                  </a:extLst>
                </a:gridCol>
              </a:tblGrid>
              <a:tr h="200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Data 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 err="1"/>
                        <a:t>Dist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 err="1"/>
                        <a:t>Prob</a:t>
                      </a:r>
                      <a:endParaRPr lang="it-I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2661801"/>
                  </a:ext>
                </a:extLst>
              </a:tr>
              <a:tr h="200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0.543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3279678"/>
                  </a:ext>
                </a:extLst>
              </a:tr>
              <a:tr h="200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0.20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0.374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7807454"/>
                  </a:ext>
                </a:extLst>
              </a:tr>
              <a:tr h="200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0.40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0.083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7567175"/>
                  </a:ext>
                </a:extLst>
              </a:tr>
              <a:tr h="200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0.80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~0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9632555"/>
                  </a:ext>
                </a:extLst>
              </a:tr>
              <a:tr h="200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1.60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~0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1653928"/>
                  </a:ext>
                </a:extLst>
              </a:tr>
            </a:tbl>
          </a:graphicData>
        </a:graphic>
      </p:graphicFrame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8EA4D924-117E-04AE-FFAC-07D7CDE08212}"/>
              </a:ext>
            </a:extLst>
          </p:cNvPr>
          <p:cNvCxnSpPr>
            <a:cxnSpLocks/>
          </p:cNvCxnSpPr>
          <p:nvPr/>
        </p:nvCxnSpPr>
        <p:spPr>
          <a:xfrm>
            <a:off x="2267744" y="1916832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4A27402B-1153-4C30-B463-8095B0D8B8D2}"/>
              </a:ext>
            </a:extLst>
          </p:cNvPr>
          <p:cNvCxnSpPr>
            <a:cxnSpLocks/>
          </p:cNvCxnSpPr>
          <p:nvPr/>
        </p:nvCxnSpPr>
        <p:spPr>
          <a:xfrm>
            <a:off x="2624751" y="4437112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6ADECD77-8325-0EC9-13CA-C8F4669DF505}"/>
              </a:ext>
            </a:extLst>
          </p:cNvPr>
          <p:cNvCxnSpPr>
            <a:cxnSpLocks/>
          </p:cNvCxnSpPr>
          <p:nvPr/>
        </p:nvCxnSpPr>
        <p:spPr>
          <a:xfrm>
            <a:off x="1835696" y="5685371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31261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D789DA-BBC0-9987-43F3-28EAB797C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Similarities in Low Dimensions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24D0E2C-8242-5C2C-AA72-FA3149BBF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983CD6E-DB04-CEE4-B9E5-7FD257906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26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E6275721-2960-843A-E921-3ABFD806726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We now reduce the high-dimensional data into a lower-dimensional space, where data points are initially randomly placed along the x-axis.</a:t>
            </a:r>
          </a:p>
          <a:p>
            <a:r>
              <a:rPr lang="en-US" dirty="0"/>
              <a:t>In this lower-dimensional space, we recalculate the similarity scores for each point relative to all others.</a:t>
            </a:r>
          </a:p>
          <a:p>
            <a:r>
              <a:rPr lang="en-US" dirty="0"/>
              <a:t>This results in a second n × n similarity matrix, now based on low-dimensional distances.</a:t>
            </a:r>
          </a:p>
          <a:p>
            <a:r>
              <a:rPr lang="en-US" dirty="0"/>
              <a:t>At this point, we have two matrices:</a:t>
            </a:r>
          </a:p>
          <a:p>
            <a:pPr lvl="1"/>
            <a:r>
              <a:rPr lang="en-US" dirty="0"/>
              <a:t>One representing similarity scores in the original high-dimensional space</a:t>
            </a:r>
          </a:p>
          <a:p>
            <a:pPr lvl="1"/>
            <a:r>
              <a:rPr lang="en-US" dirty="0"/>
              <a:t>One representing similarity scores in the lower-dimensional space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918913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2D54AC-65C1-B408-74E3-3A9ED3FEC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T-SNE in a </a:t>
            </a:r>
            <a:r>
              <a:rPr lang="it-IT" dirty="0" err="1"/>
              <a:t>nutshell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0792A3B-A6D7-349D-8D41-0BFFA54D6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7D91D31-7DF6-242C-040A-D642B1496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27</a:t>
            </a:fld>
            <a:endParaRPr lang="it-IT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32263A8-5680-9ECF-023C-46D0F4F72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0"/>
            <a:ext cx="4974928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EF4E570D-C27A-1A4B-9933-9CDC7A858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598" y="3816192"/>
            <a:ext cx="5806250" cy="2836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94760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50177F-C30A-6A42-CEFC-3DF92E9BE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Optimization</a:t>
            </a:r>
            <a:r>
              <a:rPr lang="it-IT" dirty="0"/>
              <a:t> </a:t>
            </a:r>
            <a:r>
              <a:rPr lang="it-IT" dirty="0" err="1"/>
              <a:t>Objective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E4CD745-3593-BB12-915F-48BDCB037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CA4B3B7-5976-A610-7121-B4521559D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28</a:t>
            </a:fld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2FBC8009-75EA-8296-B7FA-2E41200B529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The goal is to make the low-dimensional similarity matrix resemble the high-dimensional one as closely as possible.</a:t>
                </a:r>
              </a:p>
              <a:p>
                <a:r>
                  <a:rPr lang="en-US" dirty="0"/>
                  <a:t>To do this, we minimize the difference between the two matrices using a divergence measure, typically the </a:t>
                </a:r>
                <a:r>
                  <a:rPr lang="en-US" dirty="0" err="1"/>
                  <a:t>Kullback</a:t>
                </a:r>
                <a:r>
                  <a:rPr lang="en-US" dirty="0"/>
                  <a:t>-Leibler (KL) divergence.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𝐾𝐿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  <m:f>
                          <m:f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The algorithm iteratively adjusts the positions of points in the lower-dimensional space to reduce this divergence and better preserve the structure of the original data.</a:t>
                </a:r>
              </a:p>
              <a:p>
                <a:pPr lvl="1"/>
                <a:r>
                  <a:rPr lang="en-US" dirty="0"/>
                  <a:t>To minimize the KL divergence, we use gradient descent.</a:t>
                </a:r>
                <a:endParaRPr lang="it-IT" dirty="0"/>
              </a:p>
            </p:txBody>
          </p:sp>
        </mc:Choice>
        <mc:Fallback xmlns="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2FBC8009-75EA-8296-B7FA-2E41200B52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296" t="-741" r="-59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88633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8732A6-8FD9-AF25-5A8B-BD2645A61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T-SNE </a:t>
            </a:r>
            <a:r>
              <a:rPr lang="it-IT" dirty="0" err="1"/>
              <a:t>configuration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C32D209-3BC8-85BD-600B-7055B4768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656360A-7477-8D0B-3EB4-09F62C0B5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29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6456BEF1-D990-FA14-EF5C-C8DED5131E4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Perplexity: Measures the effective number of neighbors for each point. (5-50)</a:t>
            </a:r>
          </a:p>
          <a:p>
            <a:pPr lvl="1"/>
            <a:r>
              <a:rPr lang="en-US" dirty="0"/>
              <a:t>Balances local vs. global structure: Low perplexity → focus on local details High perplexity → captures global structure</a:t>
            </a:r>
          </a:p>
          <a:p>
            <a:r>
              <a:rPr lang="en-US" dirty="0"/>
              <a:t>Learning Rate: Controls the step size during optimization. (10-100)</a:t>
            </a:r>
          </a:p>
          <a:p>
            <a:pPr lvl="1"/>
            <a:r>
              <a:rPr lang="en-US" dirty="0"/>
              <a:t>Too high → algorithm may oscillate or miss global minimum.</a:t>
            </a:r>
          </a:p>
          <a:p>
            <a:pPr lvl="1"/>
            <a:r>
              <a:rPr lang="en-US" dirty="0"/>
              <a:t>Too low → slow convergence, may get stuck in local minima.</a:t>
            </a:r>
          </a:p>
          <a:p>
            <a:r>
              <a:rPr lang="en-US" dirty="0"/>
              <a:t>Number of Iterations: Defines how many times the algorithm updates the embedding. (1000)</a:t>
            </a:r>
          </a:p>
          <a:p>
            <a:pPr lvl="1"/>
            <a:r>
              <a:rPr lang="en-US" dirty="0"/>
              <a:t>Too few → embedding may not converge.</a:t>
            </a:r>
          </a:p>
          <a:p>
            <a:pPr lvl="1"/>
            <a:r>
              <a:rPr lang="en-US" dirty="0"/>
              <a:t>Too many → unnecessary computational cost.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546296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D28350-9CF4-A3A3-ED0E-E6A164EE9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UMAP in a </a:t>
            </a:r>
            <a:r>
              <a:rPr lang="it-IT" dirty="0" err="1"/>
              <a:t>nutshell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192CFCB-6F48-4249-0898-596B71F6C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1DE21A5-1D02-032A-FCE9-234806005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30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08CCBCBB-18DA-5382-83F1-6E21BC0E6D6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Preserves Local &amp; Global Structure: Captures both fine-grained details and overall data shape.</a:t>
            </a:r>
          </a:p>
          <a:p>
            <a:r>
              <a:rPr lang="en-US" dirty="0"/>
              <a:t>Flexible Parameter Tuning: </a:t>
            </a:r>
            <a:r>
              <a:rPr lang="en-US" dirty="0" err="1"/>
              <a:t>n_neighbors</a:t>
            </a:r>
            <a:r>
              <a:rPr lang="en-US" dirty="0"/>
              <a:t> and </a:t>
            </a:r>
            <a:r>
              <a:rPr lang="en-US" dirty="0" err="1"/>
              <a:t>min_dist</a:t>
            </a:r>
            <a:r>
              <a:rPr lang="en-US" dirty="0"/>
              <a:t> control the locality-globality trade-off.</a:t>
            </a:r>
          </a:p>
          <a:p>
            <a:r>
              <a:rPr lang="en-US" dirty="0"/>
              <a:t>Faster than t-SNE.</a:t>
            </a:r>
          </a:p>
          <a:p>
            <a:r>
              <a:rPr lang="en-US" dirty="0"/>
              <a:t>High-level intuition</a:t>
            </a:r>
          </a:p>
          <a:p>
            <a:pPr lvl="1"/>
            <a:r>
              <a:rPr lang="en-US" dirty="0"/>
              <a:t>learns a graph in high-dimensional space</a:t>
            </a:r>
          </a:p>
          <a:p>
            <a:pPr lvl="1"/>
            <a:r>
              <a:rPr lang="en-US" dirty="0"/>
              <a:t>learns a similar graph in low-dimensional space</a:t>
            </a:r>
          </a:p>
          <a:p>
            <a:pPr lvl="1"/>
            <a:r>
              <a:rPr lang="en-US" dirty="0"/>
              <a:t>Goal: make the two graphs as similar as possible</a:t>
            </a:r>
          </a:p>
        </p:txBody>
      </p:sp>
    </p:spTree>
    <p:extLst>
      <p:ext uri="{BB962C8B-B14F-4D97-AF65-F5344CB8AC3E}">
        <p14:creationId xmlns:p14="http://schemas.microsoft.com/office/powerpoint/2010/main" val="31856348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192B6E-ED68-10A0-BC4E-E429B8DDD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UMAP </a:t>
            </a:r>
            <a:r>
              <a:rPr lang="it-IT" dirty="0" err="1"/>
              <a:t>Parameters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2033957-A41F-184F-2F15-4265789EE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8A145CC-0F02-0EE9-B6C7-57A347B5F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31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2A5FDC19-3751-53AD-8F3B-A38FAE7484A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n_neighbors</a:t>
            </a:r>
            <a:endParaRPr lang="en-US" dirty="0"/>
          </a:p>
          <a:p>
            <a:pPr lvl="1"/>
            <a:r>
              <a:rPr lang="en-US" dirty="0"/>
              <a:t>Controls the size of the local neighborhood used to build the graph </a:t>
            </a:r>
            <a:r>
              <a:rPr lang="it-IT" dirty="0" err="1"/>
              <a:t>structure</a:t>
            </a:r>
            <a:r>
              <a:rPr lang="it-IT" dirty="0"/>
              <a:t> (</a:t>
            </a:r>
            <a:r>
              <a:rPr lang="it-IT" dirty="0" err="1"/>
              <a:t>typical</a:t>
            </a:r>
            <a:r>
              <a:rPr lang="it-IT" dirty="0"/>
              <a:t>: 5–50)</a:t>
            </a:r>
            <a:endParaRPr lang="en-US" dirty="0"/>
          </a:p>
          <a:p>
            <a:r>
              <a:rPr lang="en-US" dirty="0" err="1"/>
              <a:t>min_dist</a:t>
            </a:r>
            <a:endParaRPr lang="en-US" dirty="0"/>
          </a:p>
          <a:p>
            <a:pPr lvl="1"/>
            <a:r>
              <a:rPr lang="en-US" dirty="0"/>
              <a:t>Sets the minimum distance between embedded points.</a:t>
            </a:r>
          </a:p>
          <a:p>
            <a:pPr lvl="1"/>
            <a:r>
              <a:rPr lang="it-IT" dirty="0"/>
              <a:t>Low (0.0–0.1): tight clusters</a:t>
            </a:r>
          </a:p>
          <a:p>
            <a:pPr lvl="1"/>
            <a:r>
              <a:rPr lang="it-IT" dirty="0"/>
              <a:t>Medium (0.2–0.4): </a:t>
            </a:r>
            <a:r>
              <a:rPr lang="it-IT" dirty="0" err="1"/>
              <a:t>balanced</a:t>
            </a:r>
            <a:endParaRPr lang="it-IT" dirty="0"/>
          </a:p>
          <a:p>
            <a:pPr lvl="1"/>
            <a:r>
              <a:rPr lang="it-IT" dirty="0"/>
              <a:t>High (0.5+): spread-out </a:t>
            </a:r>
            <a:r>
              <a:rPr lang="it-IT" dirty="0" err="1"/>
              <a:t>structure</a:t>
            </a:r>
            <a:endParaRPr lang="it-IT" dirty="0"/>
          </a:p>
          <a:p>
            <a:r>
              <a:rPr lang="en-US" dirty="0" err="1"/>
              <a:t>n_components</a:t>
            </a:r>
            <a:endParaRPr lang="en-US" dirty="0"/>
          </a:p>
          <a:p>
            <a:pPr lvl="1"/>
            <a:r>
              <a:rPr lang="en-US" dirty="0"/>
              <a:t>Dimensionality of the target space (e.g., 2D or 3D).</a:t>
            </a:r>
          </a:p>
          <a:p>
            <a:r>
              <a:rPr lang="en-US" dirty="0"/>
              <a:t>Metric</a:t>
            </a:r>
          </a:p>
          <a:p>
            <a:pPr lvl="1"/>
            <a:r>
              <a:rPr lang="en-US" dirty="0"/>
              <a:t>Distance function for computing neighbor similarity </a:t>
            </a:r>
            <a:r>
              <a:rPr lang="it-IT" dirty="0"/>
              <a:t>(e.g. </a:t>
            </a:r>
            <a:r>
              <a:rPr lang="it-IT" dirty="0" err="1"/>
              <a:t>euclidean</a:t>
            </a:r>
            <a:r>
              <a:rPr lang="it-IT" dirty="0"/>
              <a:t>, cosine, </a:t>
            </a:r>
            <a:r>
              <a:rPr lang="it-IT" dirty="0" err="1"/>
              <a:t>manhattan</a:t>
            </a:r>
            <a:r>
              <a:rPr lang="it-IT" dirty="0"/>
              <a:t>)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20272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602476-639A-B2DE-CBFA-DFAF2F756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Construct a k-Nearest Neighbor Graph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8D742D6-E5F6-3232-BA26-3974E84FD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7E8F7A3-9A77-4B05-5FB6-52BDCF524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32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2654E3C6-5578-3E63-138F-BA791BA2312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For each point xᵢ:</a:t>
            </a:r>
          </a:p>
          <a:p>
            <a:pPr lvl="1"/>
            <a:r>
              <a:rPr lang="en-US" dirty="0"/>
              <a:t>find its k nearest neighbors (KNN)</a:t>
            </a:r>
          </a:p>
          <a:p>
            <a:r>
              <a:rPr lang="en-US" dirty="0"/>
              <a:t>k is controlled by the parameter </a:t>
            </a:r>
            <a:r>
              <a:rPr lang="en-US" dirty="0" err="1"/>
              <a:t>n_neighbors</a:t>
            </a:r>
            <a:endParaRPr lang="en-US" dirty="0"/>
          </a:p>
          <a:p>
            <a:r>
              <a:rPr lang="en-US" dirty="0"/>
              <a:t>Interpretation:</a:t>
            </a:r>
          </a:p>
          <a:p>
            <a:pPr lvl="1"/>
            <a:r>
              <a:rPr lang="en-US" dirty="0"/>
              <a:t>Small k → focus on very local structure</a:t>
            </a:r>
          </a:p>
          <a:p>
            <a:pPr lvl="1"/>
            <a:r>
              <a:rPr lang="en-US" dirty="0"/>
              <a:t>Large k → incorporate more global structure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533538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184C40-319A-AE62-B202-C34C37E89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Distances to Edge Weights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C6A03A2-5DD7-96B1-F22E-61B53463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D8A7415-99F5-10FF-B312-A87916489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33</a:t>
            </a:fld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1858D6C9-FA8F-8C28-3798-FDFA2025E2C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it-IT" dirty="0"/>
                  <a:t>For </a:t>
                </a:r>
                <a:r>
                  <a:rPr lang="it-IT" dirty="0" err="1"/>
                  <a:t>each</a:t>
                </a:r>
                <a:r>
                  <a:rPr lang="it-IT" dirty="0"/>
                  <a:t> point xᵢ and </a:t>
                </a:r>
                <a:r>
                  <a:rPr lang="it-IT" dirty="0" err="1"/>
                  <a:t>neighbor</a:t>
                </a:r>
                <a:r>
                  <a:rPr lang="it-IT" dirty="0"/>
                  <a:t> xⱼ:</a:t>
                </a:r>
              </a:p>
              <a:p>
                <a:pPr lvl="1"/>
                <a:r>
                  <a:rPr lang="it-IT" dirty="0"/>
                  <a:t>Compute </a:t>
                </a:r>
                <a:r>
                  <a:rPr lang="it-IT" dirty="0" err="1"/>
                  <a:t>distance</a:t>
                </a:r>
                <a:r>
                  <a:rPr lang="it-IT" dirty="0"/>
                  <a:t> d(xᵢ, xⱼ)</a:t>
                </a:r>
              </a:p>
              <a:p>
                <a:pPr lvl="1"/>
                <a:r>
                  <a:rPr lang="it-IT" dirty="0" err="1"/>
                  <a:t>Convert</a:t>
                </a:r>
                <a:r>
                  <a:rPr lang="it-IT" dirty="0"/>
                  <a:t> </a:t>
                </a:r>
                <a:r>
                  <a:rPr lang="it-IT" dirty="0" err="1"/>
                  <a:t>distances</a:t>
                </a:r>
                <a:r>
                  <a:rPr lang="it-IT" dirty="0"/>
                  <a:t> </a:t>
                </a:r>
                <a:r>
                  <a:rPr lang="it-IT" dirty="0" err="1"/>
                  <a:t>into</a:t>
                </a:r>
                <a:r>
                  <a:rPr lang="it-IT" dirty="0"/>
                  <a:t>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it-IT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it-IT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exp</m:t>
                    </m:r>
                    <m:r>
                      <a:rPr lang="it-IT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⁡(−</m:t>
                    </m:r>
                    <m:f>
                      <m:fPr>
                        <m:ctrlPr>
                          <a:rPr lang="it-IT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it-IT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it-IT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it-IT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it-IT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ᵢ, </m:t>
                        </m:r>
                        <m:r>
                          <m:rPr>
                            <m:nor/>
                          </m:rPr>
                          <a:rPr lang="it-IT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it-IT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ⱼ)− </m:t>
                        </m:r>
                        <m:r>
                          <m:rPr>
                            <m:nor/>
                          </m:rPr>
                          <a:rPr lang="el-GR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ρ</m:t>
                        </m:r>
                        <m:r>
                          <m:rPr>
                            <m:nor/>
                          </m:rPr>
                          <a:rPr lang="it-IT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ᵢ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  <m:r>
                          <m:rPr>
                            <m:nor/>
                          </m:rPr>
                          <a:rPr lang="it-IT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ᵢ</m:t>
                        </m:r>
                      </m:den>
                    </m:f>
                    <m:r>
                      <a:rPr lang="it-IT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it-IT" dirty="0" err="1"/>
                  <a:t>Exponential</a:t>
                </a:r>
                <a:r>
                  <a:rPr lang="it-IT" dirty="0"/>
                  <a:t> </a:t>
                </a:r>
                <a:r>
                  <a:rPr lang="it-IT" dirty="0" err="1"/>
                  <a:t>function</a:t>
                </a:r>
                <a:endParaRPr lang="it-IT" dirty="0"/>
              </a:p>
              <a:p>
                <a:pPr lvl="1"/>
                <a:r>
                  <a:rPr lang="en-US" dirty="0"/>
                  <a:t>Enforces rapid decay of similarity with increasing distance</a:t>
                </a:r>
              </a:p>
              <a:p>
                <a:pPr lvl="1"/>
                <a:r>
                  <a:rPr lang="en-US" dirty="0"/>
                  <a:t>Ensures that only very close neighbors have strong influence</a:t>
                </a:r>
                <a:endParaRPr lang="it-IT" dirty="0"/>
              </a:p>
              <a:p>
                <a:r>
                  <a:rPr lang="el-GR" dirty="0"/>
                  <a:t>ρ</a:t>
                </a:r>
                <a:r>
                  <a:rPr lang="it-IT" dirty="0"/>
                  <a:t>ᵢ = </a:t>
                </a:r>
                <a:r>
                  <a:rPr lang="it-IT" dirty="0" err="1"/>
                  <a:t>distance</a:t>
                </a:r>
                <a:r>
                  <a:rPr lang="it-IT" dirty="0"/>
                  <a:t> to the </a:t>
                </a:r>
                <a:r>
                  <a:rPr lang="it-IT" dirty="0" err="1"/>
                  <a:t>closest</a:t>
                </a:r>
                <a:r>
                  <a:rPr lang="it-IT" dirty="0"/>
                  <a:t> </a:t>
                </a:r>
                <a:r>
                  <a:rPr lang="it-IT" dirty="0" err="1"/>
                  <a:t>neighbor</a:t>
                </a:r>
                <a:endParaRPr lang="it-IT" dirty="0"/>
              </a:p>
              <a:p>
                <a:pPr lvl="1"/>
                <a:r>
                  <a:rPr lang="en-US" dirty="0"/>
                  <a:t>zero distance to the nearest neighbor -&gt; a </a:t>
                </a:r>
                <a:r>
                  <a:rPr lang="en-US" b="1" dirty="0"/>
                  <a:t>maximum weight of 1</a:t>
                </a:r>
                <a:r>
                  <a:rPr lang="en-US" dirty="0"/>
                  <a:t> for the nearest neighbor</a:t>
                </a:r>
              </a:p>
              <a:p>
                <a:pPr lvl="1"/>
                <a:r>
                  <a:rPr lang="en-US" dirty="0"/>
                  <a:t>Normalizes local neighborhoods across regions with different densities</a:t>
                </a:r>
              </a:p>
              <a:p>
                <a:r>
                  <a:rPr lang="el-GR" dirty="0"/>
                  <a:t>σ</a:t>
                </a:r>
                <a:r>
                  <a:rPr lang="it-IT" dirty="0"/>
                  <a:t>ᵢ = </a:t>
                </a:r>
                <a:r>
                  <a:rPr lang="it-IT" dirty="0" err="1"/>
                  <a:t>local</a:t>
                </a:r>
                <a:r>
                  <a:rPr lang="it-IT" dirty="0"/>
                  <a:t> </a:t>
                </a:r>
                <a:r>
                  <a:rPr lang="it-IT" dirty="0" err="1"/>
                  <a:t>connectivity</a:t>
                </a:r>
                <a:r>
                  <a:rPr lang="it-IT" dirty="0"/>
                  <a:t> scale</a:t>
                </a:r>
              </a:p>
              <a:p>
                <a:pPr lvl="1"/>
                <a:r>
                  <a:rPr lang="en-US" dirty="0"/>
                  <a:t>Similar to t-SNE, σᵢ adapts to local density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𝐾𝑁𝑁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it-IT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it-IT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it-IT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it-IT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it-IT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d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it-IT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it-IT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x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it-IT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ᵢ,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it-IT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x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it-IT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ⱼ)−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l-GR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ρ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it-IT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ᵢ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l-GR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it-IT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ᵢ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it-IT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sSub>
                          <m:sSubPr>
                            <m:ctrlPr>
                              <a:rPr lang="it-IT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it-IT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it-IT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nor/>
                          </m:rPr>
                          <a:rPr lang="it-IT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1858D6C9-FA8F-8C28-3798-FDFA2025E2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t="-1481" b="-37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47778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3F2627-7BEF-92EC-C933-1B294ECEB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Symmetrization</a:t>
            </a:r>
            <a:r>
              <a:rPr lang="it-IT" dirty="0"/>
              <a:t> of the </a:t>
            </a:r>
            <a:r>
              <a:rPr lang="it-IT" dirty="0" err="1"/>
              <a:t>Graph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E413985-46E1-7C68-E78B-D15D52A72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C332918-05AF-9EA2-24F4-0D195032E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34</a:t>
            </a:fld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96EA93C8-A7EC-8F35-E002-960C18E4962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it-IT" dirty="0"/>
                  <a:t>Neighborhood relations are </a:t>
                </a:r>
                <a:r>
                  <a:rPr lang="it-IT" b="1" dirty="0" err="1"/>
                  <a:t>asymmetric</a:t>
                </a:r>
                <a:endParaRPr lang="it-IT" b="1" dirty="0"/>
              </a:p>
              <a:p>
                <a:r>
                  <a:rPr lang="en-US" dirty="0"/>
                  <a:t>UMAP symmetrizes edge weights using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𝑠𝑦𝑚</m:t>
                        </m:r>
                      </m:sup>
                    </m:sSubSup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it-IT" dirty="0" err="1"/>
                  <a:t>Preserves</a:t>
                </a:r>
                <a:r>
                  <a:rPr lang="it-IT" dirty="0"/>
                  <a:t> strong </a:t>
                </a:r>
                <a:r>
                  <a:rPr lang="it-IT" dirty="0" err="1"/>
                  <a:t>mutual</a:t>
                </a:r>
                <a:r>
                  <a:rPr lang="it-IT" dirty="0"/>
                  <a:t> connections</a:t>
                </a:r>
              </a:p>
              <a:p>
                <a:r>
                  <a:rPr lang="en-US" dirty="0"/>
                  <a:t>Avoids shrinking weak one-sided links</a:t>
                </a:r>
                <a:endParaRPr lang="it-IT" dirty="0"/>
              </a:p>
            </p:txBody>
          </p:sp>
        </mc:Choice>
        <mc:Fallback xmlns="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96EA93C8-A7EC-8F35-E002-960C18E496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296" t="-7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91426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88DAEA-F4B0-5CBA-9C6F-1F2D8BCEE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Optimization</a:t>
            </a:r>
            <a:r>
              <a:rPr lang="it-IT" dirty="0"/>
              <a:t> </a:t>
            </a:r>
            <a:r>
              <a:rPr lang="it-IT" dirty="0" err="1"/>
              <a:t>Objective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3504C27-7B75-4AED-3210-C70E80339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2C26EAE-A598-7FB2-80B9-3D6DABAE9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35</a:t>
            </a:fld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34BDFB70-86CA-5E45-4583-47F4A7880CC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Minimize </a:t>
                </a:r>
                <a:r>
                  <a:rPr lang="en-US" b="1" dirty="0"/>
                  <a:t>cross-entropy</a:t>
                </a:r>
                <a:r>
                  <a:rPr lang="en-US" dirty="0"/>
                  <a:t> between high-D and low-D graphs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𝐶𝐸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func>
                          <m:func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it-IT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+(1−</m:t>
                        </m:r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func>
                          <m:func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it-IT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it-IT" dirty="0" err="1"/>
                  <a:t>Encourages</a:t>
                </a:r>
                <a:r>
                  <a:rPr lang="it-IT" dirty="0"/>
                  <a:t>:</a:t>
                </a:r>
              </a:p>
              <a:p>
                <a:pPr lvl="1"/>
                <a:r>
                  <a:rPr lang="en-US" dirty="0"/>
                  <a:t>connected points to stay close</a:t>
                </a:r>
              </a:p>
              <a:p>
                <a:pPr lvl="1"/>
                <a:r>
                  <a:rPr lang="en-US" dirty="0"/>
                  <a:t>unconnected points to stay apart</a:t>
                </a:r>
                <a:endParaRPr lang="it-IT" dirty="0"/>
              </a:p>
            </p:txBody>
          </p:sp>
        </mc:Choice>
        <mc:Fallback xmlns="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34BDFB70-86CA-5E45-4583-47F4A7880C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296" t="-7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14039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A3942B-397D-747E-03DD-9D8CAD435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Cluster the </a:t>
            </a:r>
            <a:r>
              <a:rPr lang="it-IT" dirty="0" err="1"/>
              <a:t>Reduced</a:t>
            </a:r>
            <a:r>
              <a:rPr lang="it-IT" dirty="0"/>
              <a:t> </a:t>
            </a:r>
            <a:r>
              <a:rPr lang="it-IT" dirty="0" err="1"/>
              <a:t>Embeddings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0443DD1-629B-D87C-4EF1-52D409C1C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0C5D90B-0ECD-333A-1FE6-DD6BC8F8A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36</a:t>
            </a:fld>
            <a:endParaRPr lang="it-IT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739E199-249D-AE05-5774-FBFE2F1816D1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86997"/>
            <a:ext cx="5399712" cy="1871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21AF531-88C4-6A9D-D763-9AD113B2F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416" y="3527681"/>
            <a:ext cx="571500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7802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E24CD9-F9EC-D57D-FE9A-71D7B225D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HDBSCAN in a </a:t>
            </a:r>
            <a:r>
              <a:rPr lang="it-IT" dirty="0" err="1"/>
              <a:t>nutshell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2FA1B7B-ABBD-3DAE-202A-6FFE87EA5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92150C4-0EE0-F6B5-3ABA-7A8EEC711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37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15E28BD8-ADCE-F396-04F1-AE3FCDBAAE0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HDBSCAN is a density-based clustering algorithm</a:t>
            </a:r>
          </a:p>
          <a:p>
            <a:pPr lvl="1"/>
            <a:r>
              <a:rPr lang="en-US" dirty="0"/>
              <a:t>Clusters are defined as regions with many nearby points</a:t>
            </a:r>
          </a:p>
          <a:p>
            <a:pPr lvl="1"/>
            <a:r>
              <a:rPr lang="en-US" dirty="0"/>
              <a:t>Sparse regions are considered separators or noise</a:t>
            </a:r>
          </a:p>
          <a:p>
            <a:r>
              <a:rPr lang="en-US" dirty="0"/>
              <a:t>Intuition:</a:t>
            </a:r>
          </a:p>
          <a:p>
            <a:pPr lvl="1"/>
            <a:r>
              <a:rPr lang="en-US" dirty="0"/>
              <a:t>A cluster is a "crowded area"</a:t>
            </a:r>
          </a:p>
          <a:p>
            <a:pPr lvl="1"/>
            <a:r>
              <a:rPr lang="en-US" dirty="0"/>
              <a:t>Noise lives in "empty space"</a:t>
            </a:r>
          </a:p>
          <a:p>
            <a:r>
              <a:rPr lang="en-US" dirty="0"/>
              <a:t>It automatically finds:</a:t>
            </a:r>
          </a:p>
          <a:p>
            <a:pPr lvl="1"/>
            <a:r>
              <a:rPr lang="en-US" dirty="0"/>
              <a:t>clusters of varying density</a:t>
            </a:r>
          </a:p>
          <a:p>
            <a:pPr lvl="1"/>
            <a:r>
              <a:rPr lang="en-US" dirty="0"/>
              <a:t>noise / outliers</a:t>
            </a:r>
          </a:p>
          <a:p>
            <a:r>
              <a:rPr lang="en-US" dirty="0"/>
              <a:t>Widely used after UMAP or t-SNE embeddings</a:t>
            </a:r>
          </a:p>
          <a:p>
            <a:r>
              <a:rPr lang="en-US" dirty="0"/>
              <a:t>No need to specify the number of clusters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861248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B62A3F-3297-155B-5E44-840AEE6F9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HDBSCAN pipeline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F122497-0BD1-73C2-A4AA-6D9DC4F7C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 dirty="0"/>
              <a:t>Francesco Guerra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38F60C4-92F4-0EDE-E889-36652221A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38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94632300-F322-2633-1417-3520E59B97F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Estimate local density (core distance)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Modify distances (mutual reachability)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Build MST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Construct hierarchy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Condense using minimum cluster size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Select clusters via stability</a:t>
            </a:r>
          </a:p>
        </p:txBody>
      </p:sp>
    </p:spTree>
    <p:extLst>
      <p:ext uri="{BB962C8B-B14F-4D97-AF65-F5344CB8AC3E}">
        <p14:creationId xmlns:p14="http://schemas.microsoft.com/office/powerpoint/2010/main" val="7364089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B95701-EAC3-0E7D-AF2A-722CF37EB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Measuring Local Density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C7F3B3F-681A-B80A-DBD4-197E6649A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FF2C9DF-23E0-A842-FB52-7730D3A76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39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6C3C81CF-BF30-36DC-7492-E25545E45A9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For each point xᵢ:</a:t>
            </a:r>
          </a:p>
          <a:p>
            <a:pPr lvl="1"/>
            <a:r>
              <a:rPr lang="en-US" dirty="0"/>
              <a:t>find its k-</a:t>
            </a:r>
            <a:r>
              <a:rPr lang="en-US" dirty="0" err="1"/>
              <a:t>th</a:t>
            </a:r>
            <a:r>
              <a:rPr lang="en-US" dirty="0"/>
              <a:t> nearest neighbor (</a:t>
            </a:r>
            <a:r>
              <a:rPr lang="en-US" dirty="0" err="1"/>
              <a:t>min_samples</a:t>
            </a:r>
            <a:r>
              <a:rPr lang="en-US" dirty="0"/>
              <a:t> parameter)</a:t>
            </a:r>
          </a:p>
          <a:p>
            <a:r>
              <a:rPr lang="en-US" dirty="0"/>
              <a:t>The distance to this neighbor defines the core distance:</a:t>
            </a:r>
          </a:p>
          <a:p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core_dist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(xᵢ) = distance to the k-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nearest neighbor</a:t>
            </a:r>
          </a:p>
          <a:p>
            <a:r>
              <a:rPr lang="en-US" dirty="0"/>
              <a:t>Dense regions → small core distance</a:t>
            </a:r>
          </a:p>
          <a:p>
            <a:r>
              <a:rPr lang="en-US" dirty="0"/>
              <a:t>Sparse regions → large core distance</a:t>
            </a:r>
          </a:p>
          <a:p>
            <a:endParaRPr lang="it-IT" dirty="0"/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6CE90745-1F15-8A6E-4EE9-3ABDE77CB8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3B973773-2A78-C303-9A62-6D92BBE16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3068960"/>
            <a:ext cx="2715004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832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A47C5A-1384-1F1F-420F-1E7B0159E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Mutual</a:t>
            </a:r>
            <a:r>
              <a:rPr lang="it-IT" dirty="0"/>
              <a:t> </a:t>
            </a:r>
            <a:r>
              <a:rPr lang="it-IT" dirty="0" err="1"/>
              <a:t>Reachability</a:t>
            </a:r>
            <a:r>
              <a:rPr lang="it-IT" dirty="0"/>
              <a:t> </a:t>
            </a:r>
            <a:r>
              <a:rPr lang="it-IT" dirty="0" err="1"/>
              <a:t>Distance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A0C8C54-D0A2-3A4D-9727-EE7DD1796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7843149-B2A2-05BA-9C6E-BFBAE01C8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40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5B6514FD-9981-54E1-7F4A-8D2AF461C1E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it-IT" dirty="0"/>
              <a:t>To compare </a:t>
            </a:r>
            <a:r>
              <a:rPr lang="it-IT" dirty="0" err="1"/>
              <a:t>two</a:t>
            </a:r>
            <a:r>
              <a:rPr lang="it-IT" dirty="0"/>
              <a:t> points xᵢ and xⱼ, HDBSCAN </a:t>
            </a:r>
            <a:r>
              <a:rPr lang="it-IT" dirty="0" err="1"/>
              <a:t>uses</a:t>
            </a:r>
            <a:r>
              <a:rPr lang="it-IT" dirty="0"/>
              <a:t>:</a:t>
            </a:r>
          </a:p>
          <a:p>
            <a:pPr lvl="1"/>
            <a:r>
              <a:rPr lang="it-IT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mreach</a:t>
            </a:r>
            <a:r>
              <a:rPr lang="it-IT" dirty="0">
                <a:latin typeface="Cambria Math" panose="02040503050406030204" pitchFamily="18" charset="0"/>
                <a:ea typeface="Cambria Math" panose="02040503050406030204" pitchFamily="18" charset="0"/>
              </a:rPr>
              <a:t>(xᵢ, xⱼ) = max(</a:t>
            </a:r>
            <a:r>
              <a:rPr lang="it-IT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core_dist</a:t>
            </a:r>
            <a:r>
              <a:rPr lang="it-IT" dirty="0">
                <a:latin typeface="Cambria Math" panose="02040503050406030204" pitchFamily="18" charset="0"/>
                <a:ea typeface="Cambria Math" panose="02040503050406030204" pitchFamily="18" charset="0"/>
              </a:rPr>
              <a:t>(xᵢ), </a:t>
            </a:r>
            <a:r>
              <a:rPr lang="it-IT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core_dist</a:t>
            </a:r>
            <a:r>
              <a:rPr lang="it-IT" dirty="0">
                <a:latin typeface="Cambria Math" panose="02040503050406030204" pitchFamily="18" charset="0"/>
                <a:ea typeface="Cambria Math" panose="02040503050406030204" pitchFamily="18" charset="0"/>
              </a:rPr>
              <a:t>(xⱼ), </a:t>
            </a:r>
            <a:r>
              <a:rPr lang="it-IT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distance</a:t>
            </a:r>
            <a:r>
              <a:rPr lang="it-IT" dirty="0">
                <a:latin typeface="Cambria Math" panose="02040503050406030204" pitchFamily="18" charset="0"/>
                <a:ea typeface="Cambria Math" panose="02040503050406030204" pitchFamily="18" charset="0"/>
              </a:rPr>
              <a:t>(xᵢ, xⱼ))</a:t>
            </a:r>
          </a:p>
          <a:p>
            <a:r>
              <a:rPr lang="it-IT" dirty="0" err="1"/>
              <a:t>Intuition</a:t>
            </a:r>
            <a:r>
              <a:rPr lang="it-IT" dirty="0"/>
              <a:t>:</a:t>
            </a:r>
          </a:p>
          <a:p>
            <a:pPr lvl="1"/>
            <a:r>
              <a:rPr lang="it-IT" dirty="0" err="1"/>
              <a:t>Penalizes</a:t>
            </a:r>
            <a:r>
              <a:rPr lang="it-IT" dirty="0"/>
              <a:t> </a:t>
            </a:r>
            <a:r>
              <a:rPr lang="it-IT" dirty="0" err="1"/>
              <a:t>pairs</a:t>
            </a:r>
            <a:r>
              <a:rPr lang="it-IT" dirty="0"/>
              <a:t> </a:t>
            </a:r>
            <a:r>
              <a:rPr lang="it-IT" dirty="0" err="1"/>
              <a:t>involving</a:t>
            </a:r>
            <a:r>
              <a:rPr lang="it-IT" dirty="0"/>
              <a:t> sparse points</a:t>
            </a:r>
          </a:p>
          <a:p>
            <a:pPr lvl="1"/>
            <a:r>
              <a:rPr lang="it-IT" dirty="0"/>
              <a:t>Makes </a:t>
            </a:r>
            <a:r>
              <a:rPr lang="it-IT" dirty="0" err="1"/>
              <a:t>distances</a:t>
            </a:r>
            <a:r>
              <a:rPr lang="it-IT" dirty="0"/>
              <a:t> </a:t>
            </a:r>
            <a:r>
              <a:rPr lang="it-IT" dirty="0" err="1"/>
              <a:t>density-aware</a:t>
            </a:r>
            <a:endParaRPr lang="it-IT" dirty="0"/>
          </a:p>
        </p:txBody>
      </p:sp>
      <p:pic>
        <p:nvPicPr>
          <p:cNvPr id="8" name="Immagine 7" descr="Immagine che contiene diagramma, cerchio, linea, design&#10;&#10;Il contenuto generato dall'IA potrebbe non essere corretto.">
            <a:extLst>
              <a:ext uri="{FF2B5EF4-FFF2-40B4-BE49-F238E27FC236}">
                <a16:creationId xmlns:a16="http://schemas.microsoft.com/office/drawing/2014/main" id="{8E02E712-9C61-A11C-50DB-FE1C4194E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912" y="2492896"/>
            <a:ext cx="3659544" cy="3396783"/>
          </a:xfrm>
          <a:prstGeom prst="rect">
            <a:avLst/>
          </a:prstGeom>
        </p:spPr>
      </p:pic>
      <p:pic>
        <p:nvPicPr>
          <p:cNvPr id="10" name="Immagine 9" descr="Immagine che contiene diagramma, cerchio, linea, design&#10;&#10;Il contenuto generato dall'IA potrebbe non essere corretto.">
            <a:extLst>
              <a:ext uri="{FF2B5EF4-FFF2-40B4-BE49-F238E27FC236}">
                <a16:creationId xmlns:a16="http://schemas.microsoft.com/office/drawing/2014/main" id="{0C4035B3-6A66-8631-2924-D4855E995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301" y="3577018"/>
            <a:ext cx="3008051" cy="275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1783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393262-3DED-7198-E354-343F02ABA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Build a </a:t>
            </a:r>
            <a:r>
              <a:rPr lang="it-IT" dirty="0" err="1"/>
              <a:t>Density-Aware</a:t>
            </a:r>
            <a:r>
              <a:rPr lang="it-IT" dirty="0"/>
              <a:t> </a:t>
            </a:r>
            <a:r>
              <a:rPr lang="it-IT" dirty="0" err="1"/>
              <a:t>Graph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84D554C-8ADA-C1F8-27A3-850846FB0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2675B33-8954-D6F2-E6D6-BF696E22B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41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632303D5-2F96-2BBA-31DE-A1DE0AFA5EF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Construct a graph where:</a:t>
            </a:r>
          </a:p>
          <a:p>
            <a:pPr lvl="1"/>
            <a:r>
              <a:rPr lang="en-US" dirty="0"/>
              <a:t>nodes = data points</a:t>
            </a:r>
          </a:p>
          <a:p>
            <a:pPr lvl="1"/>
            <a:r>
              <a:rPr lang="en-US" dirty="0"/>
              <a:t>edge weight = mutual reachability distance</a:t>
            </a:r>
          </a:p>
          <a:p>
            <a:r>
              <a:rPr lang="en-US" dirty="0"/>
              <a:t>Iteratively cutting a fully connected graph at different weight thresholds would be very expensive.</a:t>
            </a:r>
          </a:p>
          <a:p>
            <a:r>
              <a:rPr lang="en-US" dirty="0"/>
              <a:t>Compute a Minimum Spanning Tree (MST) of this graph</a:t>
            </a:r>
          </a:p>
          <a:p>
            <a:r>
              <a:rPr lang="en-US" dirty="0"/>
              <a:t>MST captures the essential density structure</a:t>
            </a:r>
            <a:endParaRPr lang="it-IT" dirty="0"/>
          </a:p>
        </p:txBody>
      </p:sp>
      <p:pic>
        <p:nvPicPr>
          <p:cNvPr id="7" name="Immagine 6" descr="Immagine che contiene mappa, diagramma&#10;&#10;Il contenuto generato dall'IA potrebbe non essere corretto.">
            <a:extLst>
              <a:ext uri="{FF2B5EF4-FFF2-40B4-BE49-F238E27FC236}">
                <a16:creationId xmlns:a16="http://schemas.microsoft.com/office/drawing/2014/main" id="{C75CE7D7-FCD0-645F-F130-1433D07FD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152" y="3884997"/>
            <a:ext cx="2736304" cy="246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2234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1C6BDE-C191-4100-94A1-573A75063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MST to Hierarchical Clustering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A8306A1-3F7D-A945-372D-C73341823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619EA07-CD72-F471-9176-9460EA5B0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42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E2B187B6-3454-F8E5-FB58-13E07E265D1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Procedure:</a:t>
            </a:r>
          </a:p>
          <a:p>
            <a:pPr lvl="1"/>
            <a:r>
              <a:rPr lang="en-US" dirty="0"/>
              <a:t>Sort MST edges by increasing weight</a:t>
            </a:r>
          </a:p>
          <a:p>
            <a:pPr lvl="1"/>
            <a:r>
              <a:rPr lang="en-US" dirty="0"/>
              <a:t>Add edges one by one</a:t>
            </a:r>
          </a:p>
          <a:p>
            <a:pPr lvl="1"/>
            <a:r>
              <a:rPr lang="en-US" dirty="0"/>
              <a:t>Connected components merge over time</a:t>
            </a:r>
          </a:p>
          <a:p>
            <a:r>
              <a:rPr lang="en-US" dirty="0"/>
              <a:t>This produces a </a:t>
            </a:r>
            <a:r>
              <a:rPr lang="en-US" b="1" dirty="0"/>
              <a:t>single-linkage dendrogram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Leaves = individual points</a:t>
            </a:r>
          </a:p>
          <a:p>
            <a:pPr lvl="1"/>
            <a:r>
              <a:rPr lang="en-US" dirty="0"/>
              <a:t>Merges happen at increasing distances</a:t>
            </a:r>
          </a:p>
        </p:txBody>
      </p:sp>
      <p:pic>
        <p:nvPicPr>
          <p:cNvPr id="7" name="Immagine 6" descr="Immagine che contiene diagramma, linea, design, arte&#10;&#10;Il contenuto generato dall'IA potrebbe non essere corretto.">
            <a:extLst>
              <a:ext uri="{FF2B5EF4-FFF2-40B4-BE49-F238E27FC236}">
                <a16:creationId xmlns:a16="http://schemas.microsoft.com/office/drawing/2014/main" id="{D18D76AC-2CB3-BAE1-7DD9-E1313E258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675" y="3429000"/>
            <a:ext cx="3522781" cy="284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521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AB9846-B219-F606-49FA-9156C8F4D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Distance-Based Cuts Are Not Enough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898BF67-15F4-BB2A-E9F4-51D247A54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C1BD401-1E8A-6AD0-A318-261A73FC4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43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BBEDED66-2371-5CA0-76B3-0DF17A43786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it-IT" dirty="0"/>
              <a:t>Suppose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cut</a:t>
            </a:r>
            <a:r>
              <a:rPr lang="it-IT" dirty="0"/>
              <a:t> the </a:t>
            </a:r>
            <a:r>
              <a:rPr lang="it-IT" dirty="0" err="1"/>
              <a:t>dendrogram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a </a:t>
            </a:r>
            <a:r>
              <a:rPr lang="it-IT" dirty="0" err="1"/>
              <a:t>fixed</a:t>
            </a:r>
            <a:r>
              <a:rPr lang="it-IT" dirty="0"/>
              <a:t> </a:t>
            </a:r>
            <a:r>
              <a:rPr lang="it-IT" dirty="0" err="1"/>
              <a:t>distance</a:t>
            </a:r>
            <a:r>
              <a:rPr lang="it-IT" dirty="0"/>
              <a:t>:</a:t>
            </a:r>
          </a:p>
          <a:p>
            <a:pPr lvl="1"/>
            <a:r>
              <a:rPr lang="it-IT" dirty="0"/>
              <a:t>Dense cluster → </a:t>
            </a:r>
            <a:r>
              <a:rPr lang="it-IT" dirty="0" err="1"/>
              <a:t>preserved</a:t>
            </a:r>
            <a:endParaRPr lang="it-IT" dirty="0"/>
          </a:p>
          <a:p>
            <a:pPr lvl="1"/>
            <a:r>
              <a:rPr lang="it-IT" dirty="0"/>
              <a:t>Sparse cluster → </a:t>
            </a:r>
            <a:r>
              <a:rPr lang="it-IT" dirty="0" err="1"/>
              <a:t>destroyed</a:t>
            </a:r>
            <a:endParaRPr lang="it-IT" dirty="0"/>
          </a:p>
          <a:p>
            <a:r>
              <a:rPr lang="it-IT" dirty="0"/>
              <a:t>Or:</a:t>
            </a:r>
          </a:p>
          <a:p>
            <a:pPr lvl="1"/>
            <a:r>
              <a:rPr lang="it-IT" dirty="0"/>
              <a:t>Sparse cluster → </a:t>
            </a:r>
            <a:r>
              <a:rPr lang="it-IT" dirty="0" err="1"/>
              <a:t>preserved</a:t>
            </a:r>
            <a:endParaRPr lang="it-IT" dirty="0"/>
          </a:p>
          <a:p>
            <a:pPr lvl="1"/>
            <a:r>
              <a:rPr lang="it-IT" dirty="0"/>
              <a:t>Dense cluster → </a:t>
            </a:r>
            <a:r>
              <a:rPr lang="it-IT" dirty="0" err="1"/>
              <a:t>merged</a:t>
            </a:r>
            <a:r>
              <a:rPr lang="it-IT" dirty="0"/>
              <a:t> with </a:t>
            </a:r>
            <a:r>
              <a:rPr lang="it-IT" dirty="0" err="1"/>
              <a:t>others</a:t>
            </a:r>
            <a:endParaRPr lang="it-IT" dirty="0"/>
          </a:p>
          <a:p>
            <a:r>
              <a:rPr lang="it-IT" dirty="0"/>
              <a:t>A </a:t>
            </a:r>
            <a:r>
              <a:rPr lang="it-IT" b="1" dirty="0"/>
              <a:t>single </a:t>
            </a:r>
            <a:r>
              <a:rPr lang="it-IT" b="1" dirty="0" err="1"/>
              <a:t>distance</a:t>
            </a:r>
            <a:r>
              <a:rPr lang="it-IT" b="1" dirty="0"/>
              <a:t> </a:t>
            </a:r>
            <a:r>
              <a:rPr lang="it-IT" b="1" dirty="0" err="1"/>
              <a:t>threshold</a:t>
            </a:r>
            <a:r>
              <a:rPr lang="it-IT" b="1" dirty="0"/>
              <a:t> </a:t>
            </a:r>
            <a:r>
              <a:rPr lang="it-IT" b="1" dirty="0" err="1"/>
              <a:t>cannot</a:t>
            </a:r>
            <a:r>
              <a:rPr lang="it-IT" b="1" dirty="0"/>
              <a:t> handle </a:t>
            </a:r>
            <a:r>
              <a:rPr lang="it-IT" b="1" dirty="0" err="1"/>
              <a:t>variable</a:t>
            </a:r>
            <a:r>
              <a:rPr lang="it-IT" b="1" dirty="0"/>
              <a:t> </a:t>
            </a:r>
            <a:r>
              <a:rPr lang="it-IT" b="1" dirty="0" err="1"/>
              <a:t>densities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839205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892C31-07F9-0AC2-9014-E0B15A401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Reparameterization: From Distance to Density (λ)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7CDC920-DB4F-CAF9-3E35-D4BAA8153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57922B7-D463-533F-E8FB-15DEB74F6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44</a:t>
            </a:fld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15F9B22C-AEC1-5BE5-AED5-4E54EB35B48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mtClean="0"/>
                      <m:t>λ</m:t>
                    </m:r>
                    <m:r>
                      <m:rPr>
                        <m:nor/>
                      </m:rPr>
                      <a:rPr lang="el-GR" smtClean="0"/>
                      <m:t> =</m:t>
                    </m:r>
                    <m:r>
                      <m:rPr>
                        <m:nor/>
                      </m:rPr>
                      <a:rPr lang="it-IT" b="0" i="0" smtClean="0"/>
                      <m:t> </m:t>
                    </m:r>
                    <m:f>
                      <m:f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𝑑𝑖𝑠𝑡𝑎𝑛𝑐𝑒</m:t>
                        </m:r>
                      </m:den>
                    </m:f>
                    <m:r>
                      <m:rPr>
                        <m:nor/>
                      </m:rPr>
                      <a:rPr lang="el-GR"/>
                      <m:t> </m:t>
                    </m:r>
                  </m:oMath>
                </a14:m>
                <a:endParaRPr lang="it-IT" dirty="0"/>
              </a:p>
              <a:p>
                <a:r>
                  <a:rPr lang="en-US" dirty="0"/>
                  <a:t>Interpretation:</a:t>
                </a:r>
              </a:p>
              <a:p>
                <a:pPr lvl="1"/>
                <a:r>
                  <a:rPr lang="en-US" dirty="0"/>
                  <a:t>High λ → high density</a:t>
                </a:r>
              </a:p>
              <a:p>
                <a:pPr lvl="1"/>
                <a:r>
                  <a:rPr lang="en-US" dirty="0"/>
                  <a:t>Low λ → low density</a:t>
                </a:r>
              </a:p>
              <a:p>
                <a:r>
                  <a:rPr lang="en-US" dirty="0"/>
                  <a:t>This does </a:t>
                </a:r>
                <a:r>
                  <a:rPr lang="en-US" b="1" dirty="0"/>
                  <a:t>not</a:t>
                </a:r>
                <a:r>
                  <a:rPr lang="en-US" dirty="0"/>
                  <a:t> change the tree structure, only how we </a:t>
                </a:r>
                <a:r>
                  <a:rPr lang="en-US" i="1" dirty="0"/>
                  <a:t>interpret</a:t>
                </a:r>
                <a:r>
                  <a:rPr lang="en-US" dirty="0"/>
                  <a:t> it.</a:t>
                </a:r>
              </a:p>
              <a:p>
                <a:r>
                  <a:rPr lang="en-US" dirty="0"/>
                  <a:t>Now clusters live over </a:t>
                </a:r>
                <a:r>
                  <a:rPr lang="en-US" b="1" dirty="0"/>
                  <a:t>intervals of density</a:t>
                </a:r>
                <a:r>
                  <a:rPr lang="en-US" dirty="0"/>
                  <a:t>, not distance.</a:t>
                </a:r>
              </a:p>
            </p:txBody>
          </p:sp>
        </mc:Choice>
        <mc:Fallback xmlns="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15F9B22C-AEC1-5BE5-AED5-4E54EB35B4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29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39827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3AF90C-9AE4-B199-7EDF-E2C3212C2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Cluster </a:t>
            </a:r>
            <a:r>
              <a:rPr lang="it-IT" dirty="0" err="1"/>
              <a:t>birth</a:t>
            </a:r>
            <a:r>
              <a:rPr lang="it-IT" dirty="0"/>
              <a:t> and </a:t>
            </a:r>
            <a:r>
              <a:rPr lang="it-IT" dirty="0" err="1"/>
              <a:t>death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F721D5A-0EEC-10BC-34C5-3395898D5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1E2BDC5-AD4C-B1B6-8A96-285C4EDBF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45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C3148AFD-DF43-7EB1-B0F8-DD73BF57E45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cluster is </a:t>
            </a:r>
            <a:r>
              <a:rPr lang="en-US" b="1" dirty="0"/>
              <a:t>born</a:t>
            </a:r>
            <a:r>
              <a:rPr lang="en-US" dirty="0"/>
              <a:t> when:</a:t>
            </a:r>
          </a:p>
          <a:p>
            <a:pPr lvl="1"/>
            <a:r>
              <a:rPr lang="en-US" dirty="0"/>
              <a:t>Its points first become connected</a:t>
            </a:r>
          </a:p>
          <a:p>
            <a:pPr lvl="1"/>
            <a:r>
              <a:rPr lang="en-US" dirty="0"/>
              <a:t>At a specific λ value</a:t>
            </a:r>
          </a:p>
          <a:p>
            <a:r>
              <a:rPr lang="en-US" dirty="0"/>
              <a:t>A cluster </a:t>
            </a:r>
            <a:r>
              <a:rPr lang="en-US" b="1" dirty="0"/>
              <a:t>dies</a:t>
            </a:r>
            <a:r>
              <a:rPr lang="en-US" dirty="0"/>
              <a:t> when:</a:t>
            </a:r>
          </a:p>
          <a:p>
            <a:pPr lvl="1"/>
            <a:r>
              <a:rPr lang="en-US" dirty="0"/>
              <a:t>It merges with another cluster, or</a:t>
            </a:r>
          </a:p>
          <a:p>
            <a:pPr lvl="1"/>
            <a:r>
              <a:rPr lang="en-US" dirty="0"/>
              <a:t>It splits into valid subclusters</a:t>
            </a:r>
          </a:p>
          <a:p>
            <a:r>
              <a:rPr lang="en-US" dirty="0"/>
              <a:t>Birth and death define the </a:t>
            </a:r>
            <a:r>
              <a:rPr lang="en-US" i="1" dirty="0"/>
              <a:t>lifetime</a:t>
            </a:r>
            <a:r>
              <a:rPr lang="en-US" dirty="0"/>
              <a:t> of a cluster.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442459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2254F7-8832-CA15-C72B-D290E48DA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Step 5: </a:t>
            </a:r>
            <a:r>
              <a:rPr lang="it-IT" dirty="0" err="1"/>
              <a:t>Condensed</a:t>
            </a:r>
            <a:r>
              <a:rPr lang="it-IT" dirty="0"/>
              <a:t> Cluster Tree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C14FF45-6AA0-4B6A-6813-12A878509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FE0FF71-39DD-B0F2-D2C4-D249F2BB9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46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E746B578-D41C-3527-5282-88386AE1705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Observation:</a:t>
            </a:r>
          </a:p>
          <a:p>
            <a:pPr lvl="1"/>
            <a:r>
              <a:rPr lang="en-US" dirty="0"/>
              <a:t>Many splits separate only 1–2 points</a:t>
            </a:r>
          </a:p>
          <a:p>
            <a:pPr lvl="1"/>
            <a:r>
              <a:rPr lang="en-US" dirty="0"/>
              <a:t>These are usually noise, not real clusters</a:t>
            </a:r>
          </a:p>
          <a:p>
            <a:r>
              <a:rPr lang="en-US" dirty="0"/>
              <a:t>Introduce the parameter </a:t>
            </a:r>
            <a:r>
              <a:rPr lang="en-US" i="1" dirty="0" err="1"/>
              <a:t>minimum_cluster_size</a:t>
            </a:r>
            <a:endParaRPr lang="en-US" i="1" dirty="0"/>
          </a:p>
          <a:p>
            <a:pPr lvl="1"/>
            <a:r>
              <a:rPr lang="en-US" dirty="0"/>
              <a:t>If a split creates a cluster smaller than this size → treat it as points </a:t>
            </a:r>
            <a:r>
              <a:rPr lang="en-US" b="1" dirty="0"/>
              <a:t>falling out</a:t>
            </a:r>
            <a:endParaRPr lang="en-US" dirty="0"/>
          </a:p>
          <a:p>
            <a:pPr lvl="1"/>
            <a:r>
              <a:rPr lang="en-US" dirty="0"/>
              <a:t>Otherwise → accept it as a real split</a:t>
            </a:r>
          </a:p>
          <a:p>
            <a:r>
              <a:rPr lang="en-US" dirty="0"/>
              <a:t>Result: </a:t>
            </a:r>
          </a:p>
          <a:p>
            <a:pPr lvl="1"/>
            <a:r>
              <a:rPr lang="en-US" dirty="0"/>
              <a:t>A simplified hierarchy: the </a:t>
            </a:r>
            <a:r>
              <a:rPr lang="en-US" b="1" dirty="0"/>
              <a:t>condensed tree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2023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BCCC24-1864-0AEC-9B5D-7BDC50E55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 of </a:t>
            </a:r>
            <a:r>
              <a:rPr lang="it-IT" dirty="0" err="1"/>
              <a:t>condensed</a:t>
            </a:r>
            <a:r>
              <a:rPr lang="it-IT" dirty="0"/>
              <a:t> </a:t>
            </a:r>
            <a:r>
              <a:rPr lang="it-IT" dirty="0" err="1"/>
              <a:t>tree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C8296A7-FC55-C7ED-860A-36C10E2A9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EFDFD35-6E4B-0E6E-EED7-927F4F2EE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47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9A9B39C6-D593-2119-EE2F-9B11EE3257D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In the condensed tree:</a:t>
            </a:r>
          </a:p>
          <a:p>
            <a:pPr lvl="1"/>
            <a:r>
              <a:rPr lang="en-US" dirty="0"/>
              <a:t>Each cluster is drawn as a </a:t>
            </a:r>
            <a:r>
              <a:rPr lang="en-US" b="1" dirty="0"/>
              <a:t>rectangle</a:t>
            </a:r>
            <a:endParaRPr lang="en-US" dirty="0"/>
          </a:p>
          <a:p>
            <a:pPr lvl="1"/>
            <a:r>
              <a:rPr lang="en-US" dirty="0"/>
              <a:t>x-axis: number of points (cluster size)</a:t>
            </a:r>
          </a:p>
          <a:p>
            <a:pPr lvl="1"/>
            <a:r>
              <a:rPr lang="en-US" dirty="0"/>
              <a:t>y-axis: density λ</a:t>
            </a:r>
          </a:p>
          <a:p>
            <a:r>
              <a:rPr lang="en-US" dirty="0"/>
              <a:t>As λ decreases:</a:t>
            </a:r>
          </a:p>
          <a:p>
            <a:pPr lvl="1"/>
            <a:r>
              <a:rPr lang="en-US" dirty="0"/>
              <a:t>Points may fall out → rectangle narrows</a:t>
            </a:r>
          </a:p>
          <a:p>
            <a:pPr lvl="1"/>
            <a:r>
              <a:rPr lang="en-US" dirty="0"/>
              <a:t>Cluster may split → new rectangles appear</a:t>
            </a:r>
          </a:p>
          <a:p>
            <a:endParaRPr lang="it-IT" dirty="0"/>
          </a:p>
        </p:txBody>
      </p:sp>
      <p:pic>
        <p:nvPicPr>
          <p:cNvPr id="7" name="Immagine 6" descr="Immagine che contiene Arte bambini, Rettangolo, arte, design&#10;&#10;Il contenuto generato dall'IA potrebbe non essere corretto.">
            <a:extLst>
              <a:ext uri="{FF2B5EF4-FFF2-40B4-BE49-F238E27FC236}">
                <a16:creationId xmlns:a16="http://schemas.microsoft.com/office/drawing/2014/main" id="{24B4ED1D-1520-81CA-A023-96CC6DB25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152" y="3441048"/>
            <a:ext cx="2463677" cy="272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058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82083C-8508-7B05-3F9F-8963218CC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Cluster </a:t>
            </a:r>
            <a:r>
              <a:rPr lang="it-IT" dirty="0" err="1"/>
              <a:t>Stability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FE59F5D-CC20-1A9A-5E0E-ECB2E8DAA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1898763-154E-4877-F0D6-AD427C125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48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F34362CF-D226-F151-704D-61D53D8FBD1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Intuition:</a:t>
            </a:r>
          </a:p>
          <a:p>
            <a:pPr lvl="1"/>
            <a:r>
              <a:rPr lang="en-US" dirty="0"/>
              <a:t>A good cluster exists </a:t>
            </a:r>
            <a:r>
              <a:rPr lang="en-US" b="1" dirty="0"/>
              <a:t>for a long time</a:t>
            </a:r>
            <a:r>
              <a:rPr lang="en-US" dirty="0"/>
              <a:t> and contains </a:t>
            </a:r>
            <a:r>
              <a:rPr lang="en-US" b="1" dirty="0"/>
              <a:t>many points</a:t>
            </a:r>
            <a:r>
              <a:rPr lang="en-US" dirty="0"/>
              <a:t>.</a:t>
            </a:r>
          </a:p>
          <a:p>
            <a:r>
              <a:rPr lang="en-US" dirty="0"/>
              <a:t>Stability measures:</a:t>
            </a:r>
          </a:p>
          <a:p>
            <a:pPr lvl="1"/>
            <a:r>
              <a:rPr lang="en-US" dirty="0"/>
              <a:t>How long a cluster persists</a:t>
            </a:r>
          </a:p>
          <a:p>
            <a:pPr lvl="1"/>
            <a:r>
              <a:rPr lang="en-US" dirty="0"/>
              <a:t>Weighted by how many points stay in it</a:t>
            </a:r>
          </a:p>
          <a:p>
            <a:r>
              <a:rPr lang="en-US" dirty="0"/>
              <a:t>Formally:</a:t>
            </a:r>
          </a:p>
          <a:p>
            <a:pPr lvl="1"/>
            <a:r>
              <a:rPr lang="en-US" dirty="0"/>
              <a:t>stability = sum over points of (</a:t>
            </a:r>
            <a:r>
              <a:rPr lang="en-US" dirty="0" err="1"/>
              <a:t>λ_p</a:t>
            </a:r>
            <a:r>
              <a:rPr lang="en-US" dirty="0"/>
              <a:t> − </a:t>
            </a:r>
            <a:r>
              <a:rPr lang="en-US" dirty="0" err="1"/>
              <a:t>λ_birth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𝜆_birth: cluster birth</a:t>
            </a:r>
          </a:p>
          <a:p>
            <a:pPr lvl="2"/>
            <a:r>
              <a:rPr lang="en-US" dirty="0"/>
              <a:t>𝜆_𝑝: point leaves the cluster</a:t>
            </a:r>
          </a:p>
          <a:p>
            <a:r>
              <a:rPr lang="en-US" dirty="0"/>
              <a:t>Geometrically:</a:t>
            </a:r>
          </a:p>
          <a:p>
            <a:pPr lvl="1"/>
            <a:r>
              <a:rPr lang="en-US" b="1" dirty="0"/>
              <a:t>Stability = area of the rectangle</a:t>
            </a:r>
            <a:endParaRPr lang="en-US" dirty="0"/>
          </a:p>
        </p:txBody>
      </p:sp>
      <p:pic>
        <p:nvPicPr>
          <p:cNvPr id="7" name="Immagine 6" descr="Immagine che contiene Arte bambini, disegno, Policromia, arte&#10;&#10;Il contenuto generato dall'IA potrebbe non essere corretto.">
            <a:extLst>
              <a:ext uri="{FF2B5EF4-FFF2-40B4-BE49-F238E27FC236}">
                <a16:creationId xmlns:a16="http://schemas.microsoft.com/office/drawing/2014/main" id="{6CE13C64-2AF9-F636-581F-CF0AD01FB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643" y="2254424"/>
            <a:ext cx="2965813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4998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EF8F56-D715-1214-965C-BBEC91A0B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6: Selecting the Final Clusters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9170CD1-706F-B288-1938-CF33C9670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C005EE1-B7A9-D498-7C73-340D30B6C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49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8585A0C-9E75-C991-402F-10545AF4029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do </a:t>
            </a:r>
            <a:r>
              <a:rPr lang="en-US" b="1" dirty="0"/>
              <a:t>not</a:t>
            </a:r>
            <a:r>
              <a:rPr lang="en-US" dirty="0"/>
              <a:t> cut at a fixed λ.</a:t>
            </a:r>
          </a:p>
          <a:p>
            <a:r>
              <a:rPr lang="en-US" dirty="0"/>
              <a:t>Instead:</a:t>
            </a:r>
          </a:p>
          <a:p>
            <a:pPr lvl="1"/>
            <a:r>
              <a:rPr lang="en-US" dirty="0"/>
              <a:t>Traverse the condensed tree bottom-up</a:t>
            </a:r>
          </a:p>
          <a:p>
            <a:pPr lvl="1"/>
            <a:r>
              <a:rPr lang="en-US" dirty="0"/>
              <a:t>For each cluster:</a:t>
            </a:r>
          </a:p>
          <a:p>
            <a:pPr lvl="2"/>
            <a:r>
              <a:rPr lang="en-US" dirty="0"/>
              <a:t>Compare its stability with the </a:t>
            </a:r>
            <a:r>
              <a:rPr lang="en-US" b="1" dirty="0"/>
              <a:t>sum of its children’s stabilities</a:t>
            </a:r>
            <a:endParaRPr lang="en-US" dirty="0"/>
          </a:p>
          <a:p>
            <a:r>
              <a:rPr lang="en-US" dirty="0"/>
              <a:t>Rule:</a:t>
            </a:r>
          </a:p>
          <a:p>
            <a:pPr lvl="1"/>
            <a:r>
              <a:rPr lang="en-US" dirty="0"/>
              <a:t>If parent is more stable → select parent</a:t>
            </a:r>
          </a:p>
          <a:p>
            <a:pPr lvl="1"/>
            <a:r>
              <a:rPr lang="en-US" dirty="0"/>
              <a:t>Otherwise → select children</a:t>
            </a:r>
          </a:p>
          <a:p>
            <a:r>
              <a:rPr lang="en-US" dirty="0"/>
              <a:t>This ensures:</a:t>
            </a:r>
          </a:p>
          <a:p>
            <a:pPr lvl="1"/>
            <a:r>
              <a:rPr lang="en-US" dirty="0"/>
              <a:t>No overlapping selections</a:t>
            </a:r>
          </a:p>
          <a:p>
            <a:pPr lvl="1"/>
            <a:r>
              <a:rPr lang="en-US" dirty="0"/>
              <a:t>Preference for robust structure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676672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912994-F4D4-D3C4-F2E2-F13873025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Final</a:t>
            </a:r>
            <a:r>
              <a:rPr lang="it-IT" dirty="0"/>
              <a:t> Output of HDBSCAN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099676E-3DBB-8ECA-6FAC-0349EC03B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BC92936-BD63-A028-7BAD-185895E53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50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D3C397F0-DBB0-0A08-7C36-38BE340E8B6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HDBSCAN returns:</a:t>
            </a:r>
          </a:p>
          <a:p>
            <a:pPr lvl="1"/>
            <a:r>
              <a:rPr lang="en-US" b="1" dirty="0"/>
              <a:t>Cluster labels</a:t>
            </a:r>
          </a:p>
          <a:p>
            <a:pPr lvl="2"/>
            <a:r>
              <a:rPr lang="en-US" dirty="0"/>
              <a:t>Points belonging to stable clusters get a label</a:t>
            </a:r>
          </a:p>
          <a:p>
            <a:pPr lvl="1"/>
            <a:r>
              <a:rPr lang="en-US" b="1" dirty="0"/>
              <a:t>Noise points</a:t>
            </a:r>
            <a:r>
              <a:rPr lang="en-US" dirty="0"/>
              <a:t> (label = −1)</a:t>
            </a:r>
          </a:p>
          <a:p>
            <a:pPr lvl="2"/>
            <a:r>
              <a:rPr lang="en-US" dirty="0"/>
              <a:t>Points not consistently assigned become </a:t>
            </a:r>
            <a:r>
              <a:rPr lang="en-US" b="1" dirty="0"/>
              <a:t>noise</a:t>
            </a:r>
            <a:endParaRPr lang="en-US" dirty="0"/>
          </a:p>
          <a:p>
            <a:pPr lvl="1"/>
            <a:r>
              <a:rPr lang="en-US" b="1" dirty="0"/>
              <a:t>Membership strength</a:t>
            </a:r>
            <a:r>
              <a:rPr lang="en-US" dirty="0"/>
              <a:t> for each point</a:t>
            </a:r>
          </a:p>
          <a:p>
            <a:r>
              <a:rPr lang="en-US" dirty="0"/>
              <a:t>Membership strength:</a:t>
            </a:r>
          </a:p>
          <a:p>
            <a:pPr lvl="1"/>
            <a:r>
              <a:rPr lang="en-US" dirty="0"/>
              <a:t>Derived from normalized λ values</a:t>
            </a:r>
          </a:p>
          <a:p>
            <a:pPr lvl="1"/>
            <a:r>
              <a:rPr lang="en-US" dirty="0"/>
              <a:t>Indicates confidence of assignment</a:t>
            </a:r>
          </a:p>
        </p:txBody>
      </p:sp>
    </p:spTree>
    <p:extLst>
      <p:ext uri="{BB962C8B-B14F-4D97-AF65-F5344CB8AC3E}">
        <p14:creationId xmlns:p14="http://schemas.microsoft.com/office/powerpoint/2010/main" val="22113873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EF3B0A-54A5-E3D1-FAEF-3669AFFA3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Main</a:t>
            </a:r>
            <a:r>
              <a:rPr lang="it-IT" dirty="0"/>
              <a:t> </a:t>
            </a:r>
            <a:r>
              <a:rPr lang="it-IT" dirty="0" err="1"/>
              <a:t>Hyperparameters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60A8B17-E3C3-D732-7D41-7B480C145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7DB9B39-8278-D39D-A1E3-6E87ECE6A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51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6BB2EA33-D5EC-4EC5-88AB-8D5EAC12AC1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min_cluster_size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minimum size of a cluster</a:t>
            </a:r>
          </a:p>
          <a:p>
            <a:r>
              <a:rPr lang="en-US" dirty="0" err="1"/>
              <a:t>min_samples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controls strictness of density requirement</a:t>
            </a:r>
          </a:p>
          <a:p>
            <a:r>
              <a:rPr lang="en-US" dirty="0"/>
              <a:t>Higher values → more conservative clustering</a:t>
            </a:r>
          </a:p>
        </p:txBody>
      </p:sp>
    </p:spTree>
    <p:extLst>
      <p:ext uri="{BB962C8B-B14F-4D97-AF65-F5344CB8AC3E}">
        <p14:creationId xmlns:p14="http://schemas.microsoft.com/office/powerpoint/2010/main" val="18270763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B713EE-E6E6-557A-C832-2CF852B70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Inspecting</a:t>
            </a:r>
            <a:r>
              <a:rPr lang="it-IT" dirty="0"/>
              <a:t> the Clusters / Topic </a:t>
            </a:r>
            <a:r>
              <a:rPr lang="it-IT" dirty="0" err="1"/>
              <a:t>modeling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56D6614-095E-3E13-D2A7-8E70A8EDA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9B16783-89FA-D20F-A709-6CAC045E6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52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B42FE47D-7826-74F6-944F-F77F1767FB4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We can inspect each generated cluster manually and explore the assigned documents to get an understanding of its content.</a:t>
            </a:r>
          </a:p>
          <a:p>
            <a:r>
              <a:rPr lang="en-US" dirty="0"/>
              <a:t>This idea of finding themes or latent topics in a collection of textual data is often referred to as </a:t>
            </a:r>
            <a:r>
              <a:rPr lang="en-US" i="1" dirty="0"/>
              <a:t>topic modeling</a:t>
            </a:r>
            <a:r>
              <a:rPr lang="en-US" dirty="0"/>
              <a:t>. </a:t>
            </a:r>
          </a:p>
          <a:p>
            <a:r>
              <a:rPr lang="en-US" dirty="0"/>
              <a:t>Traditionally, it involves finding a set of keywords or phrases that best represent and capture the meaning of </a:t>
            </a:r>
            <a:r>
              <a:rPr lang="en-US"/>
              <a:t>the topic</a:t>
            </a:r>
            <a:endParaRPr lang="it-IT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9FBE8CE-EE4E-117D-C7CF-5DF1118E6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3827897"/>
            <a:ext cx="5715000" cy="284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04415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4387E4-DE5E-8C4D-DAFC-1FE6E9B45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Topic </a:t>
            </a:r>
            <a:r>
              <a:rPr lang="it-IT" dirty="0" err="1"/>
              <a:t>Modeling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13D256A-11E2-F8E6-7A46-5821B33C0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2E55FF6-08C3-06DF-3BC8-FDDAB8E00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53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FEC9CABB-7634-8961-1650-871E8F37830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Unsupervised statistical method for discovering hidden themes in large text collections (typically in the form of keywords).</a:t>
            </a:r>
          </a:p>
          <a:p>
            <a:r>
              <a:rPr lang="en-US" dirty="0"/>
              <a:t>Automatically identifies topics from word patterns—no manual labeling needed.</a:t>
            </a:r>
          </a:p>
          <a:p>
            <a:r>
              <a:rPr lang="en-US" dirty="0"/>
              <a:t>Reveals how themes are connected and how they evolve over time.</a:t>
            </a:r>
          </a:p>
          <a:p>
            <a:r>
              <a:rPr lang="en-US" dirty="0"/>
              <a:t>Enables scalable organization and summarization of large text archives.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6C897A6-314E-259F-17E3-A7D8E5DA3EB9}"/>
              </a:ext>
            </a:extLst>
          </p:cNvPr>
          <p:cNvSpPr txBox="1"/>
          <p:nvPr/>
        </p:nvSpPr>
        <p:spPr>
          <a:xfrm>
            <a:off x="2448745" y="6213313"/>
            <a:ext cx="56516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David M. </a:t>
            </a:r>
            <a:r>
              <a:rPr lang="it-IT" dirty="0" err="1"/>
              <a:t>Blei</a:t>
            </a:r>
            <a:r>
              <a:rPr lang="it-IT" dirty="0"/>
              <a:t>: </a:t>
            </a:r>
            <a:r>
              <a:rPr lang="it-IT" dirty="0" err="1"/>
              <a:t>Probabilistic</a:t>
            </a:r>
            <a:r>
              <a:rPr lang="it-IT" dirty="0"/>
              <a:t> </a:t>
            </a:r>
            <a:r>
              <a:rPr lang="it-IT" dirty="0" err="1"/>
              <a:t>topic</a:t>
            </a:r>
            <a:r>
              <a:rPr lang="it-IT" dirty="0"/>
              <a:t> models. </a:t>
            </a:r>
            <a:r>
              <a:rPr lang="it-IT" dirty="0" err="1"/>
              <a:t>Commun</a:t>
            </a:r>
            <a:r>
              <a:rPr lang="it-IT" dirty="0"/>
              <a:t>. ACM 55(4): 77-84 (2012)</a:t>
            </a:r>
          </a:p>
        </p:txBody>
      </p:sp>
    </p:spTree>
    <p:extLst>
      <p:ext uri="{BB962C8B-B14F-4D97-AF65-F5344CB8AC3E}">
        <p14:creationId xmlns:p14="http://schemas.microsoft.com/office/powerpoint/2010/main" val="28965752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31822A-D919-E7E1-A14A-6F3D86E26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LDA for Topic </a:t>
            </a:r>
            <a:r>
              <a:rPr lang="it-IT" dirty="0" err="1"/>
              <a:t>Modeling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277D958-1760-9197-1FDC-75143226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A6284B7-EECA-090A-27BB-09C5E95C0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54</a:t>
            </a:fld>
            <a:endParaRPr lang="it-IT"/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4210DE54-DF86-2639-64FF-FB8DB33A80CD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737917" y="1219200"/>
            <a:ext cx="7690392" cy="4937125"/>
          </a:xfrm>
        </p:spPr>
      </p:pic>
    </p:spTree>
    <p:extLst>
      <p:ext uri="{BB962C8B-B14F-4D97-AF65-F5344CB8AC3E}">
        <p14:creationId xmlns:p14="http://schemas.microsoft.com/office/powerpoint/2010/main" val="30325236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50646E-0DF4-01FE-E01D-BB6DBA957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Topic </a:t>
            </a:r>
            <a:r>
              <a:rPr lang="it-IT" dirty="0" err="1"/>
              <a:t>Modeling</a:t>
            </a:r>
            <a:r>
              <a:rPr lang="it-IT" dirty="0"/>
              <a:t> with LDA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58EC26B-9257-6FCA-7EB7-94959CAFE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B73F792-C0CE-4A19-A736-F810750A5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55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FDD03D6E-AD57-4B23-E424-2BF6D802109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Goal of LDA</a:t>
            </a:r>
          </a:p>
          <a:p>
            <a:pPr lvl="1"/>
            <a:r>
              <a:rPr lang="en-US" dirty="0"/>
              <a:t>Latent Dirichlet Allocation (LDA) is a statistical model used to automatically discover topics present in a collection of documents.</a:t>
            </a:r>
          </a:p>
          <a:p>
            <a:pPr lvl="2"/>
            <a:r>
              <a:rPr lang="en-US" dirty="0"/>
              <a:t>Each document discusses multiple topics.</a:t>
            </a:r>
          </a:p>
          <a:p>
            <a:pPr lvl="2"/>
            <a:r>
              <a:rPr lang="en-US" dirty="0"/>
              <a:t>Each topic is a distribution over words.</a:t>
            </a:r>
          </a:p>
          <a:p>
            <a:r>
              <a:rPr lang="en-US" dirty="0"/>
              <a:t>A topic is a probability distribution over a vocabulary.</a:t>
            </a:r>
          </a:p>
          <a:p>
            <a:pPr lvl="1"/>
            <a:r>
              <a:rPr lang="en-US" dirty="0"/>
              <a:t>The topic genetics might include: DNA, gene, inheritance with high probabilities.</a:t>
            </a:r>
          </a:p>
          <a:p>
            <a:pPr lvl="1"/>
            <a:r>
              <a:rPr lang="en-US" dirty="0"/>
              <a:t>The topic evolutionary biology might include: evolution, natural selection, adaptation.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753870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43DAF8-75ED-BDF5-7BA9-8318DD182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LDA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1ADDCC1-658B-888D-7A73-A05288F21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C685CA1-B786-26E3-7E4E-CCF746F74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56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7B0417B2-9E89-8CC2-9267-20730E72CAA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67544" y="1219200"/>
            <a:ext cx="8424936" cy="4937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Imagine documents are generated through a random process (a generative model).</a:t>
            </a:r>
            <a:br>
              <a:rPr lang="en-US" dirty="0"/>
            </a:br>
            <a:r>
              <a:rPr lang="en-US" dirty="0"/>
              <a:t>LDA tries to reverse-engineer this hidden process.</a:t>
            </a:r>
          </a:p>
          <a:p>
            <a:r>
              <a:rPr lang="en-US" dirty="0"/>
              <a:t>Step 1: Generate topics</a:t>
            </a:r>
          </a:p>
          <a:p>
            <a:pPr lvl="1"/>
            <a:r>
              <a:rPr lang="en-US" dirty="0"/>
              <a:t>A fixed set of topics is created for the entire document collection.</a:t>
            </a:r>
          </a:p>
          <a:p>
            <a:r>
              <a:rPr lang="en-US" dirty="0"/>
              <a:t>Step 2: </a:t>
            </a:r>
          </a:p>
          <a:p>
            <a:pPr lvl="1"/>
            <a:r>
              <a:rPr lang="en-US" dirty="0"/>
              <a:t>For each document</a:t>
            </a:r>
          </a:p>
          <a:p>
            <a:pPr lvl="2"/>
            <a:r>
              <a:rPr lang="en-US" dirty="0"/>
              <a:t>a. Sample a distribution over topics (which topics appear, and in what proportions).→ e.g., Document D1 is 70% about genetics and 30% about evolutionary biology.</a:t>
            </a:r>
          </a:p>
          <a:p>
            <a:pPr lvl="2"/>
            <a:r>
              <a:rPr lang="en-US" dirty="0"/>
              <a:t>b. For each word in the document:</a:t>
            </a:r>
          </a:p>
          <a:p>
            <a:pPr lvl="3"/>
            <a:r>
              <a:rPr lang="en-US" dirty="0"/>
              <a:t>Choose a topic according to the document’s topic distribution.</a:t>
            </a:r>
          </a:p>
          <a:p>
            <a:pPr lvl="3"/>
            <a:r>
              <a:rPr lang="en-US" dirty="0"/>
              <a:t>Choose a word from that topic (i.e., words that are likely under that topic).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446176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C6670B-5C95-AB0A-F672-2C5092566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LDA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3F0DD3E-E38D-57D3-9E8F-2D939F98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2F0997A-318C-3EF6-5441-84F9BA728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57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392C12DB-93F2-3BD2-7917-0B39C7A2038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LDA assumes an imaginary generative process: a model that describes how the documents could have been created</a:t>
            </a:r>
          </a:p>
          <a:p>
            <a:r>
              <a:rPr lang="en-US" dirty="0"/>
              <a:t>For each document:</a:t>
            </a:r>
          </a:p>
          <a:p>
            <a:pPr lvl="1"/>
            <a:r>
              <a:rPr lang="en-US" dirty="0"/>
              <a:t>A topic distribution is sampled → θ</a:t>
            </a:r>
            <a:r>
              <a:rPr lang="en-US" baseline="-25000" dirty="0"/>
              <a:t>ᵈ</a:t>
            </a:r>
            <a:r>
              <a:rPr lang="en-US" dirty="0"/>
              <a:t> (the topic proportions for document d).</a:t>
            </a:r>
          </a:p>
          <a:p>
            <a:pPr lvl="1"/>
            <a:r>
              <a:rPr lang="en-US" dirty="0"/>
              <a:t>For each word in the document:</a:t>
            </a:r>
          </a:p>
          <a:p>
            <a:pPr lvl="2"/>
            <a:r>
              <a:rPr lang="en-US" dirty="0"/>
              <a:t>A topic </a:t>
            </a:r>
            <a:r>
              <a:rPr lang="en-US" dirty="0" err="1"/>
              <a:t>z</a:t>
            </a:r>
            <a:r>
              <a:rPr lang="en-US" baseline="-25000" dirty="0" err="1"/>
              <a:t>d,n</a:t>
            </a:r>
            <a:r>
              <a:rPr lang="en-US" baseline="-25000" dirty="0"/>
              <a:t> </a:t>
            </a:r>
            <a:r>
              <a:rPr lang="en-US" dirty="0"/>
              <a:t>is sampled from θ</a:t>
            </a:r>
            <a:r>
              <a:rPr lang="en-US" baseline="-25000" dirty="0"/>
              <a:t>ᵈ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A word </a:t>
            </a:r>
            <a:r>
              <a:rPr lang="en-US" dirty="0" err="1"/>
              <a:t>w</a:t>
            </a:r>
            <a:r>
              <a:rPr lang="en-US" baseline="-25000" dirty="0" err="1"/>
              <a:t>d,n</a:t>
            </a:r>
            <a:r>
              <a:rPr lang="en-US" baseline="-25000" dirty="0"/>
              <a:t> </a:t>
            </a:r>
            <a:r>
              <a:rPr lang="en-US" dirty="0"/>
              <a:t>is sampled from the selected topic’s word distribution βₖ.</a:t>
            </a:r>
          </a:p>
          <a:p>
            <a:r>
              <a:rPr lang="en-US" dirty="0"/>
              <a:t>Variables:</a:t>
            </a:r>
          </a:p>
          <a:p>
            <a:pPr lvl="1"/>
            <a:r>
              <a:rPr lang="en-US" dirty="0"/>
              <a:t>θ</a:t>
            </a:r>
            <a:r>
              <a:rPr lang="en-US" baseline="-25000" dirty="0"/>
              <a:t>ᵈ</a:t>
            </a:r>
            <a:r>
              <a:rPr lang="en-US" dirty="0"/>
              <a:t> = topic distribution for document d.</a:t>
            </a:r>
          </a:p>
          <a:p>
            <a:pPr lvl="1"/>
            <a:r>
              <a:rPr lang="en-US" dirty="0" err="1"/>
              <a:t>z</a:t>
            </a:r>
            <a:r>
              <a:rPr lang="en-US" baseline="-25000" dirty="0" err="1"/>
              <a:t>d,n</a:t>
            </a:r>
            <a:r>
              <a:rPr lang="en-US" dirty="0"/>
              <a:t> = topic assigned to the n-</a:t>
            </a:r>
            <a:r>
              <a:rPr lang="en-US" dirty="0" err="1"/>
              <a:t>th</a:t>
            </a:r>
            <a:r>
              <a:rPr lang="en-US" dirty="0"/>
              <a:t> word of document d.</a:t>
            </a:r>
          </a:p>
          <a:p>
            <a:pPr lvl="1"/>
            <a:r>
              <a:rPr lang="en-US" dirty="0" err="1"/>
              <a:t>w</a:t>
            </a:r>
            <a:r>
              <a:rPr lang="en-US" baseline="-25000" dirty="0" err="1"/>
              <a:t>d,n</a:t>
            </a:r>
            <a:r>
              <a:rPr lang="en-US" dirty="0"/>
              <a:t> = observed word.</a:t>
            </a:r>
          </a:p>
          <a:p>
            <a:pPr lvl="1"/>
            <a:r>
              <a:rPr lang="en-US" dirty="0"/>
              <a:t>β</a:t>
            </a:r>
            <a:r>
              <a:rPr lang="en-US" baseline="-25000" dirty="0"/>
              <a:t>1:K </a:t>
            </a:r>
            <a:r>
              <a:rPr lang="en-US" dirty="0"/>
              <a:t>= word distributions for the K topics (assumed fixed).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052240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AE6896-2409-ADC4-EBD5-80B838DE4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LDA </a:t>
            </a:r>
            <a:r>
              <a:rPr lang="it-IT" dirty="0" err="1"/>
              <a:t>formally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F10BFEB-1530-8511-54E4-E8B720638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EDCB6DC-E410-A351-51FD-C6ACD626D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58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E03DC0B-8B5C-F080-3368-50BEA7B2B2B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67544" y="2276872"/>
            <a:ext cx="8229600" cy="408921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For each topic, a distribution over words is drawn according to 𝑝(𝛽𝑖) where 𝑝(𝛽𝑖) is the probability of the topic.</a:t>
            </a:r>
          </a:p>
          <a:p>
            <a:r>
              <a:rPr lang="en-US" dirty="0"/>
              <a:t>For document d: A distribution over topics is drawn: 𝑝(𝜃</a:t>
            </a:r>
            <a:r>
              <a:rPr lang="en-US" baseline="-25000" dirty="0"/>
              <a:t>𝑑</a:t>
            </a:r>
            <a:r>
              <a:rPr lang="en-US" dirty="0"/>
              <a:t>) where 𝜃</a:t>
            </a:r>
            <a:r>
              <a:rPr lang="en-US" baseline="-25000" dirty="0"/>
              <a:t>𝑑</a:t>
            </a:r>
            <a:r>
              <a:rPr lang="en-US" dirty="0"/>
              <a:t> is the topic proportions for the document.</a:t>
            </a:r>
          </a:p>
          <a:p>
            <a:r>
              <a:rPr lang="en-US" dirty="0"/>
              <a:t>For each word position n in document d: </a:t>
            </a:r>
          </a:p>
          <a:p>
            <a:pPr lvl="1"/>
            <a:r>
              <a:rPr lang="en-US" dirty="0"/>
              <a:t>A topic assignment is sampled: 𝑝(𝑧</a:t>
            </a:r>
            <a:r>
              <a:rPr lang="en-US" baseline="-25000" dirty="0"/>
              <a:t>d,𝑛</a:t>
            </a:r>
            <a:r>
              <a:rPr lang="en-US" dirty="0"/>
              <a:t>∣𝜃</a:t>
            </a:r>
            <a:r>
              <a:rPr lang="en-US" baseline="-25000" dirty="0"/>
              <a:t>𝑑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A word is sampled from the selected topic’s word distribution:𝑝(w</a:t>
            </a:r>
            <a:r>
              <a:rPr lang="en-US" baseline="-25000" dirty="0"/>
              <a:t>d,𝑛 </a:t>
            </a:r>
            <a:r>
              <a:rPr lang="en-US" dirty="0"/>
              <a:t>∣𝛽</a:t>
            </a:r>
            <a:r>
              <a:rPr lang="en-US" baseline="-25000" dirty="0"/>
              <a:t>1:𝐾</a:t>
            </a:r>
            <a:r>
              <a:rPr lang="en-US" dirty="0"/>
              <a:t>, 𝑧</a:t>
            </a:r>
            <a:r>
              <a:rPr lang="en-US" baseline="-25000" dirty="0"/>
              <a:t>d,𝑛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That is, the word is drawn from the distribution βₖ corresponding to the topic 𝑧</a:t>
            </a:r>
            <a:r>
              <a:rPr lang="en-US" baseline="-25000" dirty="0"/>
              <a:t>d,𝑛</a:t>
            </a:r>
            <a:endParaRPr lang="en-US" dirty="0"/>
          </a:p>
          <a:p>
            <a:r>
              <a:rPr lang="en-US" dirty="0"/>
              <a:t>This formula expresses the joint probability </a:t>
            </a:r>
            <a:r>
              <a:rPr lang="en-US" dirty="0" err="1"/>
              <a:t>of:the</a:t>
            </a:r>
            <a:r>
              <a:rPr lang="en-US" dirty="0"/>
              <a:t> topic-to-word distributions (β),the document-to-topic distributions (θ),the topic assignments of each word (z),and the observed words in the corpus (w),according to the assumptions of the generative model in LDA.</a:t>
            </a:r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69E9F49-C101-D3CE-CC12-15FE8BD36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512" y="1207679"/>
            <a:ext cx="6957663" cy="9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9227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26582A-A4B8-A5B5-8576-A3C4927DF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LDA </a:t>
            </a:r>
            <a:r>
              <a:rPr lang="it-IT" dirty="0" err="1"/>
              <a:t>formally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6124E70-E4A8-8295-C8F2-C9B4E453C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77FB276-2481-CD41-96CE-418FE9088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59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EADD7F10-34F8-E002-564D-578115A2DF0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67544" y="1219200"/>
            <a:ext cx="8229600" cy="514688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 practice, we only </a:t>
            </a:r>
            <a:r>
              <a:rPr lang="en-US" b="1" dirty="0"/>
              <a:t>observe the words</a:t>
            </a:r>
            <a:r>
              <a:rPr lang="en-US" dirty="0"/>
              <a:t> in the documents (w), while the </a:t>
            </a:r>
            <a:r>
              <a:rPr lang="en-US" b="1" dirty="0"/>
              <a:t>latent variables</a:t>
            </a:r>
            <a:r>
              <a:rPr lang="en-US" dirty="0"/>
              <a:t> (θ, z, β) are hidden.</a:t>
            </a:r>
          </a:p>
          <a:p>
            <a:r>
              <a:rPr lang="en-US" dirty="0"/>
              <a:t>The goal of inference is to </a:t>
            </a:r>
            <a:r>
              <a:rPr lang="en-US" b="1" dirty="0"/>
              <a:t>recover the hidden structure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What are the underlying topics in the corpus?</a:t>
            </a:r>
          </a:p>
          <a:p>
            <a:pPr lvl="1"/>
            <a:r>
              <a:rPr lang="en-US" dirty="0"/>
              <a:t>What is each document's mixture of topics?</a:t>
            </a:r>
          </a:p>
          <a:p>
            <a:pPr lvl="1"/>
            <a:r>
              <a:rPr lang="en-US" dirty="0"/>
              <a:t>Which topic generated each word?</a:t>
            </a:r>
          </a:p>
          <a:p>
            <a:r>
              <a:rPr lang="en-US" b="1" dirty="0"/>
              <a:t>Technically:</a:t>
            </a:r>
          </a:p>
          <a:p>
            <a:pPr lvl="1"/>
            <a:r>
              <a:rPr lang="en-US" dirty="0"/>
              <a:t>We want to compute the </a:t>
            </a:r>
            <a:r>
              <a:rPr lang="en-US" b="1" dirty="0"/>
              <a:t>posterior distribution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P(topic </a:t>
            </a:r>
            <a:r>
              <a:rPr lang="en-US" dirty="0" err="1"/>
              <a:t>structure∣documents</a:t>
            </a:r>
            <a:r>
              <a:rPr lang="en-US" dirty="0"/>
              <a:t>)</a:t>
            </a:r>
          </a:p>
          <a:p>
            <a:r>
              <a:rPr lang="en-US" dirty="0"/>
              <a:t>That is: given the documents, what is the most likely topic structure?</a:t>
            </a:r>
          </a:p>
          <a:p>
            <a:r>
              <a:rPr lang="en-US" dirty="0"/>
              <a:t>But this is </a:t>
            </a:r>
            <a:r>
              <a:rPr lang="en-US" b="1" dirty="0"/>
              <a:t>computationally intractable</a:t>
            </a:r>
          </a:p>
          <a:p>
            <a:pPr lvl="1"/>
            <a:r>
              <a:rPr lang="en-US" dirty="0"/>
              <a:t>it requires summing over all possible configurations of the latent variables.</a:t>
            </a:r>
          </a:p>
          <a:p>
            <a:r>
              <a:rPr lang="en-US" dirty="0"/>
              <a:t>Approximate solutions exist to solve the problem!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152279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7865E-6941-D7E0-1E30-E9EE7104C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357069-A4AD-9F3A-52A3-BA79DFBC9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BERTopic</a:t>
            </a:r>
            <a:r>
              <a:rPr lang="it-IT" dirty="0"/>
              <a:t> in a </a:t>
            </a:r>
            <a:r>
              <a:rPr lang="it-IT" dirty="0" err="1"/>
              <a:t>nutshell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886BDA8-1D96-6196-83B3-BA2531082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01E4CBC-E5C0-937C-D112-4431F1720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60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872F61CF-D5B8-EF9D-13E8-DF449CA3ABD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67544" y="1219200"/>
            <a:ext cx="8208912" cy="5018112"/>
          </a:xfrm>
        </p:spPr>
        <p:txBody>
          <a:bodyPr/>
          <a:lstStyle/>
          <a:p>
            <a:r>
              <a:rPr lang="it-IT" dirty="0"/>
              <a:t>Combines:</a:t>
            </a:r>
          </a:p>
          <a:p>
            <a:pPr lvl="1"/>
            <a:r>
              <a:rPr lang="it-IT" dirty="0"/>
              <a:t>Transformer </a:t>
            </a:r>
            <a:r>
              <a:rPr lang="it-IT" dirty="0" err="1"/>
              <a:t>embeddings</a:t>
            </a:r>
            <a:r>
              <a:rPr lang="it-IT" dirty="0"/>
              <a:t> (semantic </a:t>
            </a:r>
            <a:r>
              <a:rPr lang="it-IT" dirty="0" err="1"/>
              <a:t>meaning</a:t>
            </a:r>
            <a:r>
              <a:rPr lang="it-IT" dirty="0"/>
              <a:t>)</a:t>
            </a:r>
          </a:p>
          <a:p>
            <a:pPr lvl="1"/>
            <a:r>
              <a:rPr lang="it-IT" dirty="0" err="1"/>
              <a:t>Dimensionality</a:t>
            </a:r>
            <a:r>
              <a:rPr lang="it-IT" dirty="0"/>
              <a:t> </a:t>
            </a:r>
            <a:r>
              <a:rPr lang="it-IT" dirty="0" err="1"/>
              <a:t>reduction</a:t>
            </a:r>
            <a:r>
              <a:rPr lang="it-IT" dirty="0"/>
              <a:t> (UMAP)</a:t>
            </a:r>
          </a:p>
          <a:p>
            <a:pPr lvl="1"/>
            <a:r>
              <a:rPr lang="it-IT" dirty="0" err="1"/>
              <a:t>Density-based</a:t>
            </a:r>
            <a:r>
              <a:rPr lang="it-IT" dirty="0"/>
              <a:t> clustering (HDBSCAN)</a:t>
            </a:r>
          </a:p>
          <a:p>
            <a:pPr lvl="1"/>
            <a:r>
              <a:rPr lang="it-IT" dirty="0" err="1"/>
              <a:t>Interpretable</a:t>
            </a:r>
            <a:r>
              <a:rPr lang="it-IT" dirty="0"/>
              <a:t> </a:t>
            </a:r>
            <a:r>
              <a:rPr lang="it-IT" dirty="0" err="1"/>
              <a:t>topic</a:t>
            </a:r>
            <a:r>
              <a:rPr lang="it-IT" dirty="0"/>
              <a:t> </a:t>
            </a:r>
            <a:r>
              <a:rPr lang="it-IT" dirty="0" err="1"/>
              <a:t>representations</a:t>
            </a:r>
            <a:r>
              <a:rPr lang="it-IT" dirty="0"/>
              <a:t> (c-TF-IDF)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F6168B7-64A2-92A7-D672-BA569CEAF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077" y="3411109"/>
            <a:ext cx="5341846" cy="2902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14017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1049E2-7437-3C12-BEAE-8AAD4ACA9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High-</a:t>
            </a:r>
            <a:r>
              <a:rPr lang="it-IT" dirty="0" err="1"/>
              <a:t>level</a:t>
            </a:r>
            <a:r>
              <a:rPr lang="it-IT" dirty="0"/>
              <a:t> pipeline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82F1AA6-1ACB-FAD7-A152-A3F513383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2BC3A19-5EBF-5DE2-FC69-3B7543E29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61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BC3BBC02-040F-F244-9FF4-FA89D7C41BE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67544" y="1219200"/>
            <a:ext cx="8208912" cy="5018112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it-IT" dirty="0" err="1"/>
              <a:t>Embed</a:t>
            </a:r>
            <a:r>
              <a:rPr lang="it-IT" dirty="0"/>
              <a:t> </a:t>
            </a:r>
            <a:r>
              <a:rPr lang="it-IT" dirty="0" err="1"/>
              <a:t>documents</a:t>
            </a:r>
            <a:r>
              <a:rPr lang="it-IT" dirty="0"/>
              <a:t> with BERT / SBERT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Reduce </a:t>
            </a:r>
            <a:r>
              <a:rPr lang="it-IT" dirty="0" err="1"/>
              <a:t>dimensionality</a:t>
            </a:r>
            <a:r>
              <a:rPr lang="it-IT" dirty="0"/>
              <a:t> with UMAP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Cluster </a:t>
            </a:r>
            <a:r>
              <a:rPr lang="it-IT" dirty="0" err="1"/>
              <a:t>documents</a:t>
            </a:r>
            <a:r>
              <a:rPr lang="it-IT" dirty="0"/>
              <a:t> with HDBSCAN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 err="1"/>
              <a:t>Extract</a:t>
            </a:r>
            <a:r>
              <a:rPr lang="it-IT" dirty="0"/>
              <a:t> </a:t>
            </a:r>
            <a:r>
              <a:rPr lang="it-IT" dirty="0" err="1"/>
              <a:t>topic</a:t>
            </a:r>
            <a:r>
              <a:rPr lang="it-IT" dirty="0"/>
              <a:t> words with c-TF-IDF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(Optional) </a:t>
            </a:r>
            <a:r>
              <a:rPr lang="it-IT" dirty="0" err="1"/>
              <a:t>Refine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with re-ranking</a:t>
            </a:r>
          </a:p>
          <a:p>
            <a:endParaRPr lang="it-IT" dirty="0"/>
          </a:p>
        </p:txBody>
      </p:sp>
      <p:pic>
        <p:nvPicPr>
          <p:cNvPr id="12" name="Immagine 11" descr="Immagine che contiene testo, Carattere, schermata, poster&#10;&#10;Il contenuto generato dall'IA potrebbe non essere corretto.">
            <a:extLst>
              <a:ext uri="{FF2B5EF4-FFF2-40B4-BE49-F238E27FC236}">
                <a16:creationId xmlns:a16="http://schemas.microsoft.com/office/drawing/2014/main" id="{0DB46840-294B-8CF7-B77F-B0A949F37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60" y="1318431"/>
            <a:ext cx="2381250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7131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3A05AF-F7ED-C37F-F746-9E0623A4A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Topic </a:t>
            </a:r>
            <a:r>
              <a:rPr lang="it-IT" dirty="0" err="1"/>
              <a:t>Representation</a:t>
            </a:r>
            <a:r>
              <a:rPr lang="it-IT" dirty="0"/>
              <a:t> with </a:t>
            </a:r>
            <a:r>
              <a:rPr lang="en-US" dirty="0"/>
              <a:t>c-TF-IDF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A77AA71-E255-2C06-C106-94BA48664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3FC64DA-12B5-79F0-B5DE-56F5542DD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62</a:t>
            </a:fld>
            <a:endParaRPr lang="it-IT" dirty="0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7C7B825E-9582-A9C9-34D1-ACBD79BEE57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Clustering gives groups of documents</a:t>
            </a:r>
          </a:p>
          <a:p>
            <a:r>
              <a:rPr lang="en-US" dirty="0"/>
              <a:t>c-TF-IDF summarizes each cluster with keywords</a:t>
            </a:r>
          </a:p>
          <a:p>
            <a:pPr lvl="1"/>
            <a:r>
              <a:rPr lang="en-US" dirty="0"/>
              <a:t>a class-based variant of TF-IDF to put more weight on words that are more meaningful to a cluster and less weight on words that are used across all clusters.</a:t>
            </a:r>
          </a:p>
          <a:p>
            <a:pPr lvl="1"/>
            <a:r>
              <a:rPr lang="en-US" dirty="0" err="1"/>
              <a:t>tf</a:t>
            </a:r>
            <a:r>
              <a:rPr lang="en-US" baseline="-25000" dirty="0" err="1"/>
              <a:t>x,c</a:t>
            </a:r>
            <a:r>
              <a:rPr lang="en-US" dirty="0"/>
              <a:t>​: frequency of term x in cluster c (raw count)</a:t>
            </a:r>
          </a:p>
          <a:p>
            <a:pPr lvl="1"/>
            <a:r>
              <a:rPr lang="en-US" dirty="0" err="1"/>
              <a:t>cf</a:t>
            </a:r>
            <a:r>
              <a:rPr lang="en-US" baseline="-25000" dirty="0" err="1"/>
              <a:t>x</a:t>
            </a:r>
            <a:r>
              <a:rPr lang="en-US" dirty="0"/>
              <a:t>​ : number of clusters where x appears</a:t>
            </a:r>
          </a:p>
          <a:p>
            <a:pPr lvl="1"/>
            <a:r>
              <a:rPr lang="en-US" dirty="0"/>
              <a:t>A: average number of words per cluster</a:t>
            </a:r>
          </a:p>
          <a:p>
            <a:endParaRPr lang="it-IT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59A7376-F04C-66BB-0939-9D3E9B351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042" y="4517440"/>
            <a:ext cx="3412440" cy="2036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97242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8D752A-7FD2-D8C6-74ED-448B3DDB4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Adding</a:t>
            </a:r>
            <a:r>
              <a:rPr lang="it-IT" dirty="0"/>
              <a:t> a </a:t>
            </a:r>
            <a:r>
              <a:rPr lang="it-IT" dirty="0" err="1"/>
              <a:t>Reranker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DC027C5-8F42-1171-75EB-D0A6C20AF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26FBD7A-2D09-3AEF-FB40-CF5639860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63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F770A7DE-69C0-A091-F21B-E5CF3F5E8A3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pipeline in </a:t>
            </a:r>
            <a:r>
              <a:rPr lang="en-US" dirty="0" err="1"/>
              <a:t>BERTopic</a:t>
            </a:r>
            <a:r>
              <a:rPr lang="en-US" dirty="0"/>
              <a:t> still represents a topic through a bag-of-words without taking into account semantic structures.</a:t>
            </a:r>
          </a:p>
          <a:p>
            <a:r>
              <a:rPr lang="en-US" dirty="0"/>
              <a:t>A </a:t>
            </a:r>
            <a:r>
              <a:rPr lang="en-US" dirty="0" err="1"/>
              <a:t>reranker</a:t>
            </a:r>
            <a:r>
              <a:rPr lang="en-US" dirty="0"/>
              <a:t> leverages the strength of the bag-of-words representation to generate a meaningful representation. </a:t>
            </a:r>
          </a:p>
          <a:p>
            <a:pPr lvl="1"/>
            <a:r>
              <a:rPr lang="en-US" dirty="0"/>
              <a:t>We can use this first meaningful representation and tweak it using more powerful but slower techniques, like embedding models. </a:t>
            </a:r>
          </a:p>
          <a:p>
            <a:pPr lvl="1"/>
            <a:endParaRPr lang="it-IT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DFEDB08-05D4-7DA6-6A93-F466EF2B5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3843481"/>
            <a:ext cx="5715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07240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References</a:t>
            </a:r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 dirty="0"/>
              <a:t>Francesco Guerra 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it-IT" dirty="0"/>
              <a:t>D. </a:t>
            </a:r>
            <a:r>
              <a:rPr lang="it-IT" dirty="0" err="1"/>
              <a:t>Jurafsky</a:t>
            </a:r>
            <a:r>
              <a:rPr lang="it-IT" dirty="0"/>
              <a:t> &amp; J. H. Martin: </a:t>
            </a:r>
            <a:r>
              <a:rPr lang="it-IT" b="1" dirty="0"/>
              <a:t>Speech and Language Processing</a:t>
            </a:r>
            <a:r>
              <a:rPr lang="it-IT" dirty="0"/>
              <a:t>, </a:t>
            </a:r>
            <a:r>
              <a:rPr lang="it-IT" dirty="0" err="1"/>
              <a:t>Pearson</a:t>
            </a:r>
            <a:r>
              <a:rPr lang="it-IT" dirty="0"/>
              <a:t> International 3ed </a:t>
            </a:r>
            <a:r>
              <a:rPr lang="it-IT" dirty="0" err="1"/>
              <a:t>draft</a:t>
            </a:r>
            <a:r>
              <a:rPr lang="it-IT" dirty="0"/>
              <a:t> </a:t>
            </a:r>
            <a:r>
              <a:rPr lang="en-US" dirty="0">
                <a:hlinkClick r:id="rId2"/>
              </a:rPr>
              <a:t>https://web.stanford.edu/~jurafsky/slp3/</a:t>
            </a:r>
            <a:endParaRPr lang="it-IT" dirty="0"/>
          </a:p>
          <a:p>
            <a:r>
              <a:rPr lang="en-US" dirty="0"/>
              <a:t> </a:t>
            </a:r>
            <a:r>
              <a:rPr lang="it-IT" dirty="0"/>
              <a:t>D. </a:t>
            </a:r>
            <a:r>
              <a:rPr lang="it-IT" dirty="0" err="1"/>
              <a:t>Jurafsky</a:t>
            </a:r>
            <a:r>
              <a:rPr lang="it-IT" dirty="0"/>
              <a:t>, </a:t>
            </a:r>
            <a:r>
              <a:rPr lang="it-IT" dirty="0" err="1"/>
              <a:t>slides</a:t>
            </a:r>
            <a:r>
              <a:rPr lang="it-IT" dirty="0"/>
              <a:t> </a:t>
            </a:r>
            <a:r>
              <a:rPr lang="en-US" dirty="0"/>
              <a:t>from NLP Courses</a:t>
            </a:r>
            <a:r>
              <a:rPr lang="it-IT" dirty="0"/>
              <a:t> </a:t>
            </a:r>
            <a:r>
              <a:rPr lang="en-US" dirty="0">
                <a:hlinkClick r:id="rId3"/>
              </a:rPr>
              <a:t>http://web.stanford.edu/~jurafsky/</a:t>
            </a:r>
            <a:endParaRPr lang="en-US" dirty="0"/>
          </a:p>
          <a:p>
            <a:r>
              <a:rPr lang="en-US" dirty="0"/>
              <a:t>Dan Klein, Slides from NLP Course </a:t>
            </a:r>
            <a:r>
              <a:rPr lang="en-US" dirty="0">
                <a:hlinkClick r:id="rId4"/>
              </a:rPr>
              <a:t>http://www.cs.berkeley.edu/~klein/cs288/sp10/slides/SP10%20cs288%20lecture%203%20--%20language%20models%20II%20(6PP).pdf</a:t>
            </a:r>
            <a:endParaRPr lang="en-US" dirty="0"/>
          </a:p>
          <a:p>
            <a:r>
              <a:rPr lang="en-US" dirty="0"/>
              <a:t>J. </a:t>
            </a:r>
            <a:r>
              <a:rPr lang="en-US" dirty="0" err="1"/>
              <a:t>Leskovec</a:t>
            </a:r>
            <a:r>
              <a:rPr lang="en-US" dirty="0"/>
              <a:t>, A. </a:t>
            </a:r>
            <a:r>
              <a:rPr lang="en-US" dirty="0" err="1"/>
              <a:t>Rajaraman</a:t>
            </a:r>
            <a:r>
              <a:rPr lang="en-US" dirty="0"/>
              <a:t>, J. Ullman: Mining of Massive Datasets Stanford University </a:t>
            </a:r>
            <a:r>
              <a:rPr lang="en-US" dirty="0">
                <a:hlinkClick r:id="rId5"/>
              </a:rPr>
              <a:t>http://www.mmds.org</a:t>
            </a:r>
            <a:endParaRPr lang="en-US" dirty="0"/>
          </a:p>
          <a:p>
            <a:r>
              <a:rPr lang="en-US" dirty="0"/>
              <a:t> </a:t>
            </a:r>
            <a:r>
              <a:rPr lang="it-IT" dirty="0" err="1"/>
              <a:t>Landauer</a:t>
            </a:r>
            <a:r>
              <a:rPr lang="it-IT" dirty="0"/>
              <a:t>, T. K., </a:t>
            </a:r>
            <a:r>
              <a:rPr lang="it-IT" dirty="0" err="1"/>
              <a:t>Foltz</a:t>
            </a:r>
            <a:r>
              <a:rPr lang="it-IT" dirty="0"/>
              <a:t>, P. W., &amp; </a:t>
            </a:r>
            <a:r>
              <a:rPr lang="it-IT" dirty="0" err="1"/>
              <a:t>Laham</a:t>
            </a:r>
            <a:r>
              <a:rPr lang="it-IT" dirty="0"/>
              <a:t>, D. (1998). </a:t>
            </a:r>
            <a:r>
              <a:rPr lang="it-IT" dirty="0" err="1"/>
              <a:t>Introduction</a:t>
            </a:r>
            <a:r>
              <a:rPr lang="it-IT" dirty="0"/>
              <a:t> to </a:t>
            </a:r>
            <a:r>
              <a:rPr lang="it-IT" dirty="0" err="1"/>
              <a:t>Latent</a:t>
            </a:r>
            <a:r>
              <a:rPr lang="it-IT" dirty="0"/>
              <a:t> </a:t>
            </a:r>
            <a:r>
              <a:rPr lang="it-IT" dirty="0" err="1"/>
              <a:t>Semantic</a:t>
            </a:r>
            <a:r>
              <a:rPr lang="it-IT" dirty="0"/>
              <a:t> Analysis. </a:t>
            </a:r>
            <a:r>
              <a:rPr lang="it-IT" i="1" dirty="0" err="1"/>
              <a:t>Discourse</a:t>
            </a:r>
            <a:r>
              <a:rPr lang="it-IT" i="1" dirty="0"/>
              <a:t> </a:t>
            </a:r>
            <a:r>
              <a:rPr lang="it-IT" i="1" dirty="0" err="1"/>
              <a:t>Processes</a:t>
            </a:r>
            <a:r>
              <a:rPr lang="it-IT" i="1" dirty="0"/>
              <a:t>, </a:t>
            </a:r>
            <a:r>
              <a:rPr lang="it-IT" b="1" dirty="0"/>
              <a:t>25</a:t>
            </a:r>
            <a:r>
              <a:rPr lang="it-IT" dirty="0"/>
              <a:t>, 259-284.</a:t>
            </a:r>
          </a:p>
          <a:p>
            <a:r>
              <a:rPr lang="en-US" dirty="0"/>
              <a:t>Bing Liu: Sentiment Analysis and Opinion Mining. Synthesis Lectures on Human Language Technologies, Morgan &amp; Claypool Publishers 2012</a:t>
            </a:r>
          </a:p>
          <a:p>
            <a:r>
              <a:rPr lang="en-US" dirty="0"/>
              <a:t>Jay </a:t>
            </a:r>
            <a:r>
              <a:rPr lang="en-US" dirty="0" err="1"/>
              <a:t>Alammar</a:t>
            </a:r>
            <a:r>
              <a:rPr lang="en-US" dirty="0"/>
              <a:t>, Maarten Grootendorst: Hands-On Large Language Models Published by O'Reilly Media, Inc.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ttangolo 5"/>
          <p:cNvSpPr/>
          <p:nvPr/>
        </p:nvSpPr>
        <p:spPr>
          <a:xfrm>
            <a:off x="395536" y="6189665"/>
            <a:ext cx="8748464" cy="646331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it-IT" dirty="0"/>
              <a:t>MATERIALE DIDATTICO INTERNO DEL CORSO DI BIG DATA ANALYSIS. </a:t>
            </a:r>
          </a:p>
          <a:p>
            <a:r>
              <a:rPr lang="it-IT" dirty="0"/>
              <a:t>La diffusione e pubblicazione on line del materiale è assolutamente proibita.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64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568" y="181244"/>
            <a:ext cx="2168859" cy="78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13142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C1B293-50F5-4C92-7EC7-5F6C7DD24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References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E056EED-DB0F-630B-C1A7-310BFED3F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it-IT"/>
              <a:t>Francesco Guerra 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4C94791-9B2F-F00C-92AA-AA6B61E4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pPr/>
              <a:t>65</a:t>
            </a:fld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92FAA36-7F42-557D-3626-01E2073135C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Zhijiang</a:t>
            </a:r>
            <a:r>
              <a:rPr lang="en-US" dirty="0"/>
              <a:t> Guo, Michael Schlichtkrull, and Andreas Vlachos. 2022. </a:t>
            </a:r>
            <a:r>
              <a:rPr lang="en-US" dirty="0">
                <a:hlinkClick r:id="rId2"/>
              </a:rPr>
              <a:t>A Survey on Automated Fact-Checking</a:t>
            </a:r>
            <a:r>
              <a:rPr lang="en-US" dirty="0"/>
              <a:t>. </a:t>
            </a:r>
            <a:r>
              <a:rPr lang="en-US" i="1" dirty="0"/>
              <a:t>Transactions of the Association for Computational Linguistics</a:t>
            </a:r>
            <a:r>
              <a:rPr lang="en-US" dirty="0"/>
              <a:t>, 10:178–206.</a:t>
            </a:r>
          </a:p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7DCD813-23BC-97E1-4A01-C26FB452ED63}"/>
              </a:ext>
            </a:extLst>
          </p:cNvPr>
          <p:cNvSpPr txBox="1"/>
          <p:nvPr/>
        </p:nvSpPr>
        <p:spPr>
          <a:xfrm>
            <a:off x="446856" y="6211669"/>
            <a:ext cx="8424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MATERIALE DIDATTICO INTERNO DEL CORSO DI BIG DATA ANALYSIS. </a:t>
            </a:r>
          </a:p>
          <a:p>
            <a:r>
              <a:rPr lang="it-IT" dirty="0"/>
              <a:t>La diffusione e pubblicazione on line del materiale è assolutamente proibita.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152F96C-0549-4B80-2623-1F67E2B7F377}"/>
              </a:ext>
            </a:extLst>
          </p:cNvPr>
          <p:cNvSpPr/>
          <p:nvPr/>
        </p:nvSpPr>
        <p:spPr>
          <a:xfrm>
            <a:off x="395536" y="6189665"/>
            <a:ext cx="8748464" cy="646331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it-IT" dirty="0"/>
              <a:t>MATERIALE DIDATTICO INTERNO DEL CORSO DI BIG DATA ANALYSIS. </a:t>
            </a:r>
          </a:p>
          <a:p>
            <a:r>
              <a:rPr lang="it-IT" dirty="0"/>
              <a:t>La diffusione e pubblicazione on line del materiale è assolutamente proibita.</a:t>
            </a:r>
          </a:p>
        </p:txBody>
      </p:sp>
    </p:spTree>
    <p:extLst>
      <p:ext uri="{BB962C8B-B14F-4D97-AF65-F5344CB8AC3E}">
        <p14:creationId xmlns:p14="http://schemas.microsoft.com/office/powerpoint/2010/main" val="3310393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D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tellite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BDA</Template>
  <TotalTime>8523</TotalTime>
  <Words>4180</Words>
  <Application>Microsoft Office PowerPoint</Application>
  <PresentationFormat>Presentazione su schermo (4:3)</PresentationFormat>
  <Paragraphs>616</Paragraphs>
  <Slides>65</Slides>
  <Notes>1</Notes>
  <HiddenSlides>9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65</vt:i4>
      </vt:variant>
    </vt:vector>
  </HeadingPairs>
  <TitlesOfParts>
    <vt:vector size="72" baseType="lpstr">
      <vt:lpstr>Arial</vt:lpstr>
      <vt:lpstr>Calibri</vt:lpstr>
      <vt:lpstr>Cambria Math</vt:lpstr>
      <vt:lpstr>Trebuchet MS</vt:lpstr>
      <vt:lpstr>Wingdings</vt:lpstr>
      <vt:lpstr>Wingdings 3</vt:lpstr>
      <vt:lpstr>BDA</vt:lpstr>
      <vt:lpstr>Text Analysis -Transformers</vt:lpstr>
      <vt:lpstr>Text Classification</vt:lpstr>
      <vt:lpstr>Text Classification</vt:lpstr>
      <vt:lpstr>Text Classification with Representation Models</vt:lpstr>
      <vt:lpstr>Model Selection</vt:lpstr>
      <vt:lpstr>Using a Task-Specific Model</vt:lpstr>
      <vt:lpstr>Classification Tasks That Leverage Embeddings</vt:lpstr>
      <vt:lpstr>But… How Do We Generate Sentence Embeddings?</vt:lpstr>
      <vt:lpstr>Limits of BERT Embeddings</vt:lpstr>
      <vt:lpstr>Sentence-BERT: Sentence embeddings using Siamese BERT-networks.(EMNLP 2019)</vt:lpstr>
      <vt:lpstr>Sentence-BERT: Pre-training</vt:lpstr>
      <vt:lpstr>Sentence-BERT: Pre-training</vt:lpstr>
      <vt:lpstr>Sentence-BERT: Pre-training</vt:lpstr>
      <vt:lpstr>Zero-shot classification</vt:lpstr>
      <vt:lpstr>Text Classification with Generative Models</vt:lpstr>
      <vt:lpstr>Text Clustering</vt:lpstr>
      <vt:lpstr>Text Clustering</vt:lpstr>
      <vt:lpstr>Dimensionality Reduction</vt:lpstr>
      <vt:lpstr>T-SNE key intuition</vt:lpstr>
      <vt:lpstr>Why Not Work Directly with Distances?</vt:lpstr>
      <vt:lpstr>Step 1: Similarities in High Dimensions</vt:lpstr>
      <vt:lpstr>T-SNE in a nutshell</vt:lpstr>
      <vt:lpstr>Choosing Sigma (σᵢ): Density Normalization via Entropy and Perplexity</vt:lpstr>
      <vt:lpstr>How σᵢ Is Computed (Binary Search)</vt:lpstr>
      <vt:lpstr>Example</vt:lpstr>
      <vt:lpstr>Step 2: Similarities in Low Dimensions</vt:lpstr>
      <vt:lpstr>T-SNE in a nutshell</vt:lpstr>
      <vt:lpstr>Optimization Objective</vt:lpstr>
      <vt:lpstr>T-SNE configuration</vt:lpstr>
      <vt:lpstr>UMAP in a nutshell</vt:lpstr>
      <vt:lpstr>UMAP Parameters</vt:lpstr>
      <vt:lpstr>Step 1: Construct a k-Nearest Neighbor Graph</vt:lpstr>
      <vt:lpstr>From Distances to Edge Weights</vt:lpstr>
      <vt:lpstr>Symmetrization of the Graph</vt:lpstr>
      <vt:lpstr>Optimization Objective</vt:lpstr>
      <vt:lpstr>Cluster the Reduced Embeddings</vt:lpstr>
      <vt:lpstr>HDBSCAN in a nutshell</vt:lpstr>
      <vt:lpstr>HDBSCAN pipeline</vt:lpstr>
      <vt:lpstr>Step 1: Measuring Local Density</vt:lpstr>
      <vt:lpstr>Mutual Reachability Distance</vt:lpstr>
      <vt:lpstr>Build a Density-Aware Graph</vt:lpstr>
      <vt:lpstr>From MST to Hierarchical Clustering</vt:lpstr>
      <vt:lpstr>Why Distance-Based Cuts Are Not Enough</vt:lpstr>
      <vt:lpstr>Reparameterization: From Distance to Density (λ)</vt:lpstr>
      <vt:lpstr>Cluster birth and death</vt:lpstr>
      <vt:lpstr>Step 5: Condensed Cluster Tree</vt:lpstr>
      <vt:lpstr>Example of condensed tree</vt:lpstr>
      <vt:lpstr>Cluster Stability</vt:lpstr>
      <vt:lpstr>Step 6: Selecting the Final Clusters</vt:lpstr>
      <vt:lpstr>Final Output of HDBSCAN</vt:lpstr>
      <vt:lpstr>Main Hyperparameters</vt:lpstr>
      <vt:lpstr>Inspecting the Clusters / Topic modeling</vt:lpstr>
      <vt:lpstr>Topic Modeling</vt:lpstr>
      <vt:lpstr>LDA for Topic Modeling</vt:lpstr>
      <vt:lpstr>Topic Modeling with LDA</vt:lpstr>
      <vt:lpstr>LDA</vt:lpstr>
      <vt:lpstr>LDA</vt:lpstr>
      <vt:lpstr>LDA formally</vt:lpstr>
      <vt:lpstr>LDA formally</vt:lpstr>
      <vt:lpstr>BERTopic in a nutshell</vt:lpstr>
      <vt:lpstr>High-level pipeline</vt:lpstr>
      <vt:lpstr>Topic Representation with c-TF-IDF</vt:lpstr>
      <vt:lpstr>Adding a Reranker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fguerra</dc:creator>
  <cp:lastModifiedBy>Francesco GUERRA</cp:lastModifiedBy>
  <cp:revision>1858</cp:revision>
  <cp:lastPrinted>2023-05-08T15:00:30Z</cp:lastPrinted>
  <dcterms:created xsi:type="dcterms:W3CDTF">2013-06-24T13:53:31Z</dcterms:created>
  <dcterms:modified xsi:type="dcterms:W3CDTF">2025-12-19T07:39:28Z</dcterms:modified>
</cp:coreProperties>
</file>