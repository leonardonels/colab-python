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5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Lst>
  <p:sldSz cy="6858000" cx="12192000"/>
  <p:notesSz cx="6735750" cy="9866300"/>
  <p:embeddedFontLst>
    <p:embeddedFont>
      <p:font typeface="Helvetica Neue"/>
      <p:regular r:id="rId47"/>
      <p:bold r:id="rId48"/>
      <p:italic r:id="rId49"/>
      <p:boldItalic r:id="rId50"/>
    </p:embeddedFont>
    <p:embeddedFont>
      <p:font typeface="Helvetica Neue Light"/>
      <p:regular r:id="rId51"/>
      <p:bold r:id="rId52"/>
      <p:italic r:id="rId53"/>
      <p:boldItalic r:id="rId54"/>
    </p:embeddedFont>
    <p:embeddedFont>
      <p:font typeface="Century Gothic"/>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font" Target="fonts/HelveticaNeue-bold.fntdata"/><Relationship Id="rId47" Type="http://schemas.openxmlformats.org/officeDocument/2006/relationships/font" Target="fonts/HelveticaNeue-regular.fntdata"/><Relationship Id="rId49" Type="http://schemas.openxmlformats.org/officeDocument/2006/relationships/font" Target="fonts/HelveticaNeue-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font" Target="fonts/HelveticaNeueLight-regular.fntdata"/><Relationship Id="rId50" Type="http://schemas.openxmlformats.org/officeDocument/2006/relationships/font" Target="fonts/HelveticaNeue-boldItalic.fntdata"/><Relationship Id="rId53" Type="http://schemas.openxmlformats.org/officeDocument/2006/relationships/font" Target="fonts/HelveticaNeueLight-italic.fntdata"/><Relationship Id="rId52" Type="http://schemas.openxmlformats.org/officeDocument/2006/relationships/font" Target="fonts/HelveticaNeueLight-bold.fntdata"/><Relationship Id="rId11" Type="http://schemas.openxmlformats.org/officeDocument/2006/relationships/slide" Target="slides/slide7.xml"/><Relationship Id="rId55" Type="http://schemas.openxmlformats.org/officeDocument/2006/relationships/font" Target="fonts/CenturyGothic-regular.fntdata"/><Relationship Id="rId10" Type="http://schemas.openxmlformats.org/officeDocument/2006/relationships/slide" Target="slides/slide6.xml"/><Relationship Id="rId54" Type="http://schemas.openxmlformats.org/officeDocument/2006/relationships/font" Target="fonts/HelveticaNeueLight-boldItalic.fntdata"/><Relationship Id="rId13" Type="http://schemas.openxmlformats.org/officeDocument/2006/relationships/slide" Target="slides/slide9.xml"/><Relationship Id="rId57" Type="http://schemas.openxmlformats.org/officeDocument/2006/relationships/font" Target="fonts/CenturyGothic-italic.fntdata"/><Relationship Id="rId12" Type="http://schemas.openxmlformats.org/officeDocument/2006/relationships/slide" Target="slides/slide8.xml"/><Relationship Id="rId56" Type="http://schemas.openxmlformats.org/officeDocument/2006/relationships/font" Target="fonts/CenturyGothic-bold.fntdata"/><Relationship Id="rId15" Type="http://schemas.openxmlformats.org/officeDocument/2006/relationships/slide" Target="slides/slide11.xml"/><Relationship Id="rId14" Type="http://schemas.openxmlformats.org/officeDocument/2006/relationships/slide" Target="slides/slide10.xml"/><Relationship Id="rId58" Type="http://schemas.openxmlformats.org/officeDocument/2006/relationships/font" Target="fonts/CenturyGothic-boldItalic.fntdata"/><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533400" y="763588"/>
            <a:ext cx="6704013"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77240" y="4777560"/>
            <a:ext cx="6217560" cy="452592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9pPr>
          </a:lstStyle>
          <a:p/>
        </p:txBody>
      </p:sp>
      <p:sp>
        <p:nvSpPr>
          <p:cNvPr id="5" name="Google Shape;5;n"/>
          <p:cNvSpPr txBox="1"/>
          <p:nvPr>
            <p:ph idx="3" type="hdr"/>
          </p:nvPr>
        </p:nvSpPr>
        <p:spPr>
          <a:xfrm>
            <a:off x="0" y="0"/>
            <a:ext cx="3372840" cy="50256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6" name="Google Shape;6;n"/>
          <p:cNvSpPr txBox="1"/>
          <p:nvPr>
            <p:ph idx="10" type="dt"/>
          </p:nvPr>
        </p:nvSpPr>
        <p:spPr>
          <a:xfrm>
            <a:off x="4399200" y="0"/>
            <a:ext cx="3372840" cy="50256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9555480"/>
            <a:ext cx="3372840" cy="50256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4399200" y="9555480"/>
            <a:ext cx="3372840" cy="5025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chemeClr val="dk1"/>
                </a:solidFill>
                <a:latin typeface="Times New Roman"/>
                <a:ea typeface="Times New Roman"/>
                <a:cs typeface="Times New Roman"/>
                <a:sym typeface="Times New Roman"/>
              </a:rPr>
              <a:t>‹#›</a:t>
            </a:fld>
            <a:endParaRPr b="0" i="0" sz="14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txBox="1"/>
          <p:nvPr>
            <p:ph idx="1" type="body"/>
          </p:nvPr>
        </p:nvSpPr>
        <p:spPr>
          <a:xfrm>
            <a:off x="777240" y="4777560"/>
            <a:ext cx="6217560" cy="45259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3" name="Google Shape;53;p1:notes"/>
          <p:cNvSpPr/>
          <p:nvPr>
            <p:ph idx="2" type="sldImg"/>
          </p:nvPr>
        </p:nvSpPr>
        <p:spPr>
          <a:xfrm>
            <a:off x="533400" y="763588"/>
            <a:ext cx="6704013" cy="3771900"/>
          </a:xfrm>
          <a:custGeom>
            <a:rect b="b" l="l" r="r" t="t"/>
            <a:pathLst>
              <a:path extrusionOk="0" h="120000" w="120000">
                <a:moveTo>
                  <a:pt x="0" y="0"/>
                </a:moveTo>
                <a:lnTo>
                  <a:pt x="120000" y="0"/>
                </a:lnTo>
                <a:lnTo>
                  <a:pt x="120000" y="120000"/>
                </a:lnTo>
                <a:lnTo>
                  <a:pt x="0" y="120000"/>
                </a:lnTo>
                <a:close/>
              </a:path>
            </a:pathLst>
          </a:custGeom>
          <a:noFill/>
          <a:ln>
            <a:noFill/>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533400" y="763588"/>
            <a:ext cx="6704013"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 name="Google Shape;61;p2:notes"/>
          <p:cNvSpPr txBox="1"/>
          <p:nvPr>
            <p:ph idx="1" type="body"/>
          </p:nvPr>
        </p:nvSpPr>
        <p:spPr>
          <a:xfrm>
            <a:off x="777240" y="4777560"/>
            <a:ext cx="6217560" cy="45259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2" name="Google Shape;62;p2:notes"/>
          <p:cNvSpPr txBox="1"/>
          <p:nvPr>
            <p:ph idx="12" type="sldNum"/>
          </p:nvPr>
        </p:nvSpPr>
        <p:spPr>
          <a:xfrm>
            <a:off x="4399200" y="9555480"/>
            <a:ext cx="3372840" cy="50256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b19de5f1ad_0_161: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 name="Google Shape;71;g3b19de5f1ad_0_161: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72" name="Google Shape;72;g3b19de5f1ad_0_161: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0ae3b9b1ea_0_100: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 name="Google Shape;79;g30ae3b9b1ea_0_100: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0" name="Google Shape;80;g30ae3b9b1ea_0_100: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19de5f1ad_0_4: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 name="Google Shape;87;g3b19de5f1ad_0_4: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88" name="Google Shape;88;g3b19de5f1ad_0_4: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b19de5f1ad_0_13: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g3b19de5f1ad_0_13: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97" name="Google Shape;97;g3b19de5f1ad_0_13: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b19de5f1ad_0_26: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g3b19de5f1ad_0_26: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05" name="Google Shape;105;g3b19de5f1ad_0_26: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b19de5f1ad_0_80: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4" name="Google Shape;114;g3b19de5f1ad_0_80: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15" name="Google Shape;115;g3b19de5f1ad_0_80: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b19de5f1ad_0_66: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 name="Google Shape;122;g3b19de5f1ad_0_66: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23" name="Google Shape;123;g3b19de5f1ad_0_66: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b19de5f1ad_0_279: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1" name="Google Shape;131;g3b19de5f1ad_0_279: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32" name="Google Shape;132;g3b19de5f1ad_0_279: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b19de5f1ad_0_325: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8" name="Google Shape;148;g3b19de5f1ad_0_325: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49" name="Google Shape;149;g3b19de5f1ad_0_325: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b19de5f1ad_0_344: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g3b19de5f1ad_0_344: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69" name="Google Shape;169;g3b19de5f1ad_0_344: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b19de5f1ad_0_292: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g3b19de5f1ad_0_292: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80" name="Google Shape;180;g3b19de5f1ad_0_292: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b19de5f1ad_0_395: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8" name="Google Shape;198;g3b19de5f1ad_0_395: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99" name="Google Shape;199;g3b19de5f1ad_0_395: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b19de5f1ad_0_415: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6" name="Google Shape;206;g3b19de5f1ad_0_415: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07" name="Google Shape;207;g3b19de5f1ad_0_415: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b19de5f1ad_0_423: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g3b19de5f1ad_0_423: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15" name="Google Shape;215;g3b19de5f1ad_0_423: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b19de5f1ad_0_56: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g3b19de5f1ad_0_56: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24" name="Google Shape;224;g3b19de5f1ad_0_56: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b19de5f1ad_0_371: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3" name="Google Shape;233;g3b19de5f1ad_0_371: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34" name="Google Shape;234;g3b19de5f1ad_0_371: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b19de5f1ad_0_95: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4" name="Google Shape;244;g3b19de5f1ad_0_95: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45" name="Google Shape;245;g3b19de5f1ad_0_95: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b19de5f1ad_0_432: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3" name="Google Shape;253;g3b19de5f1ad_0_432: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54" name="Google Shape;254;g3b19de5f1ad_0_432: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b19de5f1ad_0_168: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g3b19de5f1ad_0_168: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63" name="Google Shape;263;g3b19de5f1ad_0_168: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b19de5f1ad_0_106: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0" name="Google Shape;270;g3b19de5f1ad_0_106: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71" name="Google Shape;271;g3b19de5f1ad_0_106: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b19de5f1ad_0_214: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g3b19de5f1ad_0_214: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79" name="Google Shape;279;g3b19de5f1ad_0_214: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b19de5f1ad_0_175: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g3b19de5f1ad_0_175: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87" name="Google Shape;287;g3b19de5f1ad_0_175: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b19de5f1ad_0_115: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4" name="Google Shape;294;g3b19de5f1ad_0_115: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295" name="Google Shape;295;g3b19de5f1ad_0_115: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b19de5f1ad_0_183: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g3b19de5f1ad_0_183: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08" name="Google Shape;308;g3b19de5f1ad_0_183: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b19de5f1ad_0_134: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7" name="Google Shape;327;g3b19de5f1ad_0_134: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28" name="Google Shape;328;g3b19de5f1ad_0_134: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b19de5f1ad_0_205: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6" name="Google Shape;336;g3b19de5f1ad_0_205: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37" name="Google Shape;337;g3b19de5f1ad_0_205: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b19de5f1ad_0_147: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4" name="Google Shape;344;g3b19de5f1ad_0_147: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45" name="Google Shape;345;g3b19de5f1ad_0_147: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b19de5f1ad_0_228: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g3b19de5f1ad_0_228: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53" name="Google Shape;353;g3b19de5f1ad_0_228: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b19de5f1ad_0_263: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0" name="Google Shape;360;g3b19de5f1ad_0_263: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61" name="Google Shape;361;g3b19de5f1ad_0_263: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b19de5f1ad_0_271: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g3b19de5f1ad_0_271: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69" name="Google Shape;369;g3b19de5f1ad_0_271: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3b19de5f1ad_0_221: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6" name="Google Shape;376;g3b19de5f1ad_0_221: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77" name="Google Shape;377;g3b19de5f1ad_0_221: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b19de5f1ad_0_154: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4" name="Google Shape;384;g3b19de5f1ad_0_154: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85" name="Google Shape;385;g3b19de5f1ad_0_154: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b19de5f1ad_0_235: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2" name="Google Shape;392;g3b19de5f1ad_0_235: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93" name="Google Shape;393;g3b19de5f1ad_0_235: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g3b19de5f1ad_0_242: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0" name="Google Shape;400;g3b19de5f1ad_0_242: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01" name="Google Shape;401;g3b19de5f1ad_0_242: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b19de5f1ad_0_252: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8" name="Google Shape;408;g3b19de5f1ad_0_252: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09" name="Google Shape;409;g3b19de5f1ad_0_252: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3b19de5f1ad_0_444: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6" name="Google Shape;416;g3b19de5f1ad_0_444: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17" name="Google Shape;417;g3b19de5f1ad_0_444: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3b19de5f1ad_0_458: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4" name="Google Shape;424;g3b19de5f1ad_0_458: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25" name="Google Shape;425;g3b19de5f1ad_0_458: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g3b19de5f1ad_0_467: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3" name="Google Shape;433;g3b19de5f1ad_0_467: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34" name="Google Shape;434;g3b19de5f1ad_0_467: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b19de5f1ad_0_474:notes"/>
          <p:cNvSpPr/>
          <p:nvPr>
            <p:ph idx="2" type="sldImg"/>
          </p:nvPr>
        </p:nvSpPr>
        <p:spPr>
          <a:xfrm>
            <a:off x="533400" y="763588"/>
            <a:ext cx="6704100"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1" name="Google Shape;441;g3b19de5f1ad_0_474: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42" name="Google Shape;442;g3b19de5f1ad_0_474: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20:notes"/>
          <p:cNvSpPr/>
          <p:nvPr>
            <p:ph idx="2" type="sldImg"/>
          </p:nvPr>
        </p:nvSpPr>
        <p:spPr>
          <a:xfrm>
            <a:off x="533400" y="763588"/>
            <a:ext cx="6704013" cy="37719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9" name="Google Shape;449;p20:notes"/>
          <p:cNvSpPr txBox="1"/>
          <p:nvPr>
            <p:ph idx="1" type="body"/>
          </p:nvPr>
        </p:nvSpPr>
        <p:spPr>
          <a:xfrm>
            <a:off x="777240" y="4777560"/>
            <a:ext cx="6217560" cy="452592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a:t>That's all for this presentation.</a:t>
            </a:r>
            <a:endParaRPr/>
          </a:p>
          <a:p>
            <a:pPr indent="0" lvl="0" marL="0" rtl="0" algn="l">
              <a:lnSpc>
                <a:spcPct val="100000"/>
              </a:lnSpc>
              <a:spcBef>
                <a:spcPts val="0"/>
              </a:spcBef>
              <a:spcAft>
                <a:spcPts val="0"/>
              </a:spcAft>
              <a:buSzPts val="1400"/>
              <a:buNone/>
            </a:pPr>
            <a:r>
              <a:rPr lang="en-US"/>
              <a:t>Thank you for your attention.</a:t>
            </a:r>
            <a:endParaRPr/>
          </a:p>
          <a:p>
            <a:pPr indent="0" lvl="0" marL="0" rtl="0" algn="l">
              <a:lnSpc>
                <a:spcPct val="100000"/>
              </a:lnSpc>
              <a:spcBef>
                <a:spcPts val="0"/>
              </a:spcBef>
              <a:spcAft>
                <a:spcPts val="0"/>
              </a:spcAft>
              <a:buSzPts val="1400"/>
              <a:buNone/>
            </a:pPr>
            <a:r>
              <a:rPr lang="en-US"/>
              <a:t>If you are interested in further investigating the work or reproducing the experiments in this paper, we suggest to consult the GitHub repository where we have open-sourced all the supplementary material.</a:t>
            </a:r>
            <a:endParaRPr/>
          </a:p>
          <a:p>
            <a:pPr indent="0" lvl="0" marL="0" rtl="0" algn="l">
              <a:lnSpc>
                <a:spcPct val="100000"/>
              </a:lnSpc>
              <a:spcBef>
                <a:spcPts val="0"/>
              </a:spcBef>
              <a:spcAft>
                <a:spcPts val="0"/>
              </a:spcAft>
              <a:buSzPts val="1400"/>
              <a:buNone/>
            </a:pPr>
            <a:r>
              <a:rPr lang="en-US"/>
              <a:t>Thank you</a:t>
            </a:r>
            <a:endParaRPr/>
          </a:p>
        </p:txBody>
      </p:sp>
      <p:sp>
        <p:nvSpPr>
          <p:cNvPr id="450" name="Google Shape;450;p20:notes"/>
          <p:cNvSpPr txBox="1"/>
          <p:nvPr>
            <p:ph idx="12" type="sldNum"/>
          </p:nvPr>
        </p:nvSpPr>
        <p:spPr>
          <a:xfrm>
            <a:off x="4399200" y="9555480"/>
            <a:ext cx="3372840" cy="50256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b="0" lang="en-US" sz="1400" strike="noStrike">
                <a:latin typeface="Times New Roman"/>
                <a:ea typeface="Times New Roman"/>
                <a:cs typeface="Times New Roman"/>
                <a:sym typeface="Times New Roman"/>
              </a:rPr>
              <a:t>‹#›</a:t>
            </a:fld>
            <a:endParaRPr b="0" sz="1400" strike="noStrike">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titolo" showMasterSp="0">
  <p:cSld name="Diapositiva titolo">
    <p:spTree>
      <p:nvGrpSpPr>
        <p:cNvPr id="16" name="Shape 16"/>
        <p:cNvGrpSpPr/>
        <p:nvPr/>
      </p:nvGrpSpPr>
      <p:grpSpPr>
        <a:xfrm>
          <a:off x="0" y="0"/>
          <a:ext cx="0" cy="0"/>
          <a:chOff x="0" y="0"/>
          <a:chExt cx="0" cy="0"/>
        </a:xfrm>
      </p:grpSpPr>
      <p:sp>
        <p:nvSpPr>
          <p:cNvPr id="17" name="Google Shape;17;p2"/>
          <p:cNvSpPr/>
          <p:nvPr/>
        </p:nvSpPr>
        <p:spPr>
          <a:xfrm rot="5400000">
            <a:off x="5345642" y="-5345641"/>
            <a:ext cx="1500717" cy="12192000"/>
          </a:xfrm>
          <a:prstGeom prst="rect">
            <a:avLst/>
          </a:prstGeom>
          <a:solidFill>
            <a:srgbClr val="EDF4F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Calibri"/>
              <a:ea typeface="Calibri"/>
              <a:cs typeface="Calibri"/>
              <a:sym typeface="Calibri"/>
            </a:endParaRPr>
          </a:p>
        </p:txBody>
      </p:sp>
      <p:pic>
        <p:nvPicPr>
          <p:cNvPr id="18" name="Google Shape;18;p2"/>
          <p:cNvPicPr preferRelativeResize="0"/>
          <p:nvPr/>
        </p:nvPicPr>
        <p:blipFill rotWithShape="1">
          <a:blip r:embed="rId2">
            <a:alphaModFix/>
          </a:blip>
          <a:srcRect b="0" l="0" r="0" t="0"/>
          <a:stretch/>
        </p:blipFill>
        <p:spPr>
          <a:xfrm>
            <a:off x="4356100" y="139701"/>
            <a:ext cx="3471333" cy="1248833"/>
          </a:xfrm>
          <a:prstGeom prst="rect">
            <a:avLst/>
          </a:prstGeom>
          <a:noFill/>
          <a:ln>
            <a:noFill/>
          </a:ln>
        </p:spPr>
      </p:pic>
      <p:sp>
        <p:nvSpPr>
          <p:cNvPr id="19" name="Google Shape;19;p2"/>
          <p:cNvSpPr/>
          <p:nvPr/>
        </p:nvSpPr>
        <p:spPr>
          <a:xfrm rot="5400000">
            <a:off x="6046259" y="-4545541"/>
            <a:ext cx="99483" cy="12192000"/>
          </a:xfrm>
          <a:prstGeom prst="rect">
            <a:avLst/>
          </a:prstGeom>
          <a:solidFill>
            <a:srgbClr val="F04A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Calibri"/>
              <a:ea typeface="Calibri"/>
              <a:cs typeface="Calibri"/>
              <a:sym typeface="Calibri"/>
            </a:endParaRPr>
          </a:p>
        </p:txBody>
      </p:sp>
      <p:sp>
        <p:nvSpPr>
          <p:cNvPr id="20" name="Google Shape;20;p2"/>
          <p:cNvSpPr txBox="1"/>
          <p:nvPr>
            <p:ph type="ctrTitle"/>
          </p:nvPr>
        </p:nvSpPr>
        <p:spPr>
          <a:xfrm>
            <a:off x="614363" y="2292536"/>
            <a:ext cx="10963275" cy="1421928"/>
          </a:xfrm>
          <a:prstGeom prst="rect">
            <a:avLst/>
          </a:prstGeom>
          <a:noFill/>
          <a:ln>
            <a:noFill/>
          </a:ln>
        </p:spPr>
        <p:txBody>
          <a:bodyPr anchorCtr="0" anchor="ctr" bIns="45700" lIns="91425" spcFirstLastPara="1" rIns="91425" wrap="square" tIns="45700">
            <a:spAutoFit/>
          </a:bodyPr>
          <a:lstStyle>
            <a:lvl1pPr lvl="0" algn="l">
              <a:lnSpc>
                <a:spcPct val="90000"/>
              </a:lnSpc>
              <a:spcBef>
                <a:spcPts val="0"/>
              </a:spcBef>
              <a:spcAft>
                <a:spcPts val="0"/>
              </a:spcAft>
              <a:buSzPts val="1400"/>
              <a:buNone/>
              <a:defRPr b="0" i="0" sz="4800">
                <a:solidFill>
                  <a:schemeClr val="dk1"/>
                </a:solidFill>
                <a:latin typeface="Helvetica Neue Light"/>
                <a:ea typeface="Helvetica Neue Light"/>
                <a:cs typeface="Helvetica Neue Light"/>
                <a:sym typeface="Helvetica Neue Light"/>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1" name="Google Shape;21;p2"/>
          <p:cNvSpPr txBox="1"/>
          <p:nvPr>
            <p:ph idx="1" type="subTitle"/>
          </p:nvPr>
        </p:nvSpPr>
        <p:spPr>
          <a:xfrm>
            <a:off x="2687636" y="4622894"/>
            <a:ext cx="6807200" cy="978729"/>
          </a:xfrm>
          <a:prstGeom prst="rect">
            <a:avLst/>
          </a:prstGeom>
          <a:noFill/>
          <a:ln>
            <a:noFill/>
          </a:ln>
        </p:spPr>
        <p:txBody>
          <a:bodyPr anchorCtr="0" anchor="t" bIns="45700" lIns="91425" spcFirstLastPara="1" rIns="91425" wrap="square" tIns="45700">
            <a:spAutoFit/>
          </a:bodyPr>
          <a:lstStyle>
            <a:lvl1pPr lvl="0" algn="l">
              <a:lnSpc>
                <a:spcPct val="90000"/>
              </a:lnSpc>
              <a:spcBef>
                <a:spcPts val="0"/>
              </a:spcBef>
              <a:spcAft>
                <a:spcPts val="0"/>
              </a:spcAft>
              <a:buClr>
                <a:schemeClr val="dk1"/>
              </a:buClr>
              <a:buSzPts val="3520"/>
              <a:buNone/>
              <a:defRPr b="0" i="0" sz="3200">
                <a:solidFill>
                  <a:schemeClr val="dk1"/>
                </a:solidFill>
                <a:latin typeface="Helvetica Neue Light"/>
                <a:ea typeface="Helvetica Neue Light"/>
                <a:cs typeface="Helvetica Neue Light"/>
                <a:sym typeface="Helvetica Neue Light"/>
              </a:defRPr>
            </a:lvl1pPr>
            <a:lvl2pPr lvl="1" algn="ctr">
              <a:lnSpc>
                <a:spcPct val="90000"/>
              </a:lnSpc>
              <a:spcBef>
                <a:spcPts val="533"/>
              </a:spcBef>
              <a:spcAft>
                <a:spcPts val="0"/>
              </a:spcAft>
              <a:buClr>
                <a:srgbClr val="888888"/>
              </a:buClr>
              <a:buSzPts val="1800"/>
              <a:buNone/>
              <a:defRPr>
                <a:solidFill>
                  <a:srgbClr val="888888"/>
                </a:solidFill>
              </a:defRPr>
            </a:lvl2pPr>
            <a:lvl3pPr lvl="2" algn="ctr">
              <a:lnSpc>
                <a:spcPct val="90000"/>
              </a:lnSpc>
              <a:spcBef>
                <a:spcPts val="533"/>
              </a:spcBef>
              <a:spcAft>
                <a:spcPts val="0"/>
              </a:spcAft>
              <a:buClr>
                <a:srgbClr val="888888"/>
              </a:buClr>
              <a:buSzPts val="1440"/>
              <a:buNone/>
              <a:defRPr>
                <a:solidFill>
                  <a:srgbClr val="888888"/>
                </a:solidFill>
              </a:defRPr>
            </a:lvl3pPr>
            <a:lvl4pPr lvl="3" algn="ctr">
              <a:lnSpc>
                <a:spcPct val="100000"/>
              </a:lnSpc>
              <a:spcBef>
                <a:spcPts val="533"/>
              </a:spcBef>
              <a:spcAft>
                <a:spcPts val="0"/>
              </a:spcAft>
              <a:buClr>
                <a:srgbClr val="888888"/>
              </a:buClr>
              <a:buSzPts val="2667"/>
              <a:buNone/>
              <a:defRPr>
                <a:solidFill>
                  <a:srgbClr val="888888"/>
                </a:solidFill>
              </a:defRPr>
            </a:lvl4pPr>
            <a:lvl5pPr lvl="4" algn="ctr">
              <a:lnSpc>
                <a:spcPct val="100000"/>
              </a:lnSpc>
              <a:spcBef>
                <a:spcPts val="533"/>
              </a:spcBef>
              <a:spcAft>
                <a:spcPts val="0"/>
              </a:spcAft>
              <a:buClr>
                <a:srgbClr val="888888"/>
              </a:buClr>
              <a:buSzPts val="2667"/>
              <a:buNone/>
              <a:defRPr>
                <a:solidFill>
                  <a:srgbClr val="888888"/>
                </a:solidFill>
              </a:defRPr>
            </a:lvl5pPr>
            <a:lvl6pPr lvl="5" algn="ctr">
              <a:lnSpc>
                <a:spcPct val="100000"/>
              </a:lnSpc>
              <a:spcBef>
                <a:spcPts val="533"/>
              </a:spcBef>
              <a:spcAft>
                <a:spcPts val="0"/>
              </a:spcAft>
              <a:buClr>
                <a:srgbClr val="888888"/>
              </a:buClr>
              <a:buSzPts val="2667"/>
              <a:buNone/>
              <a:defRPr>
                <a:solidFill>
                  <a:srgbClr val="888888"/>
                </a:solidFill>
              </a:defRPr>
            </a:lvl6pPr>
            <a:lvl7pPr lvl="6" algn="ctr">
              <a:lnSpc>
                <a:spcPct val="100000"/>
              </a:lnSpc>
              <a:spcBef>
                <a:spcPts val="533"/>
              </a:spcBef>
              <a:spcAft>
                <a:spcPts val="0"/>
              </a:spcAft>
              <a:buClr>
                <a:srgbClr val="888888"/>
              </a:buClr>
              <a:buSzPts val="2667"/>
              <a:buNone/>
              <a:defRPr>
                <a:solidFill>
                  <a:srgbClr val="888888"/>
                </a:solidFill>
              </a:defRPr>
            </a:lvl7pPr>
            <a:lvl8pPr lvl="7" algn="ctr">
              <a:lnSpc>
                <a:spcPct val="100000"/>
              </a:lnSpc>
              <a:spcBef>
                <a:spcPts val="533"/>
              </a:spcBef>
              <a:spcAft>
                <a:spcPts val="0"/>
              </a:spcAft>
              <a:buClr>
                <a:srgbClr val="888888"/>
              </a:buClr>
              <a:buSzPts val="2667"/>
              <a:buNone/>
              <a:defRPr>
                <a:solidFill>
                  <a:srgbClr val="888888"/>
                </a:solidFill>
              </a:defRPr>
            </a:lvl8pPr>
            <a:lvl9pPr lvl="8" algn="ctr">
              <a:lnSpc>
                <a:spcPct val="100000"/>
              </a:lnSpc>
              <a:spcBef>
                <a:spcPts val="533"/>
              </a:spcBef>
              <a:spcAft>
                <a:spcPts val="0"/>
              </a:spcAft>
              <a:buClr>
                <a:srgbClr val="888888"/>
              </a:buClr>
              <a:buSzPts val="2667"/>
              <a:buNone/>
              <a:defRPr>
                <a:solidFill>
                  <a:srgbClr val="888888"/>
                </a:solidFill>
              </a:defRPr>
            </a:lvl9pPr>
          </a:lstStyle>
          <a:p/>
        </p:txBody>
      </p:sp>
      <p:sp>
        <p:nvSpPr>
          <p:cNvPr id="22" name="Google Shape;22;p2"/>
          <p:cNvSpPr txBox="1"/>
          <p:nvPr>
            <p:ph idx="2" type="body"/>
          </p:nvPr>
        </p:nvSpPr>
        <p:spPr>
          <a:xfrm>
            <a:off x="3341686" y="5508652"/>
            <a:ext cx="5499100" cy="512233"/>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533"/>
              </a:spcBef>
              <a:spcAft>
                <a:spcPts val="0"/>
              </a:spcAft>
              <a:buClr>
                <a:schemeClr val="dk1"/>
              </a:buClr>
              <a:buSzPts val="2934"/>
              <a:buFont typeface="Helvetica Neue Light"/>
              <a:buNone/>
              <a:defRPr>
                <a:solidFill>
                  <a:schemeClr val="dk1"/>
                </a:solidFill>
              </a:defRPr>
            </a:lvl1pPr>
            <a:lvl2pPr indent="-342900" lvl="1" marL="914400" algn="l">
              <a:lnSpc>
                <a:spcPct val="90000"/>
              </a:lnSpc>
              <a:spcBef>
                <a:spcPts val="533"/>
              </a:spcBef>
              <a:spcAft>
                <a:spcPts val="0"/>
              </a:spcAft>
              <a:buClr>
                <a:schemeClr val="lt1"/>
              </a:buClr>
              <a:buSzPts val="1800"/>
              <a:buChar char="–"/>
              <a:defRPr>
                <a:solidFill>
                  <a:schemeClr val="lt1"/>
                </a:solidFill>
              </a:defRPr>
            </a:lvl2pPr>
            <a:lvl3pPr indent="-320039" lvl="2" marL="1371600" algn="l">
              <a:lnSpc>
                <a:spcPct val="90000"/>
              </a:lnSpc>
              <a:spcBef>
                <a:spcPts val="533"/>
              </a:spcBef>
              <a:spcAft>
                <a:spcPts val="0"/>
              </a:spcAft>
              <a:buClr>
                <a:schemeClr val="lt1"/>
              </a:buClr>
              <a:buSzPts val="1440"/>
              <a:buChar char="▪"/>
              <a:defRPr>
                <a:solidFill>
                  <a:schemeClr val="lt1"/>
                </a:solidFill>
              </a:defRPr>
            </a:lvl3pPr>
            <a:lvl4pPr indent="-397954" lvl="3" marL="1828800" algn="l">
              <a:lnSpc>
                <a:spcPct val="100000"/>
              </a:lnSpc>
              <a:spcBef>
                <a:spcPts val="533"/>
              </a:spcBef>
              <a:spcAft>
                <a:spcPts val="0"/>
              </a:spcAft>
              <a:buClr>
                <a:schemeClr val="lt1"/>
              </a:buClr>
              <a:buSzPts val="2667"/>
              <a:buChar char="o"/>
              <a:defRPr>
                <a:solidFill>
                  <a:schemeClr val="lt1"/>
                </a:solidFill>
              </a:defRPr>
            </a:lvl4pPr>
            <a:lvl5pPr indent="-228600" lvl="4" marL="2286000" algn="l">
              <a:lnSpc>
                <a:spcPct val="100000"/>
              </a:lnSpc>
              <a:spcBef>
                <a:spcPts val="533"/>
              </a:spcBef>
              <a:spcAft>
                <a:spcPts val="0"/>
              </a:spcAft>
              <a:buSzPts val="1400"/>
              <a:buNone/>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 name="Google Shape;23;p2"/>
          <p:cNvSpPr txBox="1"/>
          <p:nvPr>
            <p:ph idx="12" type="sldNum"/>
          </p:nvPr>
        </p:nvSpPr>
        <p:spPr>
          <a:xfrm>
            <a:off x="11409045" y="6333134"/>
            <a:ext cx="731700" cy="525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ndard Layout">
  <p:cSld name="Standard Layout">
    <p:spTree>
      <p:nvGrpSpPr>
        <p:cNvPr id="24" name="Shape 24"/>
        <p:cNvGrpSpPr/>
        <p:nvPr/>
      </p:nvGrpSpPr>
      <p:grpSpPr>
        <a:xfrm>
          <a:off x="0" y="0"/>
          <a:ext cx="0" cy="0"/>
          <a:chOff x="0" y="0"/>
          <a:chExt cx="0" cy="0"/>
        </a:xfrm>
      </p:grpSpPr>
      <p:sp>
        <p:nvSpPr>
          <p:cNvPr id="25" name="Google Shape;25;p3"/>
          <p:cNvSpPr txBox="1"/>
          <p:nvPr>
            <p:ph type="title"/>
          </p:nvPr>
        </p:nvSpPr>
        <p:spPr>
          <a:xfrm>
            <a:off x="406400" y="-165189"/>
            <a:ext cx="8534400" cy="1274323"/>
          </a:xfrm>
          <a:prstGeom prst="rect">
            <a:avLst/>
          </a:prstGeom>
          <a:noFill/>
          <a:ln>
            <a:noFill/>
          </a:ln>
        </p:spPr>
        <p:txBody>
          <a:bodyPr anchorCtr="0" anchor="b" bIns="45700" lIns="91425" spcFirstLastPara="1" rIns="91425" wrap="square" tIns="45700">
            <a:sp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6" name="Google Shape;26;p3"/>
          <p:cNvSpPr txBox="1"/>
          <p:nvPr>
            <p:ph idx="1" type="body"/>
          </p:nvPr>
        </p:nvSpPr>
        <p:spPr>
          <a:xfrm>
            <a:off x="406399" y="1473913"/>
            <a:ext cx="11383839" cy="4515812"/>
          </a:xfrm>
          <a:prstGeom prst="rect">
            <a:avLst/>
          </a:prstGeom>
          <a:noFill/>
          <a:ln>
            <a:noFill/>
          </a:ln>
        </p:spPr>
        <p:txBody>
          <a:bodyPr anchorCtr="0" anchor="t" bIns="45700" lIns="91425" spcFirstLastPara="1" rIns="91425" wrap="square" tIns="45700">
            <a:noAutofit/>
          </a:bodyPr>
          <a:lstStyle>
            <a:lvl1pPr indent="-414908" lvl="0" marL="457200" algn="l">
              <a:lnSpc>
                <a:spcPct val="90000"/>
              </a:lnSpc>
              <a:spcBef>
                <a:spcPts val="533"/>
              </a:spcBef>
              <a:spcAft>
                <a:spcPts val="0"/>
              </a:spcAft>
              <a:buClr>
                <a:srgbClr val="262626"/>
              </a:buClr>
              <a:buSzPts val="2934"/>
              <a:buChar char="▪"/>
              <a:defRPr b="0" i="0">
                <a:latin typeface="Helvetica Neue Light"/>
                <a:ea typeface="Helvetica Neue Light"/>
                <a:cs typeface="Helvetica Neue Light"/>
                <a:sym typeface="Helvetica Neue Light"/>
              </a:defRPr>
            </a:lvl1pPr>
            <a:lvl2pPr indent="-342900" lvl="1" marL="914400" algn="l">
              <a:lnSpc>
                <a:spcPct val="100000"/>
              </a:lnSpc>
              <a:spcBef>
                <a:spcPts val="533"/>
              </a:spcBef>
              <a:spcAft>
                <a:spcPts val="0"/>
              </a:spcAft>
              <a:buClr>
                <a:srgbClr val="262626"/>
              </a:buClr>
              <a:buSzPts val="1800"/>
              <a:buChar char="–"/>
              <a:defRPr b="0" i="0">
                <a:latin typeface="Helvetica Neue Light"/>
                <a:ea typeface="Helvetica Neue Light"/>
                <a:cs typeface="Helvetica Neue Light"/>
                <a:sym typeface="Helvetica Neue Light"/>
              </a:defRPr>
            </a:lvl2pPr>
            <a:lvl3pPr indent="-350519" lvl="2" marL="1371600" algn="l">
              <a:lnSpc>
                <a:spcPct val="100000"/>
              </a:lnSpc>
              <a:spcBef>
                <a:spcPts val="533"/>
              </a:spcBef>
              <a:spcAft>
                <a:spcPts val="0"/>
              </a:spcAft>
              <a:buClr>
                <a:srgbClr val="262626"/>
              </a:buClr>
              <a:buSzPts val="1920"/>
              <a:buChar char="▪"/>
              <a:defRPr b="0" i="0" sz="2400">
                <a:latin typeface="Helvetica Neue Light"/>
                <a:ea typeface="Helvetica Neue Light"/>
                <a:cs typeface="Helvetica Neue Light"/>
                <a:sym typeface="Helvetica Neue Light"/>
              </a:defRPr>
            </a:lvl3pPr>
            <a:lvl4pPr indent="-364045" lvl="3" marL="1828800" algn="l">
              <a:lnSpc>
                <a:spcPct val="100000"/>
              </a:lnSpc>
              <a:spcBef>
                <a:spcPts val="533"/>
              </a:spcBef>
              <a:spcAft>
                <a:spcPts val="0"/>
              </a:spcAft>
              <a:buClr>
                <a:schemeClr val="dk1"/>
              </a:buClr>
              <a:buSzPts val="2133"/>
              <a:buFont typeface="Noto Sans Symbols"/>
              <a:buChar char="▪"/>
              <a:defRPr b="0" i="0" sz="2133">
                <a:latin typeface="Helvetica Neue Light"/>
                <a:ea typeface="Helvetica Neue Light"/>
                <a:cs typeface="Helvetica Neue Light"/>
                <a:sym typeface="Helvetica Neue Light"/>
              </a:defRPr>
            </a:lvl4pPr>
            <a:lvl5pPr indent="-364045" lvl="4" marL="2286000" algn="l">
              <a:lnSpc>
                <a:spcPct val="100000"/>
              </a:lnSpc>
              <a:spcBef>
                <a:spcPts val="427"/>
              </a:spcBef>
              <a:spcAft>
                <a:spcPts val="0"/>
              </a:spcAft>
              <a:buClr>
                <a:schemeClr val="dk1"/>
              </a:buClr>
              <a:buSzPts val="2133"/>
              <a:buFont typeface="Arial"/>
              <a:buChar char="•"/>
              <a:defRPr b="0" i="0" sz="2133">
                <a:latin typeface="Helvetica Neue Light"/>
                <a:ea typeface="Helvetica Neue Light"/>
                <a:cs typeface="Helvetica Neue Light"/>
                <a:sym typeface="Helvetica Neue Light"/>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 name="Google Shape;27;p3"/>
          <p:cNvSpPr txBox="1"/>
          <p:nvPr>
            <p:ph idx="11" type="ftr"/>
          </p:nvPr>
        </p:nvSpPr>
        <p:spPr>
          <a:xfrm>
            <a:off x="4165600" y="6280151"/>
            <a:ext cx="3860800" cy="36618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
          <p:cNvSpPr txBox="1"/>
          <p:nvPr>
            <p:ph idx="12" type="sldNum"/>
          </p:nvPr>
        </p:nvSpPr>
        <p:spPr>
          <a:xfrm>
            <a:off x="406401" y="6309785"/>
            <a:ext cx="937684" cy="366183"/>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spTree>
      <p:nvGrpSpPr>
        <p:cNvPr id="29" name="Shape 29"/>
        <p:cNvGrpSpPr/>
        <p:nvPr/>
      </p:nvGrpSpPr>
      <p:grpSpPr>
        <a:xfrm>
          <a:off x="0" y="0"/>
          <a:ext cx="0" cy="0"/>
          <a:chOff x="0" y="0"/>
          <a:chExt cx="0" cy="0"/>
        </a:xfrm>
      </p:grpSpPr>
      <p:pic>
        <p:nvPicPr>
          <p:cNvPr id="30" name="Google Shape;30;p4"/>
          <p:cNvPicPr preferRelativeResize="0"/>
          <p:nvPr/>
        </p:nvPicPr>
        <p:blipFill rotWithShape="1">
          <a:blip r:embed="rId2">
            <a:alphaModFix/>
          </a:blip>
          <a:srcRect b="0" l="0" r="0" t="0"/>
          <a:stretch/>
        </p:blipFill>
        <p:spPr>
          <a:xfrm>
            <a:off x="3473451" y="2415118"/>
            <a:ext cx="5247216" cy="1885949"/>
          </a:xfrm>
          <a:prstGeom prst="rect">
            <a:avLst/>
          </a:prstGeom>
          <a:noFill/>
          <a:ln>
            <a:noFill/>
          </a:ln>
        </p:spPr>
      </p:pic>
      <p:sp>
        <p:nvSpPr>
          <p:cNvPr id="31" name="Google Shape;31;p4"/>
          <p:cNvSpPr txBox="1"/>
          <p:nvPr/>
        </p:nvSpPr>
        <p:spPr>
          <a:xfrm>
            <a:off x="4133213" y="1299546"/>
            <a:ext cx="3925500" cy="7491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267"/>
              <a:buFont typeface="Arial"/>
              <a:buNone/>
            </a:pPr>
            <a:r>
              <a:rPr b="0" i="0" lang="en-US" sz="4267" u="none" cap="none" strike="noStrike">
                <a:solidFill>
                  <a:srgbClr val="3F3F3F"/>
                </a:solidFill>
                <a:latin typeface="Century Gothic"/>
                <a:ea typeface="Century Gothic"/>
                <a:cs typeface="Century Gothic"/>
                <a:sym typeface="Century Gothic"/>
              </a:rPr>
              <a:t>TDALab</a:t>
            </a:r>
            <a:endParaRPr b="0" i="0" sz="1400" u="none" cap="none" strike="noStrike">
              <a:solidFill>
                <a:srgbClr val="000000"/>
              </a:solidFill>
              <a:latin typeface="Arial"/>
              <a:ea typeface="Arial"/>
              <a:cs typeface="Arial"/>
              <a:sym typeface="Arial"/>
            </a:endParaRPr>
          </a:p>
        </p:txBody>
      </p:sp>
      <p:sp>
        <p:nvSpPr>
          <p:cNvPr id="32" name="Google Shape;32;p4"/>
          <p:cNvSpPr txBox="1"/>
          <p:nvPr>
            <p:ph idx="12" type="sldNum"/>
          </p:nvPr>
        </p:nvSpPr>
        <p:spPr>
          <a:xfrm>
            <a:off x="11409045" y="6333134"/>
            <a:ext cx="731700" cy="5250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262626"/>
                </a:solidFill>
                <a:latin typeface="Helvetica Neue Light"/>
                <a:ea typeface="Helvetica Neue Light"/>
                <a:cs typeface="Helvetica Neue Light"/>
                <a:sym typeface="Helvetica Neue Ligh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262626"/>
                </a:solidFill>
                <a:latin typeface="Helvetica Neue Light"/>
                <a:ea typeface="Helvetica Neue Light"/>
                <a:cs typeface="Helvetica Neue Light"/>
                <a:sym typeface="Helvetica Neue Ligh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262626"/>
                </a:solidFill>
                <a:latin typeface="Helvetica Neue Light"/>
                <a:ea typeface="Helvetica Neue Light"/>
                <a:cs typeface="Helvetica Neue Light"/>
                <a:sym typeface="Helvetica Neue Ligh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262626"/>
                </a:solidFill>
                <a:latin typeface="Helvetica Neue Light"/>
                <a:ea typeface="Helvetica Neue Light"/>
                <a:cs typeface="Helvetica Neue Light"/>
                <a:sym typeface="Helvetica Neue Ligh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262626"/>
                </a:solidFill>
                <a:latin typeface="Helvetica Neue Light"/>
                <a:ea typeface="Helvetica Neue Light"/>
                <a:cs typeface="Helvetica Neue Light"/>
                <a:sym typeface="Helvetica Neue Ligh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262626"/>
                </a:solidFill>
                <a:latin typeface="Helvetica Neue Light"/>
                <a:ea typeface="Helvetica Neue Light"/>
                <a:cs typeface="Helvetica Neue Light"/>
                <a:sym typeface="Helvetica Neue Ligh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262626"/>
                </a:solidFill>
                <a:latin typeface="Helvetica Neue Light"/>
                <a:ea typeface="Helvetica Neue Light"/>
                <a:cs typeface="Helvetica Neue Light"/>
                <a:sym typeface="Helvetica Neue Ligh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262626"/>
                </a:solidFill>
                <a:latin typeface="Helvetica Neue Light"/>
                <a:ea typeface="Helvetica Neue Light"/>
                <a:cs typeface="Helvetica Neue Light"/>
                <a:sym typeface="Helvetica Neue Ligh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262626"/>
                </a:solidFill>
                <a:latin typeface="Helvetica Neue Light"/>
                <a:ea typeface="Helvetica Neue Light"/>
                <a:cs typeface="Helvetica Neue Light"/>
                <a:sym typeface="Helvetica Neue Light"/>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
  <p:cSld name="Two column">
    <p:spTree>
      <p:nvGrpSpPr>
        <p:cNvPr id="33" name="Shape 33"/>
        <p:cNvGrpSpPr/>
        <p:nvPr/>
      </p:nvGrpSpPr>
      <p:grpSpPr>
        <a:xfrm>
          <a:off x="0" y="0"/>
          <a:ext cx="0" cy="0"/>
          <a:chOff x="0" y="0"/>
          <a:chExt cx="0" cy="0"/>
        </a:xfrm>
      </p:grpSpPr>
      <p:sp>
        <p:nvSpPr>
          <p:cNvPr id="34" name="Google Shape;34;p5"/>
          <p:cNvSpPr txBox="1"/>
          <p:nvPr>
            <p:ph type="title"/>
          </p:nvPr>
        </p:nvSpPr>
        <p:spPr>
          <a:xfrm>
            <a:off x="406400" y="-165189"/>
            <a:ext cx="8534400" cy="1274323"/>
          </a:xfrm>
          <a:prstGeom prst="rect">
            <a:avLst/>
          </a:prstGeom>
          <a:noFill/>
          <a:ln>
            <a:noFill/>
          </a:ln>
        </p:spPr>
        <p:txBody>
          <a:bodyPr anchorCtr="0" anchor="b" bIns="45700" lIns="91425" spcFirstLastPara="1" rIns="91425" wrap="square" tIns="45700">
            <a:sp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5" name="Google Shape;35;p5"/>
          <p:cNvSpPr txBox="1"/>
          <p:nvPr>
            <p:ph idx="1" type="body"/>
          </p:nvPr>
        </p:nvSpPr>
        <p:spPr>
          <a:xfrm>
            <a:off x="406400" y="1473913"/>
            <a:ext cx="5537071" cy="4515812"/>
          </a:xfrm>
          <a:prstGeom prst="rect">
            <a:avLst/>
          </a:prstGeom>
          <a:noFill/>
          <a:ln>
            <a:noFill/>
          </a:ln>
        </p:spPr>
        <p:txBody>
          <a:bodyPr anchorCtr="0" anchor="t" bIns="45700" lIns="91425" spcFirstLastPara="1" rIns="91425" wrap="square" tIns="45700">
            <a:noAutofit/>
          </a:bodyPr>
          <a:lstStyle>
            <a:lvl1pPr indent="-414908" lvl="0" marL="457200" algn="l">
              <a:lnSpc>
                <a:spcPct val="90000"/>
              </a:lnSpc>
              <a:spcBef>
                <a:spcPts val="533"/>
              </a:spcBef>
              <a:spcAft>
                <a:spcPts val="0"/>
              </a:spcAft>
              <a:buClr>
                <a:srgbClr val="262626"/>
              </a:buClr>
              <a:buSzPts val="2934"/>
              <a:buChar char="▪"/>
              <a:defRPr b="0" i="0">
                <a:latin typeface="Helvetica Neue Light"/>
                <a:ea typeface="Helvetica Neue Light"/>
                <a:cs typeface="Helvetica Neue Light"/>
                <a:sym typeface="Helvetica Neue Light"/>
              </a:defRPr>
            </a:lvl1pPr>
            <a:lvl2pPr indent="-342900" lvl="1" marL="914400" algn="l">
              <a:lnSpc>
                <a:spcPct val="100000"/>
              </a:lnSpc>
              <a:spcBef>
                <a:spcPts val="533"/>
              </a:spcBef>
              <a:spcAft>
                <a:spcPts val="0"/>
              </a:spcAft>
              <a:buClr>
                <a:srgbClr val="262626"/>
              </a:buClr>
              <a:buSzPts val="1800"/>
              <a:buChar char="–"/>
              <a:defRPr b="0" i="0">
                <a:latin typeface="Helvetica Neue Light"/>
                <a:ea typeface="Helvetica Neue Light"/>
                <a:cs typeface="Helvetica Neue Light"/>
                <a:sym typeface="Helvetica Neue Light"/>
              </a:defRPr>
            </a:lvl2pPr>
            <a:lvl3pPr indent="-350519" lvl="2" marL="1371600" algn="l">
              <a:lnSpc>
                <a:spcPct val="100000"/>
              </a:lnSpc>
              <a:spcBef>
                <a:spcPts val="533"/>
              </a:spcBef>
              <a:spcAft>
                <a:spcPts val="0"/>
              </a:spcAft>
              <a:buClr>
                <a:srgbClr val="262626"/>
              </a:buClr>
              <a:buSzPts val="1920"/>
              <a:buChar char="▪"/>
              <a:defRPr b="0" i="0" sz="2400">
                <a:latin typeface="Helvetica Neue Light"/>
                <a:ea typeface="Helvetica Neue Light"/>
                <a:cs typeface="Helvetica Neue Light"/>
                <a:sym typeface="Helvetica Neue Light"/>
              </a:defRPr>
            </a:lvl3pPr>
            <a:lvl4pPr indent="-364045" lvl="3" marL="1828800" algn="l">
              <a:lnSpc>
                <a:spcPct val="100000"/>
              </a:lnSpc>
              <a:spcBef>
                <a:spcPts val="533"/>
              </a:spcBef>
              <a:spcAft>
                <a:spcPts val="0"/>
              </a:spcAft>
              <a:buClr>
                <a:schemeClr val="dk1"/>
              </a:buClr>
              <a:buSzPts val="2133"/>
              <a:buFont typeface="Noto Sans Symbols"/>
              <a:buChar char="▪"/>
              <a:defRPr b="0" i="0" sz="2133">
                <a:latin typeface="Helvetica Neue Light"/>
                <a:ea typeface="Helvetica Neue Light"/>
                <a:cs typeface="Helvetica Neue Light"/>
                <a:sym typeface="Helvetica Neue Light"/>
              </a:defRPr>
            </a:lvl4pPr>
            <a:lvl5pPr indent="-364045" lvl="4" marL="2286000" algn="l">
              <a:lnSpc>
                <a:spcPct val="100000"/>
              </a:lnSpc>
              <a:spcBef>
                <a:spcPts val="427"/>
              </a:spcBef>
              <a:spcAft>
                <a:spcPts val="0"/>
              </a:spcAft>
              <a:buClr>
                <a:schemeClr val="dk1"/>
              </a:buClr>
              <a:buSzPts val="2133"/>
              <a:buFont typeface="Arial"/>
              <a:buChar char="•"/>
              <a:defRPr b="0" i="0" sz="2133">
                <a:latin typeface="Helvetica Neue Light"/>
                <a:ea typeface="Helvetica Neue Light"/>
                <a:cs typeface="Helvetica Neue Light"/>
                <a:sym typeface="Helvetica Neue Light"/>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6" name="Google Shape;36;p5"/>
          <p:cNvSpPr txBox="1"/>
          <p:nvPr>
            <p:ph idx="2" type="body"/>
          </p:nvPr>
        </p:nvSpPr>
        <p:spPr>
          <a:xfrm>
            <a:off x="6188866" y="1470879"/>
            <a:ext cx="5537071" cy="4515812"/>
          </a:xfrm>
          <a:prstGeom prst="rect">
            <a:avLst/>
          </a:prstGeom>
          <a:noFill/>
          <a:ln>
            <a:noFill/>
          </a:ln>
        </p:spPr>
        <p:txBody>
          <a:bodyPr anchorCtr="0" anchor="t" bIns="45700" lIns="91425" spcFirstLastPara="1" rIns="91425" wrap="square" tIns="45700">
            <a:noAutofit/>
          </a:bodyPr>
          <a:lstStyle>
            <a:lvl1pPr indent="-414908" lvl="0" marL="457200" algn="l">
              <a:lnSpc>
                <a:spcPct val="90000"/>
              </a:lnSpc>
              <a:spcBef>
                <a:spcPts val="533"/>
              </a:spcBef>
              <a:spcAft>
                <a:spcPts val="0"/>
              </a:spcAft>
              <a:buClr>
                <a:srgbClr val="262626"/>
              </a:buClr>
              <a:buSzPts val="2934"/>
              <a:buChar char="▪"/>
              <a:defRPr b="0" i="0">
                <a:latin typeface="Helvetica Neue Light"/>
                <a:ea typeface="Helvetica Neue Light"/>
                <a:cs typeface="Helvetica Neue Light"/>
                <a:sym typeface="Helvetica Neue Light"/>
              </a:defRPr>
            </a:lvl1pPr>
            <a:lvl2pPr indent="-342900" lvl="1" marL="914400" algn="l">
              <a:lnSpc>
                <a:spcPct val="100000"/>
              </a:lnSpc>
              <a:spcBef>
                <a:spcPts val="533"/>
              </a:spcBef>
              <a:spcAft>
                <a:spcPts val="0"/>
              </a:spcAft>
              <a:buClr>
                <a:srgbClr val="262626"/>
              </a:buClr>
              <a:buSzPts val="1800"/>
              <a:buChar char="–"/>
              <a:defRPr b="0" i="0">
                <a:latin typeface="Helvetica Neue Light"/>
                <a:ea typeface="Helvetica Neue Light"/>
                <a:cs typeface="Helvetica Neue Light"/>
                <a:sym typeface="Helvetica Neue Light"/>
              </a:defRPr>
            </a:lvl2pPr>
            <a:lvl3pPr indent="-350519" lvl="2" marL="1371600" algn="l">
              <a:lnSpc>
                <a:spcPct val="100000"/>
              </a:lnSpc>
              <a:spcBef>
                <a:spcPts val="533"/>
              </a:spcBef>
              <a:spcAft>
                <a:spcPts val="0"/>
              </a:spcAft>
              <a:buClr>
                <a:srgbClr val="262626"/>
              </a:buClr>
              <a:buSzPts val="1920"/>
              <a:buChar char="▪"/>
              <a:defRPr b="0" i="0" sz="2400">
                <a:latin typeface="Helvetica Neue Light"/>
                <a:ea typeface="Helvetica Neue Light"/>
                <a:cs typeface="Helvetica Neue Light"/>
                <a:sym typeface="Helvetica Neue Light"/>
              </a:defRPr>
            </a:lvl3pPr>
            <a:lvl4pPr indent="-364045" lvl="3" marL="1828800" algn="l">
              <a:lnSpc>
                <a:spcPct val="100000"/>
              </a:lnSpc>
              <a:spcBef>
                <a:spcPts val="533"/>
              </a:spcBef>
              <a:spcAft>
                <a:spcPts val="0"/>
              </a:spcAft>
              <a:buClr>
                <a:schemeClr val="dk1"/>
              </a:buClr>
              <a:buSzPts val="2133"/>
              <a:buFont typeface="Noto Sans Symbols"/>
              <a:buChar char="▪"/>
              <a:defRPr b="0" i="0" sz="2133">
                <a:latin typeface="Helvetica Neue Light"/>
                <a:ea typeface="Helvetica Neue Light"/>
                <a:cs typeface="Helvetica Neue Light"/>
                <a:sym typeface="Helvetica Neue Light"/>
              </a:defRPr>
            </a:lvl4pPr>
            <a:lvl5pPr indent="-364045" lvl="4" marL="2286000" algn="l">
              <a:lnSpc>
                <a:spcPct val="100000"/>
              </a:lnSpc>
              <a:spcBef>
                <a:spcPts val="427"/>
              </a:spcBef>
              <a:spcAft>
                <a:spcPts val="0"/>
              </a:spcAft>
              <a:buClr>
                <a:schemeClr val="dk1"/>
              </a:buClr>
              <a:buSzPts val="2133"/>
              <a:buFont typeface="Arial"/>
              <a:buChar char="•"/>
              <a:defRPr b="0" i="0" sz="2133">
                <a:latin typeface="Helvetica Neue Light"/>
                <a:ea typeface="Helvetica Neue Light"/>
                <a:cs typeface="Helvetica Neue Light"/>
                <a:sym typeface="Helvetica Neue Light"/>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7" name="Google Shape;37;p5"/>
          <p:cNvSpPr txBox="1"/>
          <p:nvPr>
            <p:ph idx="11" type="ftr"/>
          </p:nvPr>
        </p:nvSpPr>
        <p:spPr>
          <a:xfrm>
            <a:off x="4165600" y="6280151"/>
            <a:ext cx="3860800" cy="36618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
          <p:cNvSpPr txBox="1"/>
          <p:nvPr>
            <p:ph idx="12" type="sldNum"/>
          </p:nvPr>
        </p:nvSpPr>
        <p:spPr>
          <a:xfrm>
            <a:off x="406401" y="6309785"/>
            <a:ext cx="937684" cy="366183"/>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titolo">
  <p:cSld name="Solo titolo">
    <p:spTree>
      <p:nvGrpSpPr>
        <p:cNvPr id="39" name="Shape 39"/>
        <p:cNvGrpSpPr/>
        <p:nvPr/>
      </p:nvGrpSpPr>
      <p:grpSpPr>
        <a:xfrm>
          <a:off x="0" y="0"/>
          <a:ext cx="0" cy="0"/>
          <a:chOff x="0" y="0"/>
          <a:chExt cx="0" cy="0"/>
        </a:xfrm>
      </p:grpSpPr>
      <p:sp>
        <p:nvSpPr>
          <p:cNvPr id="40" name="Google Shape;40;p6"/>
          <p:cNvSpPr txBox="1"/>
          <p:nvPr>
            <p:ph type="title"/>
          </p:nvPr>
        </p:nvSpPr>
        <p:spPr>
          <a:xfrm>
            <a:off x="406400" y="-165189"/>
            <a:ext cx="8534400" cy="1274323"/>
          </a:xfrm>
          <a:prstGeom prst="rect">
            <a:avLst/>
          </a:prstGeom>
          <a:noFill/>
          <a:ln>
            <a:noFill/>
          </a:ln>
        </p:spPr>
        <p:txBody>
          <a:bodyPr anchorCtr="0" anchor="b" bIns="45700" lIns="91425" spcFirstLastPara="1" rIns="91425" wrap="square" tIns="45700">
            <a:sp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1" name="Google Shape;41;p6"/>
          <p:cNvSpPr txBox="1"/>
          <p:nvPr>
            <p:ph idx="11" type="ftr"/>
          </p:nvPr>
        </p:nvSpPr>
        <p:spPr>
          <a:xfrm>
            <a:off x="4165600" y="6280151"/>
            <a:ext cx="3860800" cy="36618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
          <p:cNvSpPr txBox="1"/>
          <p:nvPr>
            <p:ph idx="12" type="sldNum"/>
          </p:nvPr>
        </p:nvSpPr>
        <p:spPr>
          <a:xfrm>
            <a:off x="406401" y="6309785"/>
            <a:ext cx="937684" cy="366183"/>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uota">
  <p:cSld name="Vuota">
    <p:spTree>
      <p:nvGrpSpPr>
        <p:cNvPr id="43" name="Shape 43"/>
        <p:cNvGrpSpPr/>
        <p:nvPr/>
      </p:nvGrpSpPr>
      <p:grpSpPr>
        <a:xfrm>
          <a:off x="0" y="0"/>
          <a:ext cx="0" cy="0"/>
          <a:chOff x="0" y="0"/>
          <a:chExt cx="0" cy="0"/>
        </a:xfrm>
      </p:grpSpPr>
      <p:sp>
        <p:nvSpPr>
          <p:cNvPr id="44" name="Google Shape;44;p7"/>
          <p:cNvSpPr txBox="1"/>
          <p:nvPr>
            <p:ph idx="11" type="ftr"/>
          </p:nvPr>
        </p:nvSpPr>
        <p:spPr>
          <a:xfrm>
            <a:off x="4165600" y="6280151"/>
            <a:ext cx="3860800" cy="36618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7"/>
          <p:cNvSpPr txBox="1"/>
          <p:nvPr>
            <p:ph idx="12" type="sldNum"/>
          </p:nvPr>
        </p:nvSpPr>
        <p:spPr>
          <a:xfrm>
            <a:off x="406401" y="6309785"/>
            <a:ext cx="937684" cy="366183"/>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with Caption">
  <p:cSld name="Image with Caption">
    <p:spTree>
      <p:nvGrpSpPr>
        <p:cNvPr id="46" name="Shape 46"/>
        <p:cNvGrpSpPr/>
        <p:nvPr/>
      </p:nvGrpSpPr>
      <p:grpSpPr>
        <a:xfrm>
          <a:off x="0" y="0"/>
          <a:ext cx="0" cy="0"/>
          <a:chOff x="0" y="0"/>
          <a:chExt cx="0" cy="0"/>
        </a:xfrm>
      </p:grpSpPr>
      <p:sp>
        <p:nvSpPr>
          <p:cNvPr id="47" name="Google Shape;47;p8"/>
          <p:cNvSpPr/>
          <p:nvPr>
            <p:ph idx="2" type="pic"/>
          </p:nvPr>
        </p:nvSpPr>
        <p:spPr>
          <a:xfrm>
            <a:off x="89597" y="1"/>
            <a:ext cx="12102403" cy="5214051"/>
          </a:xfrm>
          <a:prstGeom prst="rect">
            <a:avLst/>
          </a:prstGeom>
          <a:noFill/>
          <a:ln>
            <a:noFill/>
          </a:ln>
        </p:spPr>
      </p:sp>
      <p:sp>
        <p:nvSpPr>
          <p:cNvPr id="48" name="Google Shape;48;p8"/>
          <p:cNvSpPr txBox="1"/>
          <p:nvPr>
            <p:ph idx="1" type="body"/>
          </p:nvPr>
        </p:nvSpPr>
        <p:spPr>
          <a:xfrm>
            <a:off x="92764" y="4915297"/>
            <a:ext cx="12102403" cy="968204"/>
          </a:xfrm>
          <a:prstGeom prst="rect">
            <a:avLst/>
          </a:prstGeom>
          <a:solidFill>
            <a:srgbClr val="1C1C1C"/>
          </a:solidFill>
          <a:ln>
            <a:noFill/>
          </a:ln>
        </p:spPr>
        <p:txBody>
          <a:bodyPr anchorCtr="0" anchor="ctr" bIns="45700" lIns="182875" spcFirstLastPara="1" rIns="182875" wrap="square" tIns="45700">
            <a:normAutofit/>
          </a:bodyPr>
          <a:lstStyle>
            <a:lvl1pPr indent="-228600" lvl="0" marL="457200" algn="l">
              <a:lnSpc>
                <a:spcPct val="90000"/>
              </a:lnSpc>
              <a:spcBef>
                <a:spcPts val="533"/>
              </a:spcBef>
              <a:spcAft>
                <a:spcPts val="0"/>
              </a:spcAft>
              <a:buClr>
                <a:schemeClr val="lt1"/>
              </a:buClr>
              <a:buSzPts val="2640"/>
              <a:buNone/>
              <a:defRPr sz="2400">
                <a:solidFill>
                  <a:schemeClr val="lt1"/>
                </a:solidFill>
              </a:defRPr>
            </a:lvl1pPr>
            <a:lvl2pPr indent="-228600" lvl="1" marL="914400" algn="l">
              <a:lnSpc>
                <a:spcPct val="90000"/>
              </a:lnSpc>
              <a:spcBef>
                <a:spcPts val="533"/>
              </a:spcBef>
              <a:spcAft>
                <a:spcPts val="0"/>
              </a:spcAft>
              <a:buClr>
                <a:schemeClr val="lt1"/>
              </a:buClr>
              <a:buSzPts val="1800"/>
              <a:buNone/>
              <a:defRPr>
                <a:solidFill>
                  <a:schemeClr val="lt1"/>
                </a:solidFill>
              </a:defRPr>
            </a:lvl2pPr>
            <a:lvl3pPr indent="-228600" lvl="2" marL="1371600" algn="l">
              <a:lnSpc>
                <a:spcPct val="90000"/>
              </a:lnSpc>
              <a:spcBef>
                <a:spcPts val="533"/>
              </a:spcBef>
              <a:spcAft>
                <a:spcPts val="0"/>
              </a:spcAft>
              <a:buClr>
                <a:schemeClr val="lt1"/>
              </a:buClr>
              <a:buSzPts val="1440"/>
              <a:buNone/>
              <a:defRPr>
                <a:solidFill>
                  <a:schemeClr val="lt1"/>
                </a:solidFill>
              </a:defRPr>
            </a:lvl3pPr>
            <a:lvl4pPr indent="-397954" lvl="3" marL="1828800" algn="l">
              <a:lnSpc>
                <a:spcPct val="100000"/>
              </a:lnSpc>
              <a:spcBef>
                <a:spcPts val="533"/>
              </a:spcBef>
              <a:spcAft>
                <a:spcPts val="0"/>
              </a:spcAft>
              <a:buClr>
                <a:schemeClr val="lt1"/>
              </a:buClr>
              <a:buSzPts val="2667"/>
              <a:buChar char="o"/>
              <a:defRPr>
                <a:solidFill>
                  <a:schemeClr val="lt1"/>
                </a:solidFill>
              </a:defRPr>
            </a:lvl4pPr>
            <a:lvl5pPr indent="-228600" lvl="4" marL="2286000" algn="l">
              <a:lnSpc>
                <a:spcPct val="100000"/>
              </a:lnSpc>
              <a:spcBef>
                <a:spcPts val="533"/>
              </a:spcBef>
              <a:spcAft>
                <a:spcPts val="0"/>
              </a:spcAft>
              <a:buSzPts val="1400"/>
              <a:buNone/>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9" name="Google Shape;49;p8"/>
          <p:cNvSpPr txBox="1"/>
          <p:nvPr>
            <p:ph idx="11" type="ftr"/>
          </p:nvPr>
        </p:nvSpPr>
        <p:spPr>
          <a:xfrm>
            <a:off x="4165600" y="6280151"/>
            <a:ext cx="3860800" cy="366183"/>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8"/>
          <p:cNvSpPr txBox="1"/>
          <p:nvPr>
            <p:ph idx="12" type="sldNum"/>
          </p:nvPr>
        </p:nvSpPr>
        <p:spPr>
          <a:xfrm>
            <a:off x="406401" y="6309785"/>
            <a:ext cx="937684" cy="366183"/>
          </a:xfrm>
          <a:prstGeom prst="rect">
            <a:avLst/>
          </a:prstGeom>
          <a:noFill/>
          <a:ln>
            <a:noFill/>
          </a:ln>
        </p:spPr>
        <p:txBody>
          <a:bodyPr anchorCtr="0" anchor="ctr" bIns="45700" lIns="91425" spcFirstLastPara="1" rIns="91425" wrap="square" tIns="45700">
            <a:noAutofit/>
          </a:bodyPr>
          <a:lstStyle>
            <a:lvl1pPr indent="0" lvl="0"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1pPr>
            <a:lvl2pPr indent="0" lvl="1"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2pPr>
            <a:lvl3pPr indent="0" lvl="2"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3pPr>
            <a:lvl4pPr indent="0" lvl="3"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4pPr>
            <a:lvl5pPr indent="0" lvl="4"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5pPr>
            <a:lvl6pPr indent="0" lvl="5"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6pPr>
            <a:lvl7pPr indent="0" lvl="6"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7pPr>
            <a:lvl8pPr indent="0" lvl="7"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8pPr>
            <a:lvl9pPr indent="0" lvl="8" marL="0" marR="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406400" y="-165189"/>
            <a:ext cx="8534400" cy="1274323"/>
          </a:xfrm>
          <a:prstGeom prst="rect">
            <a:avLst/>
          </a:prstGeom>
          <a:noFill/>
          <a:ln>
            <a:noFill/>
          </a:ln>
        </p:spPr>
        <p:txBody>
          <a:bodyPr anchorCtr="0" anchor="b" bIns="45700" lIns="91425" spcFirstLastPara="1" rIns="91425" wrap="square" tIns="45700">
            <a:spAutoFit/>
          </a:bodyPr>
          <a:lstStyle>
            <a:lvl1pPr lvl="0" marR="0" rtl="0" algn="l">
              <a:lnSpc>
                <a:spcPct val="90000"/>
              </a:lnSpc>
              <a:spcBef>
                <a:spcPts val="0"/>
              </a:spcBef>
              <a:spcAft>
                <a:spcPts val="0"/>
              </a:spcAft>
              <a:buClr>
                <a:srgbClr val="000000"/>
              </a:buClr>
              <a:buSzPts val="1400"/>
              <a:buFont typeface="Arial"/>
              <a:buNone/>
              <a:defRPr b="0" i="0" sz="4267" u="none" cap="none" strike="noStrike">
                <a:solidFill>
                  <a:srgbClr val="F04A27"/>
                </a:solidFill>
                <a:latin typeface="Helvetica Neue Light"/>
                <a:ea typeface="Helvetica Neue Light"/>
                <a:cs typeface="Helvetica Neue Light"/>
                <a:sym typeface="Helvetica Neue Light"/>
              </a:defRPr>
            </a:lvl1pPr>
            <a:lvl2pPr lvl="1" marR="0" rtl="0" algn="l">
              <a:lnSpc>
                <a:spcPct val="90000"/>
              </a:lnSpc>
              <a:spcBef>
                <a:spcPts val="0"/>
              </a:spcBef>
              <a:spcAft>
                <a:spcPts val="0"/>
              </a:spcAft>
              <a:buClr>
                <a:srgbClr val="000000"/>
              </a:buClr>
              <a:buSzPts val="1400"/>
              <a:buFont typeface="Arial"/>
              <a:buNone/>
              <a:defRPr b="0" i="0" sz="4267" u="none" cap="none" strike="noStrike">
                <a:solidFill>
                  <a:srgbClr val="F04A27"/>
                </a:solidFill>
                <a:latin typeface="Helvetica Neue Light"/>
                <a:ea typeface="Helvetica Neue Light"/>
                <a:cs typeface="Helvetica Neue Light"/>
                <a:sym typeface="Helvetica Neue Light"/>
              </a:defRPr>
            </a:lvl2pPr>
            <a:lvl3pPr lvl="2" marR="0" rtl="0" algn="l">
              <a:lnSpc>
                <a:spcPct val="90000"/>
              </a:lnSpc>
              <a:spcBef>
                <a:spcPts val="0"/>
              </a:spcBef>
              <a:spcAft>
                <a:spcPts val="0"/>
              </a:spcAft>
              <a:buClr>
                <a:srgbClr val="000000"/>
              </a:buClr>
              <a:buSzPts val="1400"/>
              <a:buFont typeface="Arial"/>
              <a:buNone/>
              <a:defRPr b="0" i="0" sz="4267" u="none" cap="none" strike="noStrike">
                <a:solidFill>
                  <a:srgbClr val="F04A27"/>
                </a:solidFill>
                <a:latin typeface="Helvetica Neue Light"/>
                <a:ea typeface="Helvetica Neue Light"/>
                <a:cs typeface="Helvetica Neue Light"/>
                <a:sym typeface="Helvetica Neue Light"/>
              </a:defRPr>
            </a:lvl3pPr>
            <a:lvl4pPr lvl="3" marR="0" rtl="0" algn="l">
              <a:lnSpc>
                <a:spcPct val="90000"/>
              </a:lnSpc>
              <a:spcBef>
                <a:spcPts val="0"/>
              </a:spcBef>
              <a:spcAft>
                <a:spcPts val="0"/>
              </a:spcAft>
              <a:buClr>
                <a:srgbClr val="000000"/>
              </a:buClr>
              <a:buSzPts val="1400"/>
              <a:buFont typeface="Arial"/>
              <a:buNone/>
              <a:defRPr b="0" i="0" sz="4267" u="none" cap="none" strike="noStrike">
                <a:solidFill>
                  <a:srgbClr val="F04A27"/>
                </a:solidFill>
                <a:latin typeface="Helvetica Neue Light"/>
                <a:ea typeface="Helvetica Neue Light"/>
                <a:cs typeface="Helvetica Neue Light"/>
                <a:sym typeface="Helvetica Neue Light"/>
              </a:defRPr>
            </a:lvl4pPr>
            <a:lvl5pPr lvl="4" marR="0" rtl="0" algn="l">
              <a:lnSpc>
                <a:spcPct val="90000"/>
              </a:lnSpc>
              <a:spcBef>
                <a:spcPts val="0"/>
              </a:spcBef>
              <a:spcAft>
                <a:spcPts val="0"/>
              </a:spcAft>
              <a:buClr>
                <a:srgbClr val="000000"/>
              </a:buClr>
              <a:buSzPts val="1400"/>
              <a:buFont typeface="Arial"/>
              <a:buNone/>
              <a:defRPr b="0" i="0" sz="4267" u="none" cap="none" strike="noStrike">
                <a:solidFill>
                  <a:srgbClr val="F04A27"/>
                </a:solidFill>
                <a:latin typeface="Helvetica Neue Light"/>
                <a:ea typeface="Helvetica Neue Light"/>
                <a:cs typeface="Helvetica Neue Light"/>
                <a:sym typeface="Helvetica Neue Light"/>
              </a:defRPr>
            </a:lvl5pPr>
            <a:lvl6pPr lvl="5" marR="0" rtl="0" algn="l">
              <a:lnSpc>
                <a:spcPct val="90000"/>
              </a:lnSpc>
              <a:spcBef>
                <a:spcPts val="0"/>
              </a:spcBef>
              <a:spcAft>
                <a:spcPts val="0"/>
              </a:spcAft>
              <a:buClr>
                <a:srgbClr val="000000"/>
              </a:buClr>
              <a:buSzPts val="1400"/>
              <a:buFont typeface="Arial"/>
              <a:buNone/>
              <a:defRPr b="0" i="0" sz="4267" u="none" cap="none" strike="noStrike">
                <a:solidFill>
                  <a:schemeClr val="accent1"/>
                </a:solidFill>
                <a:latin typeface="Helvetica Neue Light"/>
                <a:ea typeface="Helvetica Neue Light"/>
                <a:cs typeface="Helvetica Neue Light"/>
                <a:sym typeface="Helvetica Neue Light"/>
              </a:defRPr>
            </a:lvl6pPr>
            <a:lvl7pPr lvl="6" marR="0" rtl="0" algn="l">
              <a:lnSpc>
                <a:spcPct val="90000"/>
              </a:lnSpc>
              <a:spcBef>
                <a:spcPts val="0"/>
              </a:spcBef>
              <a:spcAft>
                <a:spcPts val="0"/>
              </a:spcAft>
              <a:buClr>
                <a:srgbClr val="000000"/>
              </a:buClr>
              <a:buSzPts val="1400"/>
              <a:buFont typeface="Arial"/>
              <a:buNone/>
              <a:defRPr b="0" i="0" sz="4267" u="none" cap="none" strike="noStrike">
                <a:solidFill>
                  <a:schemeClr val="accent1"/>
                </a:solidFill>
                <a:latin typeface="Helvetica Neue Light"/>
                <a:ea typeface="Helvetica Neue Light"/>
                <a:cs typeface="Helvetica Neue Light"/>
                <a:sym typeface="Helvetica Neue Light"/>
              </a:defRPr>
            </a:lvl7pPr>
            <a:lvl8pPr lvl="7" marR="0" rtl="0" algn="l">
              <a:lnSpc>
                <a:spcPct val="90000"/>
              </a:lnSpc>
              <a:spcBef>
                <a:spcPts val="0"/>
              </a:spcBef>
              <a:spcAft>
                <a:spcPts val="0"/>
              </a:spcAft>
              <a:buClr>
                <a:srgbClr val="000000"/>
              </a:buClr>
              <a:buSzPts val="1400"/>
              <a:buFont typeface="Arial"/>
              <a:buNone/>
              <a:defRPr b="0" i="0" sz="4267" u="none" cap="none" strike="noStrike">
                <a:solidFill>
                  <a:schemeClr val="accent1"/>
                </a:solidFill>
                <a:latin typeface="Helvetica Neue Light"/>
                <a:ea typeface="Helvetica Neue Light"/>
                <a:cs typeface="Helvetica Neue Light"/>
                <a:sym typeface="Helvetica Neue Light"/>
              </a:defRPr>
            </a:lvl8pPr>
            <a:lvl9pPr lvl="8" marR="0" rtl="0" algn="l">
              <a:lnSpc>
                <a:spcPct val="90000"/>
              </a:lnSpc>
              <a:spcBef>
                <a:spcPts val="0"/>
              </a:spcBef>
              <a:spcAft>
                <a:spcPts val="0"/>
              </a:spcAft>
              <a:buClr>
                <a:srgbClr val="000000"/>
              </a:buClr>
              <a:buSzPts val="1400"/>
              <a:buFont typeface="Arial"/>
              <a:buNone/>
              <a:defRPr b="0" i="0" sz="4267" u="none" cap="none" strike="noStrike">
                <a:solidFill>
                  <a:schemeClr val="accent1"/>
                </a:solidFill>
                <a:latin typeface="Helvetica Neue Light"/>
                <a:ea typeface="Helvetica Neue Light"/>
                <a:cs typeface="Helvetica Neue Light"/>
                <a:sym typeface="Helvetica Neue Light"/>
              </a:defRPr>
            </a:lvl9pPr>
          </a:lstStyle>
          <a:p/>
        </p:txBody>
      </p:sp>
      <p:sp>
        <p:nvSpPr>
          <p:cNvPr id="11" name="Google Shape;11;p1"/>
          <p:cNvSpPr txBox="1"/>
          <p:nvPr>
            <p:ph idx="1" type="body"/>
          </p:nvPr>
        </p:nvSpPr>
        <p:spPr>
          <a:xfrm>
            <a:off x="406400" y="1507067"/>
            <a:ext cx="11379200" cy="4483100"/>
          </a:xfrm>
          <a:prstGeom prst="rect">
            <a:avLst/>
          </a:prstGeom>
          <a:noFill/>
          <a:ln>
            <a:noFill/>
          </a:ln>
        </p:spPr>
        <p:txBody>
          <a:bodyPr anchorCtr="0" anchor="t" bIns="45700" lIns="91425" spcFirstLastPara="1" rIns="91425" wrap="square" tIns="45700">
            <a:noAutofit/>
          </a:bodyPr>
          <a:lstStyle>
            <a:lvl1pPr indent="-414908" lvl="0" marL="457200" marR="0" rtl="0" algn="l">
              <a:lnSpc>
                <a:spcPct val="90000"/>
              </a:lnSpc>
              <a:spcBef>
                <a:spcPts val="533"/>
              </a:spcBef>
              <a:spcAft>
                <a:spcPts val="0"/>
              </a:spcAft>
              <a:buClr>
                <a:srgbClr val="262626"/>
              </a:buClr>
              <a:buSzPts val="2934"/>
              <a:buFont typeface="Noto Sans Symbols"/>
              <a:buChar char="▪"/>
              <a:defRPr b="0" i="0" sz="2667" u="none" cap="none" strike="noStrike">
                <a:solidFill>
                  <a:srgbClr val="262626"/>
                </a:solidFill>
                <a:latin typeface="Helvetica Neue Light"/>
                <a:ea typeface="Helvetica Neue Light"/>
                <a:cs typeface="Helvetica Neue Light"/>
                <a:sym typeface="Helvetica Neue Light"/>
              </a:defRPr>
            </a:lvl1pPr>
            <a:lvl2pPr indent="-342900" lvl="1" marL="914400" marR="0" rtl="0" algn="l">
              <a:lnSpc>
                <a:spcPct val="90000"/>
              </a:lnSpc>
              <a:spcBef>
                <a:spcPts val="533"/>
              </a:spcBef>
              <a:spcAft>
                <a:spcPts val="0"/>
              </a:spcAft>
              <a:buClr>
                <a:srgbClr val="262626"/>
              </a:buClr>
              <a:buSzPts val="1800"/>
              <a:buFont typeface="Arial"/>
              <a:buChar char="–"/>
              <a:defRPr b="0" i="0" sz="1800" u="none" cap="none" strike="noStrike">
                <a:solidFill>
                  <a:srgbClr val="262626"/>
                </a:solidFill>
                <a:latin typeface="Helvetica Neue Light"/>
                <a:ea typeface="Helvetica Neue Light"/>
                <a:cs typeface="Helvetica Neue Light"/>
                <a:sym typeface="Helvetica Neue Light"/>
              </a:defRPr>
            </a:lvl2pPr>
            <a:lvl3pPr indent="-320039" lvl="2" marL="1371600" marR="0" rtl="0" algn="l">
              <a:lnSpc>
                <a:spcPct val="90000"/>
              </a:lnSpc>
              <a:spcBef>
                <a:spcPts val="533"/>
              </a:spcBef>
              <a:spcAft>
                <a:spcPts val="0"/>
              </a:spcAft>
              <a:buClr>
                <a:srgbClr val="262626"/>
              </a:buClr>
              <a:buSzPts val="1440"/>
              <a:buFont typeface="Noto Sans Symbols"/>
              <a:buChar char="▪"/>
              <a:defRPr b="0" i="0" sz="1800" u="none" cap="none" strike="noStrike">
                <a:solidFill>
                  <a:srgbClr val="262626"/>
                </a:solidFill>
                <a:latin typeface="Helvetica Neue Light"/>
                <a:ea typeface="Helvetica Neue Light"/>
                <a:cs typeface="Helvetica Neue Light"/>
                <a:sym typeface="Helvetica Neue Light"/>
              </a:defRPr>
            </a:lvl3pPr>
            <a:lvl4pPr indent="-397954" lvl="3" marL="1828800" marR="0" rtl="0" algn="l">
              <a:lnSpc>
                <a:spcPct val="100000"/>
              </a:lnSpc>
              <a:spcBef>
                <a:spcPts val="533"/>
              </a:spcBef>
              <a:spcAft>
                <a:spcPts val="0"/>
              </a:spcAft>
              <a:buClr>
                <a:schemeClr val="dk1"/>
              </a:buClr>
              <a:buSzPts val="2667"/>
              <a:buFont typeface="Courier New"/>
              <a:buChar char="o"/>
              <a:defRPr b="0" i="0" sz="2667" u="none" cap="none" strike="noStrike">
                <a:solidFill>
                  <a:schemeClr val="dk1"/>
                </a:solidFill>
                <a:latin typeface="Calibri"/>
                <a:ea typeface="Calibri"/>
                <a:cs typeface="Calibri"/>
                <a:sym typeface="Calibri"/>
              </a:defRPr>
            </a:lvl4pPr>
            <a:lvl5pPr indent="-228600" lvl="4" marL="2286000" marR="0" rtl="0" algn="l">
              <a:lnSpc>
                <a:spcPct val="100000"/>
              </a:lnSpc>
              <a:spcBef>
                <a:spcPts val="533"/>
              </a:spcBef>
              <a:spcAft>
                <a:spcPts val="0"/>
              </a:spcAft>
              <a:buClr>
                <a:srgbClr val="000000"/>
              </a:buClr>
              <a:buSzPts val="1400"/>
              <a:buFont typeface="Arial"/>
              <a:buNone/>
              <a:defRPr b="0" i="0" sz="2667" u="none" cap="none" strike="noStrike">
                <a:solidFill>
                  <a:schemeClr val="dk1"/>
                </a:solidFill>
                <a:latin typeface="Calibri"/>
                <a:ea typeface="Calibri"/>
                <a:cs typeface="Calibri"/>
                <a:sym typeface="Calibri"/>
              </a:defRPr>
            </a:lvl5pPr>
            <a:lvl6pPr indent="-397954" lvl="5" marL="27432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Calibri"/>
                <a:ea typeface="Calibri"/>
                <a:cs typeface="Calibri"/>
                <a:sym typeface="Calibri"/>
              </a:defRPr>
            </a:lvl6pPr>
            <a:lvl7pPr indent="-397954" lvl="6" marL="32004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Calibri"/>
                <a:ea typeface="Calibri"/>
                <a:cs typeface="Calibri"/>
                <a:sym typeface="Calibri"/>
              </a:defRPr>
            </a:lvl7pPr>
            <a:lvl8pPr indent="-397954" lvl="7" marL="36576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Calibri"/>
                <a:ea typeface="Calibri"/>
                <a:cs typeface="Calibri"/>
                <a:sym typeface="Calibri"/>
              </a:defRPr>
            </a:lvl8pPr>
            <a:lvl9pPr indent="-397954" lvl="8" marL="4114800" marR="0" rtl="0" algn="l">
              <a:lnSpc>
                <a:spcPct val="100000"/>
              </a:lnSpc>
              <a:spcBef>
                <a:spcPts val="533"/>
              </a:spcBef>
              <a:spcAft>
                <a:spcPts val="0"/>
              </a:spcAft>
              <a:buClr>
                <a:schemeClr val="dk1"/>
              </a:buClr>
              <a:buSzPts val="2667"/>
              <a:buFont typeface="Arial"/>
              <a:buChar char="•"/>
              <a:defRPr b="0" i="0" sz="2667" u="none" cap="none" strike="noStrike">
                <a:solidFill>
                  <a:schemeClr val="dk1"/>
                </a:solidFill>
                <a:latin typeface="Calibri"/>
                <a:ea typeface="Calibri"/>
                <a:cs typeface="Calibri"/>
                <a:sym typeface="Calibri"/>
              </a:defRPr>
            </a:lvl9pPr>
          </a:lstStyle>
          <a:p/>
        </p:txBody>
      </p:sp>
      <p:sp>
        <p:nvSpPr>
          <p:cNvPr id="12" name="Google Shape;12;p1"/>
          <p:cNvSpPr/>
          <p:nvPr/>
        </p:nvSpPr>
        <p:spPr>
          <a:xfrm>
            <a:off x="1" y="0"/>
            <a:ext cx="99484" cy="6858000"/>
          </a:xfrm>
          <a:prstGeom prst="rect">
            <a:avLst/>
          </a:prstGeom>
          <a:solidFill>
            <a:srgbClr val="F04A27"/>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Calibri"/>
              <a:ea typeface="Calibri"/>
              <a:cs typeface="Calibri"/>
              <a:sym typeface="Calibri"/>
            </a:endParaRPr>
          </a:p>
        </p:txBody>
      </p:sp>
      <p:sp>
        <p:nvSpPr>
          <p:cNvPr id="13" name="Google Shape;13;p1"/>
          <p:cNvSpPr txBox="1"/>
          <p:nvPr>
            <p:ph idx="11" type="ftr"/>
          </p:nvPr>
        </p:nvSpPr>
        <p:spPr>
          <a:xfrm>
            <a:off x="4165600" y="6280151"/>
            <a:ext cx="3860800" cy="366183"/>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600" u="none" cap="none" strike="noStrike">
                <a:solidFill>
                  <a:srgbClr val="888888"/>
                </a:solidFill>
                <a:latin typeface="Helvetica Neue Light"/>
                <a:ea typeface="Helvetica Neue Light"/>
                <a:cs typeface="Helvetica Neue Light"/>
                <a:sym typeface="Helvetica Neue Light"/>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1"/>
          <p:cNvSpPr txBox="1"/>
          <p:nvPr>
            <p:ph idx="12" type="sldNum"/>
          </p:nvPr>
        </p:nvSpPr>
        <p:spPr>
          <a:xfrm>
            <a:off x="406401" y="6309785"/>
            <a:ext cx="937684" cy="366183"/>
          </a:xfrm>
          <a:prstGeom prst="rect">
            <a:avLst/>
          </a:prstGeom>
          <a:noFill/>
          <a:ln>
            <a:noFill/>
          </a:ln>
        </p:spPr>
        <p:txBody>
          <a:bodyPr anchorCtr="0" anchor="ctr"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400"/>
              <a:buFont typeface="Arial"/>
              <a:buNone/>
              <a:defRPr b="0" i="0" sz="1400" u="none" cap="none" strike="noStrike">
                <a:solidFill>
                  <a:srgbClr val="1F497D"/>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pic>
        <p:nvPicPr>
          <p:cNvPr id="15" name="Google Shape;15;p1"/>
          <p:cNvPicPr preferRelativeResize="0"/>
          <p:nvPr/>
        </p:nvPicPr>
        <p:blipFill rotWithShape="1">
          <a:blip r:embed="rId1">
            <a:alphaModFix/>
          </a:blip>
          <a:srcRect b="0" l="0" r="0" t="0"/>
          <a:stretch/>
        </p:blipFill>
        <p:spPr>
          <a:xfrm>
            <a:off x="10526185" y="6229351"/>
            <a:ext cx="1475316" cy="529167"/>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9"/>
          <p:cNvSpPr txBox="1"/>
          <p:nvPr>
            <p:ph type="ctrTitle"/>
          </p:nvPr>
        </p:nvSpPr>
        <p:spPr>
          <a:xfrm>
            <a:off x="261962" y="2923534"/>
            <a:ext cx="11668200" cy="923400"/>
          </a:xfrm>
          <a:prstGeom prst="rect">
            <a:avLst/>
          </a:prstGeom>
          <a:noFill/>
          <a:ln>
            <a:noFill/>
          </a:ln>
        </p:spPr>
        <p:txBody>
          <a:bodyPr anchorCtr="0" anchor="ctr" bIns="45700" lIns="91425" spcFirstLastPara="1" rIns="91425" wrap="square" tIns="45700">
            <a:spAutoFit/>
          </a:bodyPr>
          <a:lstStyle/>
          <a:p>
            <a:pPr indent="0" lvl="0" marL="0" rtl="0" algn="ctr">
              <a:lnSpc>
                <a:spcPct val="90000"/>
              </a:lnSpc>
              <a:spcBef>
                <a:spcPts val="0"/>
              </a:spcBef>
              <a:spcAft>
                <a:spcPts val="0"/>
              </a:spcAft>
              <a:buSzPts val="1400"/>
              <a:buNone/>
            </a:pPr>
            <a:r>
              <a:rPr lang="en-US" sz="6000">
                <a:solidFill>
                  <a:srgbClr val="F04A27"/>
                </a:solidFill>
                <a:latin typeface="Calibri"/>
                <a:ea typeface="Calibri"/>
                <a:cs typeface="Calibri"/>
                <a:sym typeface="Calibri"/>
              </a:rPr>
              <a:t>Best Practices for RAG Applications</a:t>
            </a:r>
            <a:endParaRPr sz="6000">
              <a:solidFill>
                <a:srgbClr val="F04A27"/>
              </a:solidFill>
              <a:latin typeface="Calibri"/>
              <a:ea typeface="Calibri"/>
              <a:cs typeface="Calibri"/>
              <a:sym typeface="Calibri"/>
            </a:endParaRPr>
          </a:p>
        </p:txBody>
      </p:sp>
      <p:sp>
        <p:nvSpPr>
          <p:cNvPr id="56" name="Google Shape;56;p9"/>
          <p:cNvSpPr txBox="1"/>
          <p:nvPr>
            <p:ph idx="1" type="subTitle"/>
          </p:nvPr>
        </p:nvSpPr>
        <p:spPr>
          <a:xfrm>
            <a:off x="623900" y="5146394"/>
            <a:ext cx="10944300" cy="480300"/>
          </a:xfrm>
          <a:prstGeom prst="rect">
            <a:avLst/>
          </a:prstGeom>
          <a:noFill/>
          <a:ln>
            <a:noFill/>
          </a:ln>
        </p:spPr>
        <p:txBody>
          <a:bodyPr anchorCtr="0" anchor="t" bIns="45700" lIns="91425" spcFirstLastPara="1" rIns="91425" wrap="square" tIns="45700">
            <a:spAutoFit/>
          </a:bodyPr>
          <a:lstStyle/>
          <a:p>
            <a:pPr indent="0" lvl="0" marL="0" rtl="0" algn="ctr">
              <a:lnSpc>
                <a:spcPct val="90000"/>
              </a:lnSpc>
              <a:spcBef>
                <a:spcPts val="0"/>
              </a:spcBef>
              <a:spcAft>
                <a:spcPts val="0"/>
              </a:spcAft>
              <a:buClr>
                <a:srgbClr val="58595B"/>
              </a:buClr>
              <a:buSzPts val="3080"/>
              <a:buNone/>
            </a:pPr>
            <a:r>
              <a:rPr lang="en-US" sz="2800">
                <a:solidFill>
                  <a:srgbClr val="58595B"/>
                </a:solidFill>
                <a:latin typeface="Calibri"/>
                <a:ea typeface="Calibri"/>
                <a:cs typeface="Calibri"/>
                <a:sym typeface="Calibri"/>
              </a:rPr>
              <a:t>Michele Luca Contalbo</a:t>
            </a:r>
            <a:endParaRPr sz="2800">
              <a:solidFill>
                <a:srgbClr val="58595B"/>
              </a:solidFill>
              <a:latin typeface="Calibri"/>
              <a:ea typeface="Calibri"/>
              <a:cs typeface="Calibri"/>
              <a:sym typeface="Calibri"/>
            </a:endParaRPr>
          </a:p>
        </p:txBody>
      </p:sp>
      <p:sp>
        <p:nvSpPr>
          <p:cNvPr id="57" name="Google Shape;57;p9"/>
          <p:cNvSpPr txBox="1"/>
          <p:nvPr>
            <p:ph idx="2" type="body"/>
          </p:nvPr>
        </p:nvSpPr>
        <p:spPr>
          <a:xfrm>
            <a:off x="2731340" y="5685373"/>
            <a:ext cx="6729300" cy="512100"/>
          </a:xfrm>
          <a:prstGeom prst="rect">
            <a:avLst/>
          </a:prstGeom>
          <a:noFill/>
          <a:ln>
            <a:noFill/>
          </a:ln>
        </p:spPr>
        <p:txBody>
          <a:bodyPr anchorCtr="0" anchor="t" bIns="45700" lIns="91425" spcFirstLastPara="1" rIns="91425" wrap="square" tIns="45700">
            <a:noAutofit/>
          </a:bodyPr>
          <a:lstStyle/>
          <a:p>
            <a:pPr indent="0" lvl="0" marL="0" rtl="0" algn="ctr">
              <a:lnSpc>
                <a:spcPct val="90000"/>
              </a:lnSpc>
              <a:spcBef>
                <a:spcPts val="0"/>
              </a:spcBef>
              <a:spcAft>
                <a:spcPts val="0"/>
              </a:spcAft>
              <a:buClr>
                <a:srgbClr val="58595B"/>
              </a:buClr>
              <a:buSzPts val="3080"/>
              <a:buNone/>
            </a:pPr>
            <a:r>
              <a:rPr lang="en-US" sz="2600">
                <a:solidFill>
                  <a:srgbClr val="58595B"/>
                </a:solidFill>
                <a:latin typeface="Calibri"/>
                <a:ea typeface="Calibri"/>
                <a:cs typeface="Calibri"/>
                <a:sym typeface="Calibri"/>
              </a:rPr>
              <a:t>micheleluca.contalbo</a:t>
            </a:r>
            <a:r>
              <a:rPr lang="en-US" sz="2600">
                <a:solidFill>
                  <a:srgbClr val="58595B"/>
                </a:solidFill>
                <a:latin typeface="Calibri"/>
                <a:ea typeface="Calibri"/>
                <a:cs typeface="Calibri"/>
                <a:sym typeface="Calibri"/>
              </a:rPr>
              <a:t>@unimore.it</a:t>
            </a:r>
            <a:endParaRPr sz="2600">
              <a:solidFill>
                <a:srgbClr val="58595B"/>
              </a:solidFill>
              <a:latin typeface="Calibri"/>
              <a:ea typeface="Calibri"/>
              <a:cs typeface="Calibri"/>
              <a:sym typeface="Calibri"/>
            </a:endParaRPr>
          </a:p>
          <a:p>
            <a:pPr indent="0" lvl="0" marL="0" rtl="0" algn="ctr">
              <a:lnSpc>
                <a:spcPct val="90000"/>
              </a:lnSpc>
              <a:spcBef>
                <a:spcPts val="0"/>
              </a:spcBef>
              <a:spcAft>
                <a:spcPts val="0"/>
              </a:spcAft>
              <a:buClr>
                <a:srgbClr val="58595B"/>
              </a:buClr>
              <a:buSzPts val="3080"/>
              <a:buNone/>
            </a:pPr>
            <a:r>
              <a:rPr lang="en-US" sz="2600">
                <a:solidFill>
                  <a:srgbClr val="58595B"/>
                </a:solidFill>
                <a:latin typeface="Calibri"/>
                <a:ea typeface="Calibri"/>
                <a:cs typeface="Calibri"/>
                <a:sym typeface="Calibri"/>
              </a:rPr>
              <a:t>University of Modena and Reggio Emilia, Italy</a:t>
            </a:r>
            <a:endParaRPr sz="2467">
              <a:solidFill>
                <a:srgbClr val="58595B"/>
              </a:solidFill>
              <a:latin typeface="Calibri"/>
              <a:ea typeface="Calibri"/>
              <a:cs typeface="Calibri"/>
              <a:sym typeface="Calibri"/>
            </a:endParaRPr>
          </a:p>
        </p:txBody>
      </p:sp>
      <p:sp>
        <p:nvSpPr>
          <p:cNvPr id="58" name="Google Shape;58;p9"/>
          <p:cNvSpPr txBox="1"/>
          <p:nvPr>
            <p:ph idx="12" type="sldNum"/>
          </p:nvPr>
        </p:nvSpPr>
        <p:spPr>
          <a:xfrm>
            <a:off x="11409045" y="6333134"/>
            <a:ext cx="731700" cy="525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0"/>
          <p:cNvSpPr/>
          <p:nvPr/>
        </p:nvSpPr>
        <p:spPr>
          <a:xfrm>
            <a:off x="387675" y="1738350"/>
            <a:ext cx="10593600" cy="916800"/>
          </a:xfrm>
          <a:prstGeom prst="roundRect">
            <a:avLst>
              <a:gd fmla="val 16667" name="adj"/>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Light"/>
              <a:ea typeface="Helvetica Neue Light"/>
              <a:cs typeface="Helvetica Neue Light"/>
              <a:sym typeface="Helvetica Neue Light"/>
            </a:endParaRPr>
          </a:p>
        </p:txBody>
      </p:sp>
      <p:sp>
        <p:nvSpPr>
          <p:cNvPr id="65" name="Google Shape;65;p10"/>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Relevant resources</a:t>
            </a:r>
            <a:endParaRPr sz="3200">
              <a:latin typeface="Calibri"/>
              <a:ea typeface="Calibri"/>
              <a:cs typeface="Calibri"/>
              <a:sym typeface="Calibri"/>
            </a:endParaRPr>
          </a:p>
        </p:txBody>
      </p:sp>
      <p:sp>
        <p:nvSpPr>
          <p:cNvPr id="66" name="Google Shape;66;p10"/>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67" name="Google Shape;67;p10"/>
          <p:cNvSpPr txBox="1"/>
          <p:nvPr/>
        </p:nvSpPr>
        <p:spPr>
          <a:xfrm>
            <a:off x="345392" y="1753834"/>
            <a:ext cx="11365500" cy="4802400"/>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0"/>
              </a:spcBef>
              <a:spcAft>
                <a:spcPts val="0"/>
              </a:spcAft>
              <a:buClr>
                <a:srgbClr val="262626"/>
              </a:buClr>
              <a:buSzPts val="2000"/>
              <a:buFont typeface="Helvetica Neue Light"/>
              <a:buChar char="●"/>
            </a:pPr>
            <a:r>
              <a:rPr i="1" lang="en-US" sz="2000">
                <a:solidFill>
                  <a:srgbClr val="262626"/>
                </a:solidFill>
                <a:latin typeface="Helvetica Neue Light"/>
                <a:ea typeface="Helvetica Neue Light"/>
                <a:cs typeface="Helvetica Neue Light"/>
                <a:sym typeface="Helvetica Neue Light"/>
              </a:rPr>
              <a:t>Searching for Best Practices in Retrieval-Augmented Generation</a:t>
            </a:r>
            <a:r>
              <a:rPr lang="en-US" sz="2000">
                <a:solidFill>
                  <a:srgbClr val="262626"/>
                </a:solidFill>
                <a:latin typeface="Helvetica Neue Light"/>
                <a:ea typeface="Helvetica Neue Light"/>
                <a:cs typeface="Helvetica Neue Light"/>
                <a:sym typeface="Helvetica Neue Light"/>
              </a:rPr>
              <a:t>, Wang et al., EMNLP 2024</a:t>
            </a:r>
            <a:endParaRPr sz="2000">
              <a:solidFill>
                <a:srgbClr val="262626"/>
              </a:solidFill>
              <a:latin typeface="Helvetica Neue Light"/>
              <a:ea typeface="Helvetica Neue Light"/>
              <a:cs typeface="Helvetica Neue Light"/>
              <a:sym typeface="Helvetica Neue Light"/>
            </a:endParaRPr>
          </a:p>
          <a:p>
            <a:pPr indent="-355600" lvl="0" marL="457200" marR="0" rtl="0" algn="l">
              <a:lnSpc>
                <a:spcPct val="100000"/>
              </a:lnSpc>
              <a:spcBef>
                <a:spcPts val="0"/>
              </a:spcBef>
              <a:spcAft>
                <a:spcPts val="0"/>
              </a:spcAft>
              <a:buClr>
                <a:srgbClr val="262626"/>
              </a:buClr>
              <a:buSzPts val="2000"/>
              <a:buFont typeface="Helvetica Neue Light"/>
              <a:buChar char="●"/>
            </a:pPr>
            <a:r>
              <a:rPr i="1" lang="en-US" sz="2000">
                <a:solidFill>
                  <a:srgbClr val="262626"/>
                </a:solidFill>
                <a:latin typeface="Helvetica Neue Light"/>
                <a:ea typeface="Helvetica Neue Light"/>
                <a:cs typeface="Helvetica Neue Light"/>
                <a:sym typeface="Helvetica Neue Light"/>
              </a:rPr>
              <a:t>Dense X Retrieval: What Retrieval Granularity Should We Use?</a:t>
            </a:r>
            <a:r>
              <a:rPr lang="en-US" sz="2000">
                <a:solidFill>
                  <a:srgbClr val="262626"/>
                </a:solidFill>
                <a:latin typeface="Helvetica Neue Light"/>
                <a:ea typeface="Helvetica Neue Light"/>
                <a:cs typeface="Helvetica Neue Light"/>
                <a:sym typeface="Helvetica Neue Light"/>
              </a:rPr>
              <a:t>, Chen et al., EMNLP 2024</a:t>
            </a:r>
            <a:endParaRPr sz="2000">
              <a:solidFill>
                <a:srgbClr val="262626"/>
              </a:solidFill>
              <a:latin typeface="Helvetica Neue Light"/>
              <a:ea typeface="Helvetica Neue Light"/>
              <a:cs typeface="Helvetica Neue Light"/>
              <a:sym typeface="Helvetica Neue Light"/>
            </a:endParaRPr>
          </a:p>
          <a:p>
            <a:pPr indent="0" lvl="0" marL="457200" marR="0" rtl="0" algn="l">
              <a:lnSpc>
                <a:spcPct val="100000"/>
              </a:lnSpc>
              <a:spcBef>
                <a:spcPts val="0"/>
              </a:spcBef>
              <a:spcAft>
                <a:spcPts val="0"/>
              </a:spcAft>
              <a:buNone/>
            </a:pPr>
            <a:r>
              <a:t/>
            </a:r>
            <a:endParaRPr sz="2000">
              <a:solidFill>
                <a:srgbClr val="262626"/>
              </a:solidFill>
              <a:latin typeface="Helvetica Neue Light"/>
              <a:ea typeface="Helvetica Neue Light"/>
              <a:cs typeface="Helvetica Neue Light"/>
              <a:sym typeface="Helvetica Neue Light"/>
            </a:endParaRPr>
          </a:p>
          <a:p>
            <a:pPr indent="0" lvl="0" marL="457200" marR="0" rtl="0" algn="l">
              <a:lnSpc>
                <a:spcPct val="100000"/>
              </a:lnSpc>
              <a:spcBef>
                <a:spcPts val="0"/>
              </a:spcBef>
              <a:spcAft>
                <a:spcPts val="0"/>
              </a:spcAft>
              <a:buNone/>
            </a:pPr>
            <a:r>
              <a:t/>
            </a:r>
            <a:endParaRPr sz="2000">
              <a:solidFill>
                <a:srgbClr val="262626"/>
              </a:solidFill>
              <a:latin typeface="Helvetica Neue Light"/>
              <a:ea typeface="Helvetica Neue Light"/>
              <a:cs typeface="Helvetica Neue Light"/>
              <a:sym typeface="Helvetica Neue Light"/>
            </a:endParaRPr>
          </a:p>
          <a:p>
            <a:pPr indent="0" lvl="0" marL="0" marR="0" rtl="0" algn="l">
              <a:lnSpc>
                <a:spcPct val="100000"/>
              </a:lnSpc>
              <a:spcBef>
                <a:spcPts val="0"/>
              </a:spcBef>
              <a:spcAft>
                <a:spcPts val="0"/>
              </a:spcAft>
              <a:buNone/>
            </a:pPr>
            <a:br>
              <a:rPr i="1" lang="en-US" sz="2000">
                <a:solidFill>
                  <a:srgbClr val="262626"/>
                </a:solidFill>
                <a:latin typeface="Helvetica Neue Light"/>
                <a:ea typeface="Helvetica Neue Light"/>
                <a:cs typeface="Helvetica Neue Light"/>
                <a:sym typeface="Helvetica Neue Light"/>
              </a:rPr>
            </a:br>
            <a:endParaRPr i="1" sz="2000">
              <a:solidFill>
                <a:srgbClr val="262626"/>
              </a:solidFill>
              <a:latin typeface="Helvetica Neue Light"/>
              <a:ea typeface="Helvetica Neue Light"/>
              <a:cs typeface="Helvetica Neue Light"/>
              <a:sym typeface="Helvetica Neue Light"/>
            </a:endParaRPr>
          </a:p>
          <a:p>
            <a:pPr indent="-355600" lvl="0" marL="457200" marR="0" rtl="0" algn="l">
              <a:lnSpc>
                <a:spcPct val="100000"/>
              </a:lnSpc>
              <a:spcBef>
                <a:spcPts val="0"/>
              </a:spcBef>
              <a:spcAft>
                <a:spcPts val="0"/>
              </a:spcAft>
              <a:buClr>
                <a:srgbClr val="262626"/>
              </a:buClr>
              <a:buSzPts val="2000"/>
              <a:buFont typeface="Helvetica Neue Light"/>
              <a:buChar char="●"/>
            </a:pPr>
            <a:r>
              <a:rPr i="1" lang="en-US" sz="2000">
                <a:solidFill>
                  <a:srgbClr val="262626"/>
                </a:solidFill>
                <a:latin typeface="Helvetica Neue Light"/>
                <a:ea typeface="Helvetica Neue Light"/>
                <a:cs typeface="Helvetica Neue Light"/>
                <a:sym typeface="Helvetica Neue Light"/>
              </a:rPr>
              <a:t>Lost in the Middle: How Language Models Use Long Contexts</a:t>
            </a:r>
            <a:r>
              <a:rPr lang="en-US" sz="2000">
                <a:solidFill>
                  <a:srgbClr val="262626"/>
                </a:solidFill>
                <a:latin typeface="Helvetica Neue Light"/>
                <a:ea typeface="Helvetica Neue Light"/>
                <a:cs typeface="Helvetica Neue Light"/>
                <a:sym typeface="Helvetica Neue Light"/>
              </a:rPr>
              <a:t>, Liu et al., TACL 2024</a:t>
            </a:r>
            <a:endParaRPr sz="2000">
              <a:solidFill>
                <a:srgbClr val="262626"/>
              </a:solidFill>
              <a:latin typeface="Helvetica Neue Light"/>
              <a:ea typeface="Helvetica Neue Light"/>
              <a:cs typeface="Helvetica Neue Light"/>
              <a:sym typeface="Helvetica Neue Light"/>
            </a:endParaRPr>
          </a:p>
          <a:p>
            <a:pPr indent="-355600" lvl="0" marL="457200" marR="0" rtl="0" algn="l">
              <a:lnSpc>
                <a:spcPct val="100000"/>
              </a:lnSpc>
              <a:spcBef>
                <a:spcPts val="0"/>
              </a:spcBef>
              <a:spcAft>
                <a:spcPts val="0"/>
              </a:spcAft>
              <a:buClr>
                <a:srgbClr val="262626"/>
              </a:buClr>
              <a:buSzPts val="2000"/>
              <a:buFont typeface="Helvetica Neue Light"/>
              <a:buChar char="●"/>
            </a:pPr>
            <a:r>
              <a:rPr i="1" lang="en-US" sz="2000">
                <a:solidFill>
                  <a:srgbClr val="262626"/>
                </a:solidFill>
                <a:latin typeface="Helvetica Neue Light"/>
                <a:ea typeface="Helvetica Neue Light"/>
                <a:cs typeface="Helvetica Neue Light"/>
                <a:sym typeface="Helvetica Neue Light"/>
              </a:rPr>
              <a:t>BEIR: A Heterogenous Benchmark for Zero-shot Evaluation of Information Retrieval Models,</a:t>
            </a:r>
            <a:r>
              <a:rPr lang="en-US" sz="2000">
                <a:solidFill>
                  <a:srgbClr val="262626"/>
                </a:solidFill>
                <a:latin typeface="Helvetica Neue Light"/>
                <a:ea typeface="Helvetica Neue Light"/>
                <a:cs typeface="Helvetica Neue Light"/>
                <a:sym typeface="Helvetica Neue Light"/>
              </a:rPr>
              <a:t> Thakur et al., NeurIPS 2021</a:t>
            </a:r>
            <a:endParaRPr sz="2000">
              <a:solidFill>
                <a:srgbClr val="262626"/>
              </a:solidFill>
              <a:latin typeface="Helvetica Neue Light"/>
              <a:ea typeface="Helvetica Neue Light"/>
              <a:cs typeface="Helvetica Neue Light"/>
              <a:sym typeface="Helvetica Neue Light"/>
            </a:endParaRPr>
          </a:p>
          <a:p>
            <a:pPr indent="-355600" lvl="0" marL="457200" marR="0" rtl="0" algn="l">
              <a:lnSpc>
                <a:spcPct val="100000"/>
              </a:lnSpc>
              <a:spcBef>
                <a:spcPts val="0"/>
              </a:spcBef>
              <a:spcAft>
                <a:spcPts val="0"/>
              </a:spcAft>
              <a:buClr>
                <a:srgbClr val="262626"/>
              </a:buClr>
              <a:buSzPts val="2000"/>
              <a:buFont typeface="Helvetica Neue Light"/>
              <a:buChar char="●"/>
            </a:pPr>
            <a:r>
              <a:rPr i="1" lang="en-US" sz="2000">
                <a:solidFill>
                  <a:srgbClr val="262626"/>
                </a:solidFill>
                <a:latin typeface="Helvetica Neue Light"/>
                <a:ea typeface="Helvetica Neue Light"/>
                <a:cs typeface="Helvetica Neue Light"/>
                <a:sym typeface="Helvetica Neue Light"/>
              </a:rPr>
              <a:t>ColBERT: Efficient and Effective Passage Search via Contextualized Late Interaction over BERT</a:t>
            </a:r>
            <a:r>
              <a:rPr lang="en-US" sz="2000">
                <a:solidFill>
                  <a:srgbClr val="262626"/>
                </a:solidFill>
                <a:latin typeface="Helvetica Neue Light"/>
                <a:ea typeface="Helvetica Neue Light"/>
                <a:cs typeface="Helvetica Neue Light"/>
                <a:sym typeface="Helvetica Neue Light"/>
              </a:rPr>
              <a:t>, Khattab et al., SIGIR 2020</a:t>
            </a:r>
            <a:endParaRPr sz="2000">
              <a:solidFill>
                <a:srgbClr val="262626"/>
              </a:solidFill>
              <a:latin typeface="Helvetica Neue Light"/>
              <a:ea typeface="Helvetica Neue Light"/>
              <a:cs typeface="Helvetica Neue Light"/>
              <a:sym typeface="Helvetica Neue Light"/>
            </a:endParaRPr>
          </a:p>
          <a:p>
            <a:pPr indent="-355600" lvl="0" marL="457200" marR="0" rtl="0" algn="l">
              <a:lnSpc>
                <a:spcPct val="100000"/>
              </a:lnSpc>
              <a:spcBef>
                <a:spcPts val="0"/>
              </a:spcBef>
              <a:spcAft>
                <a:spcPts val="0"/>
              </a:spcAft>
              <a:buClr>
                <a:srgbClr val="262626"/>
              </a:buClr>
              <a:buSzPts val="2000"/>
              <a:buFont typeface="Helvetica Neue Light"/>
              <a:buChar char="●"/>
            </a:pPr>
            <a:r>
              <a:rPr i="1" lang="en-US" sz="2000">
                <a:solidFill>
                  <a:srgbClr val="262626"/>
                </a:solidFill>
                <a:latin typeface="Helvetica Neue Light"/>
                <a:ea typeface="Helvetica Neue Light"/>
                <a:cs typeface="Helvetica Neue Light"/>
                <a:sym typeface="Helvetica Neue Light"/>
              </a:rPr>
              <a:t>Document Expansion by Query Prediction</a:t>
            </a:r>
            <a:r>
              <a:rPr lang="en-US" sz="2000">
                <a:solidFill>
                  <a:srgbClr val="262626"/>
                </a:solidFill>
                <a:latin typeface="Helvetica Neue Light"/>
                <a:ea typeface="Helvetica Neue Light"/>
                <a:cs typeface="Helvetica Neue Light"/>
                <a:sym typeface="Helvetica Neue Light"/>
              </a:rPr>
              <a:t>, Nogueira et al., ArXiv 2019</a:t>
            </a:r>
            <a:endParaRPr sz="2000">
              <a:solidFill>
                <a:srgbClr val="262626"/>
              </a:solidFill>
              <a:latin typeface="Helvetica Neue Light"/>
              <a:ea typeface="Helvetica Neue Light"/>
              <a:cs typeface="Helvetica Neue Light"/>
              <a:sym typeface="Helvetica Neue Light"/>
            </a:endParaRPr>
          </a:p>
          <a:p>
            <a:pPr indent="-355600" lvl="0" marL="457200" marR="0" rtl="0" algn="l">
              <a:lnSpc>
                <a:spcPct val="100000"/>
              </a:lnSpc>
              <a:spcBef>
                <a:spcPts val="0"/>
              </a:spcBef>
              <a:spcAft>
                <a:spcPts val="0"/>
              </a:spcAft>
              <a:buClr>
                <a:srgbClr val="262626"/>
              </a:buClr>
              <a:buSzPts val="2000"/>
              <a:buFont typeface="Helvetica Neue Light"/>
              <a:buChar char="●"/>
            </a:pPr>
            <a:r>
              <a:rPr i="1" lang="en-US" sz="2000">
                <a:solidFill>
                  <a:srgbClr val="262626"/>
                </a:solidFill>
                <a:latin typeface="Helvetica Neue Light"/>
                <a:ea typeface="Helvetica Neue Light"/>
                <a:cs typeface="Helvetica Neue Light"/>
                <a:sym typeface="Helvetica Neue Light"/>
              </a:rPr>
              <a:t>Query Rewriting in Retrieval-Augmented Large Language Models</a:t>
            </a:r>
            <a:r>
              <a:rPr lang="en-US" sz="2000">
                <a:solidFill>
                  <a:srgbClr val="262626"/>
                </a:solidFill>
                <a:latin typeface="Helvetica Neue Light"/>
                <a:ea typeface="Helvetica Neue Light"/>
                <a:cs typeface="Helvetica Neue Light"/>
                <a:sym typeface="Helvetica Neue Light"/>
              </a:rPr>
              <a:t>, Ma et al., EMNLP 2023</a:t>
            </a:r>
            <a:endParaRPr sz="2000">
              <a:solidFill>
                <a:srgbClr val="262626"/>
              </a:solidFill>
              <a:latin typeface="Helvetica Neue Light"/>
              <a:ea typeface="Helvetica Neue Light"/>
              <a:cs typeface="Helvetica Neue Light"/>
              <a:sym typeface="Helvetica Neue Light"/>
            </a:endParaRPr>
          </a:p>
          <a:p>
            <a:pPr indent="-355600" lvl="0" marL="457200" marR="0" rtl="0" algn="l">
              <a:lnSpc>
                <a:spcPct val="100000"/>
              </a:lnSpc>
              <a:spcBef>
                <a:spcPts val="0"/>
              </a:spcBef>
              <a:spcAft>
                <a:spcPts val="0"/>
              </a:spcAft>
              <a:buClr>
                <a:srgbClr val="262626"/>
              </a:buClr>
              <a:buSzPts val="2000"/>
              <a:buFont typeface="Helvetica Neue Light"/>
              <a:buChar char="●"/>
            </a:pPr>
            <a:r>
              <a:rPr i="1" lang="en-US" sz="2000">
                <a:solidFill>
                  <a:srgbClr val="262626"/>
                </a:solidFill>
                <a:latin typeface="Helvetica Neue Light"/>
                <a:ea typeface="Helvetica Neue Light"/>
                <a:cs typeface="Helvetica Neue Light"/>
                <a:sym typeface="Helvetica Neue Light"/>
              </a:rPr>
              <a:t>A Survey on Automated Fact-Checking</a:t>
            </a:r>
            <a:r>
              <a:rPr lang="en-US" sz="2000">
                <a:solidFill>
                  <a:srgbClr val="262626"/>
                </a:solidFill>
                <a:latin typeface="Helvetica Neue Light"/>
                <a:ea typeface="Helvetica Neue Light"/>
                <a:cs typeface="Helvetica Neue Light"/>
                <a:sym typeface="Helvetica Neue Light"/>
              </a:rPr>
              <a:t>, Guo et al., TACL 2022</a:t>
            </a:r>
            <a:endParaRPr sz="2000">
              <a:solidFill>
                <a:srgbClr val="262626"/>
              </a:solidFill>
              <a:latin typeface="Helvetica Neue Light"/>
              <a:ea typeface="Helvetica Neue Light"/>
              <a:cs typeface="Helvetica Neue Light"/>
              <a:sym typeface="Helvetica Neue Light"/>
            </a:endParaRPr>
          </a:p>
          <a:p>
            <a:pPr indent="-355600" lvl="0" marL="457200" marR="0" rtl="0" algn="l">
              <a:lnSpc>
                <a:spcPct val="100000"/>
              </a:lnSpc>
              <a:spcBef>
                <a:spcPts val="0"/>
              </a:spcBef>
              <a:spcAft>
                <a:spcPts val="0"/>
              </a:spcAft>
              <a:buClr>
                <a:srgbClr val="262626"/>
              </a:buClr>
              <a:buSzPts val="2000"/>
              <a:buFont typeface="Helvetica Neue Light"/>
              <a:buChar char="●"/>
            </a:pPr>
            <a:r>
              <a:rPr i="1" lang="en-US" sz="2000">
                <a:solidFill>
                  <a:srgbClr val="262626"/>
                </a:solidFill>
                <a:latin typeface="Helvetica Neue Light"/>
                <a:ea typeface="Helvetica Neue Light"/>
                <a:cs typeface="Helvetica Neue Light"/>
                <a:sym typeface="Helvetica Neue Light"/>
              </a:rPr>
              <a:t>Speech and Language Processing</a:t>
            </a:r>
            <a:r>
              <a:rPr lang="en-US" sz="2000">
                <a:solidFill>
                  <a:srgbClr val="262626"/>
                </a:solidFill>
                <a:latin typeface="Helvetica Neue Light"/>
                <a:ea typeface="Helvetica Neue Light"/>
                <a:cs typeface="Helvetica Neue Light"/>
                <a:sym typeface="Helvetica Neue Light"/>
              </a:rPr>
              <a:t>, D. Jurafsky, J.H. Martin, third edition</a:t>
            </a:r>
            <a:endParaRPr b="0" i="0" sz="2000" u="none" cap="none" strike="noStrike">
              <a:solidFill>
                <a:srgbClr val="262626"/>
              </a:solidFill>
              <a:latin typeface="Helvetica Neue Light"/>
              <a:ea typeface="Helvetica Neue Light"/>
              <a:cs typeface="Helvetica Neue Light"/>
              <a:sym typeface="Helvetica Neue Light"/>
            </a:endParaRPr>
          </a:p>
        </p:txBody>
      </p:sp>
      <p:sp>
        <p:nvSpPr>
          <p:cNvPr id="68" name="Google Shape;68;p10"/>
          <p:cNvSpPr txBox="1"/>
          <p:nvPr/>
        </p:nvSpPr>
        <p:spPr>
          <a:xfrm rot="490797">
            <a:off x="8522085" y="2809270"/>
            <a:ext cx="3072055" cy="484637"/>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2000">
                <a:solidFill>
                  <a:srgbClr val="FF0000"/>
                </a:solidFill>
                <a:latin typeface="Helvetica Neue Light"/>
                <a:ea typeface="Helvetica Neue Light"/>
                <a:cs typeface="Helvetica Neue Light"/>
                <a:sym typeface="Helvetica Neue Light"/>
              </a:rPr>
              <a:t>main inspiration for these slides!</a:t>
            </a:r>
            <a:endParaRPr sz="2000">
              <a:solidFill>
                <a:srgbClr val="FF0000"/>
              </a:solidFill>
              <a:latin typeface="Helvetica Neue Light"/>
              <a:ea typeface="Helvetica Neue Light"/>
              <a:cs typeface="Helvetica Neue Light"/>
              <a:sym typeface="Helvetica Neue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1"/>
          <p:cNvSpPr txBox="1"/>
          <p:nvPr>
            <p:ph type="title"/>
          </p:nvPr>
        </p:nvSpPr>
        <p:spPr>
          <a:xfrm>
            <a:off x="406400" y="425800"/>
            <a:ext cx="112311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Lecture Plan</a:t>
            </a:r>
            <a:endParaRPr sz="3200">
              <a:latin typeface="Calibri"/>
              <a:ea typeface="Calibri"/>
              <a:cs typeface="Calibri"/>
              <a:sym typeface="Calibri"/>
            </a:endParaRPr>
          </a:p>
        </p:txBody>
      </p:sp>
      <p:sp>
        <p:nvSpPr>
          <p:cNvPr id="75" name="Google Shape;75;p11"/>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76" name="Google Shape;76;p11"/>
          <p:cNvSpPr txBox="1"/>
          <p:nvPr/>
        </p:nvSpPr>
        <p:spPr>
          <a:xfrm>
            <a:off x="567950" y="1608550"/>
            <a:ext cx="11004600" cy="40383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chemeClr val="dk1"/>
              </a:buClr>
              <a:buSzPts val="2000"/>
              <a:buFont typeface="Helvetica Neue"/>
              <a:buChar char="●"/>
            </a:pPr>
            <a:r>
              <a:rPr b="1" lang="en-US" sz="2000">
                <a:solidFill>
                  <a:srgbClr val="262626"/>
                </a:solidFill>
                <a:latin typeface="Helvetica Neue"/>
                <a:ea typeface="Helvetica Neue"/>
                <a:cs typeface="Helvetica Neue"/>
                <a:sym typeface="Helvetica Neue"/>
              </a:rPr>
              <a:t>Retrieve &amp; Rerank pipeline and RAG</a:t>
            </a:r>
            <a:endParaRPr b="1" sz="2000">
              <a:solidFill>
                <a:srgbClr val="262626"/>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262626"/>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262626"/>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262626"/>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262626"/>
              </a:solidFill>
              <a:latin typeface="Helvetica Neue"/>
              <a:ea typeface="Helvetica Neue"/>
              <a:cs typeface="Helvetica Neue"/>
              <a:sym typeface="Helvetica Neue"/>
            </a:endParaRPr>
          </a:p>
          <a:p>
            <a:pPr indent="-355600" lvl="0" marL="457200" rtl="0" algn="l">
              <a:spcBef>
                <a:spcPts val="0"/>
              </a:spcBef>
              <a:spcAft>
                <a:spcPts val="0"/>
              </a:spcAft>
              <a:buClr>
                <a:srgbClr val="888888"/>
              </a:buClr>
              <a:buSzPts val="2000"/>
              <a:buFont typeface="Helvetica Neue"/>
              <a:buChar char="●"/>
            </a:pPr>
            <a:r>
              <a:rPr b="1" lang="en-US" sz="2000">
                <a:solidFill>
                  <a:srgbClr val="888888"/>
                </a:solidFill>
                <a:latin typeface="Helvetica Neue"/>
                <a:ea typeface="Helvetica Neue"/>
                <a:cs typeface="Helvetica Neue"/>
                <a:sym typeface="Helvetica Neue"/>
              </a:rPr>
              <a:t>Optimizing the performance of RAG</a:t>
            </a:r>
            <a:endParaRPr b="1" sz="2000">
              <a:solidFill>
                <a:srgbClr val="888888"/>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888888"/>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888888"/>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888888"/>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888888"/>
              </a:solidFill>
              <a:latin typeface="Helvetica Neue"/>
              <a:ea typeface="Helvetica Neue"/>
              <a:cs typeface="Helvetica Neue"/>
              <a:sym typeface="Helvetica Neue"/>
            </a:endParaRPr>
          </a:p>
          <a:p>
            <a:pPr indent="-355600" lvl="0" marL="457200" rtl="0" algn="l">
              <a:spcBef>
                <a:spcPts val="0"/>
              </a:spcBef>
              <a:spcAft>
                <a:spcPts val="0"/>
              </a:spcAft>
              <a:buClr>
                <a:srgbClr val="888888"/>
              </a:buClr>
              <a:buSzPts val="2000"/>
              <a:buFont typeface="Helvetica Neue"/>
              <a:buChar char="●"/>
            </a:pPr>
            <a:r>
              <a:rPr b="1" lang="en-US" sz="2000">
                <a:solidFill>
                  <a:srgbClr val="888888"/>
                </a:solidFill>
                <a:latin typeface="Helvetica Neue"/>
                <a:ea typeface="Helvetica Neue"/>
                <a:cs typeface="Helvetica Neue"/>
                <a:sym typeface="Helvetica Neue"/>
              </a:rPr>
              <a:t>Use case: Fact Checking</a:t>
            </a:r>
            <a:endParaRPr b="1" sz="2000">
              <a:solidFill>
                <a:srgbClr val="888888"/>
              </a:solidFill>
              <a:latin typeface="Helvetica Neue"/>
              <a:ea typeface="Helvetica Neue"/>
              <a:cs typeface="Helvetica Neue"/>
              <a:sym typeface="Helvetica Neu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2"/>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NLP is revolutionizing Information Retrieval (IR)</a:t>
            </a:r>
            <a:endParaRPr sz="3200">
              <a:latin typeface="Calibri"/>
              <a:ea typeface="Calibri"/>
              <a:cs typeface="Calibri"/>
              <a:sym typeface="Calibri"/>
            </a:endParaRPr>
          </a:p>
        </p:txBody>
      </p:sp>
      <p:sp>
        <p:nvSpPr>
          <p:cNvPr id="83" name="Google Shape;83;p12"/>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pic>
        <p:nvPicPr>
          <p:cNvPr id="84" name="Google Shape;84;p12"/>
          <p:cNvPicPr preferRelativeResize="0"/>
          <p:nvPr/>
        </p:nvPicPr>
        <p:blipFill>
          <a:blip r:embed="rId3">
            <a:alphaModFix/>
          </a:blip>
          <a:stretch>
            <a:fillRect/>
          </a:stretch>
        </p:blipFill>
        <p:spPr>
          <a:xfrm>
            <a:off x="1496601" y="1113705"/>
            <a:ext cx="8371643" cy="559189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3"/>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IR is a hard task</a:t>
            </a:r>
            <a:endParaRPr sz="3200">
              <a:latin typeface="Calibri"/>
              <a:ea typeface="Calibri"/>
              <a:cs typeface="Calibri"/>
              <a:sym typeface="Calibri"/>
            </a:endParaRPr>
          </a:p>
        </p:txBody>
      </p:sp>
      <p:sp>
        <p:nvSpPr>
          <p:cNvPr id="91" name="Google Shape;91;p13"/>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pic>
        <p:nvPicPr>
          <p:cNvPr id="92" name="Google Shape;92;p13"/>
          <p:cNvPicPr preferRelativeResize="0"/>
          <p:nvPr/>
        </p:nvPicPr>
        <p:blipFill>
          <a:blip r:embed="rId3">
            <a:alphaModFix/>
          </a:blip>
          <a:stretch>
            <a:fillRect/>
          </a:stretch>
        </p:blipFill>
        <p:spPr>
          <a:xfrm>
            <a:off x="5201949" y="1460274"/>
            <a:ext cx="6453750" cy="3937450"/>
          </a:xfrm>
          <a:prstGeom prst="rect">
            <a:avLst/>
          </a:prstGeom>
          <a:noFill/>
          <a:ln>
            <a:noFill/>
          </a:ln>
        </p:spPr>
      </p:pic>
      <p:sp>
        <p:nvSpPr>
          <p:cNvPr id="93" name="Google Shape;93;p13"/>
          <p:cNvSpPr txBox="1"/>
          <p:nvPr/>
        </p:nvSpPr>
        <p:spPr>
          <a:xfrm>
            <a:off x="567950" y="1460275"/>
            <a:ext cx="4565700" cy="456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chemeClr val="dk1"/>
                </a:solidFill>
                <a:latin typeface="Helvetica Neue Light"/>
                <a:ea typeface="Helvetica Neue Light"/>
                <a:cs typeface="Helvetica Neue Light"/>
                <a:sym typeface="Helvetica Neue Light"/>
              </a:rPr>
              <a:t>In retriever applications, a </a:t>
            </a:r>
            <a:r>
              <a:rPr b="1" lang="en-US" sz="2000">
                <a:solidFill>
                  <a:schemeClr val="dk1"/>
                </a:solidFill>
                <a:latin typeface="Helvetica Neue"/>
                <a:ea typeface="Helvetica Neue"/>
                <a:cs typeface="Helvetica Neue"/>
                <a:sym typeface="Helvetica Neue"/>
              </a:rPr>
              <a:t>query q</a:t>
            </a:r>
            <a:r>
              <a:rPr lang="en-US" sz="2000">
                <a:solidFill>
                  <a:schemeClr val="dk1"/>
                </a:solidFill>
                <a:latin typeface="Helvetica Neue Light"/>
                <a:ea typeface="Helvetica Neue Light"/>
                <a:cs typeface="Helvetica Neue Light"/>
                <a:sym typeface="Helvetica Neue Light"/>
              </a:rPr>
              <a:t> is used to search among a set of </a:t>
            </a:r>
            <a:r>
              <a:rPr b="1" lang="en-US" sz="2000">
                <a:solidFill>
                  <a:schemeClr val="dk1"/>
                </a:solidFill>
                <a:latin typeface="Helvetica Neue"/>
                <a:ea typeface="Helvetica Neue"/>
                <a:cs typeface="Helvetica Neue"/>
                <a:sym typeface="Helvetica Neue"/>
              </a:rPr>
              <a:t>candidate documents d</a:t>
            </a:r>
            <a:r>
              <a:rPr b="1" baseline="-25000" lang="en-US" sz="2000">
                <a:solidFill>
                  <a:schemeClr val="dk1"/>
                </a:solidFill>
                <a:latin typeface="Helvetica Neue"/>
                <a:ea typeface="Helvetica Neue"/>
                <a:cs typeface="Helvetica Neue"/>
                <a:sym typeface="Helvetica Neue"/>
              </a:rPr>
              <a:t>i…n</a:t>
            </a:r>
            <a:r>
              <a:rPr lang="en-US" sz="2000">
                <a:solidFill>
                  <a:schemeClr val="dk1"/>
                </a:solidFill>
                <a:latin typeface="Helvetica Neue Light"/>
                <a:ea typeface="Helvetica Neue Light"/>
                <a:cs typeface="Helvetica Neue Light"/>
                <a:sym typeface="Helvetica Neue Light"/>
              </a:rPr>
              <a:t>, returning the documents that match the best the “information need” requested by the query.</a:t>
            </a:r>
            <a:endParaRPr sz="2000">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2000">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2000">
                <a:solidFill>
                  <a:schemeClr val="dk1"/>
                </a:solidFill>
                <a:latin typeface="Helvetica Neue Light"/>
                <a:ea typeface="Helvetica Neue Light"/>
                <a:cs typeface="Helvetica Neue Light"/>
                <a:sym typeface="Helvetica Neue Light"/>
              </a:rPr>
              <a:t>A retriever application must be able to correctly quantify the similarity between the query and the document,</a:t>
            </a:r>
            <a:endParaRPr sz="2000">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2000">
              <a:solidFill>
                <a:schemeClr val="dk1"/>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b="1" lang="en-US" sz="2000">
                <a:solidFill>
                  <a:schemeClr val="dk1"/>
                </a:solidFill>
                <a:latin typeface="Helvetica Neue"/>
                <a:ea typeface="Helvetica Neue"/>
                <a:cs typeface="Helvetica Neue"/>
                <a:sym typeface="Helvetica Neue"/>
              </a:rPr>
              <a:t>even when the concepts are expressed using different terms, and there’s no lexical overlap.</a:t>
            </a:r>
            <a:endParaRPr b="1" sz="2000">
              <a:solidFill>
                <a:schemeClr val="dk1"/>
              </a:solidFill>
              <a:latin typeface="Helvetica Neue"/>
              <a:ea typeface="Helvetica Neue"/>
              <a:cs typeface="Helvetica Neue"/>
              <a:sym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4"/>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The retriever can be either sparse or dense</a:t>
            </a:r>
            <a:endParaRPr sz="3200">
              <a:latin typeface="Calibri"/>
              <a:ea typeface="Calibri"/>
              <a:cs typeface="Calibri"/>
              <a:sym typeface="Calibri"/>
            </a:endParaRPr>
          </a:p>
        </p:txBody>
      </p:sp>
      <p:sp>
        <p:nvSpPr>
          <p:cNvPr id="100" name="Google Shape;100;p14"/>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101" name="Google Shape;101;p14"/>
          <p:cNvSpPr txBox="1"/>
          <p:nvPr/>
        </p:nvSpPr>
        <p:spPr>
          <a:xfrm>
            <a:off x="593700" y="1310775"/>
            <a:ext cx="11004600" cy="3185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2000">
                <a:solidFill>
                  <a:srgbClr val="1C1C1C"/>
                </a:solidFill>
                <a:latin typeface="Helvetica Neue"/>
                <a:ea typeface="Helvetica Neue"/>
                <a:cs typeface="Helvetica Neue"/>
                <a:sym typeface="Helvetica Neue"/>
              </a:rPr>
              <a:t>Sparse retrievers</a:t>
            </a:r>
            <a:r>
              <a:rPr lang="en-US" sz="2000">
                <a:solidFill>
                  <a:srgbClr val="1C1C1C"/>
                </a:solidFill>
                <a:latin typeface="Helvetica Neue Light"/>
                <a:ea typeface="Helvetica Neue Light"/>
                <a:cs typeface="Helvetica Neue Light"/>
                <a:sym typeface="Helvetica Neue Light"/>
              </a:rPr>
              <a:t>:</a:t>
            </a:r>
            <a:endParaRPr sz="2000">
              <a:solidFill>
                <a:srgbClr val="1C1C1C"/>
              </a:solidFill>
              <a:latin typeface="Helvetica Neue Light"/>
              <a:ea typeface="Helvetica Neue Light"/>
              <a:cs typeface="Helvetica Neue Light"/>
              <a:sym typeface="Helvetica Neue Light"/>
            </a:endParaRPr>
          </a:p>
          <a:p>
            <a:pPr indent="-355600" lvl="0" marL="457200" rtl="0" algn="l">
              <a:spcBef>
                <a:spcPts val="0"/>
              </a:spcBef>
              <a:spcAft>
                <a:spcPts val="0"/>
              </a:spcAft>
              <a:buClr>
                <a:srgbClr val="1C1C1C"/>
              </a:buClr>
              <a:buSzPts val="2000"/>
              <a:buFont typeface="Helvetica Neue Light"/>
              <a:buAutoNum type="arabicPeriod"/>
            </a:pPr>
            <a:r>
              <a:rPr lang="en-US" sz="2000">
                <a:solidFill>
                  <a:srgbClr val="1C1C1C"/>
                </a:solidFill>
                <a:latin typeface="Helvetica Neue Light"/>
                <a:ea typeface="Helvetica Neue Light"/>
                <a:cs typeface="Helvetica Neue Light"/>
                <a:sym typeface="Helvetica Neue Light"/>
              </a:rPr>
              <a:t>are also called lexical retrievers, because they are based on exact word matches</a:t>
            </a:r>
            <a:endParaRPr sz="2000">
              <a:solidFill>
                <a:srgbClr val="1C1C1C"/>
              </a:solidFill>
              <a:latin typeface="Helvetica Neue Light"/>
              <a:ea typeface="Helvetica Neue Light"/>
              <a:cs typeface="Helvetica Neue Light"/>
              <a:sym typeface="Helvetica Neue Light"/>
            </a:endParaRPr>
          </a:p>
          <a:p>
            <a:pPr indent="-355600" lvl="1" marL="914400" rtl="0" algn="l">
              <a:spcBef>
                <a:spcPts val="0"/>
              </a:spcBef>
              <a:spcAft>
                <a:spcPts val="0"/>
              </a:spcAft>
              <a:buClr>
                <a:srgbClr val="1C1C1C"/>
              </a:buClr>
              <a:buSzPts val="2000"/>
              <a:buFont typeface="Helvetica Neue Light"/>
              <a:buAutoNum type="alphaLcPeriod"/>
            </a:pPr>
            <a:r>
              <a:rPr lang="en-US" sz="2000">
                <a:solidFill>
                  <a:srgbClr val="1C1C1C"/>
                </a:solidFill>
                <a:latin typeface="Helvetica Neue Light"/>
                <a:ea typeface="Helvetica Neue Light"/>
                <a:cs typeface="Helvetica Neue Light"/>
                <a:sym typeface="Helvetica Neue Light"/>
              </a:rPr>
              <a:t>examples are BM25, TF-IDF</a:t>
            </a:r>
            <a:endParaRPr sz="2000">
              <a:solidFill>
                <a:srgbClr val="1C1C1C"/>
              </a:solidFill>
              <a:latin typeface="Helvetica Neue Light"/>
              <a:ea typeface="Helvetica Neue Light"/>
              <a:cs typeface="Helvetica Neue Light"/>
              <a:sym typeface="Helvetica Neue Light"/>
            </a:endParaRPr>
          </a:p>
          <a:p>
            <a:pPr indent="-355600" lvl="0" marL="457200" rtl="0" algn="l">
              <a:spcBef>
                <a:spcPts val="0"/>
              </a:spcBef>
              <a:spcAft>
                <a:spcPts val="0"/>
              </a:spcAft>
              <a:buClr>
                <a:srgbClr val="1C1C1C"/>
              </a:buClr>
              <a:buSzPts val="2000"/>
              <a:buFont typeface="Helvetica Neue Light"/>
              <a:buAutoNum type="arabicPeriod"/>
            </a:pPr>
            <a:r>
              <a:rPr lang="en-US" sz="2000">
                <a:solidFill>
                  <a:srgbClr val="1C1C1C"/>
                </a:solidFill>
                <a:latin typeface="Helvetica Neue Light"/>
                <a:ea typeface="Helvetica Neue Light"/>
                <a:cs typeface="Helvetica Neue Light"/>
                <a:sym typeface="Helvetica Neue Light"/>
              </a:rPr>
              <a:t>👍 they are very fast to compute, as they do not involve any neural models</a:t>
            </a:r>
            <a:endParaRPr sz="2000">
              <a:solidFill>
                <a:srgbClr val="1C1C1C"/>
              </a:solidFill>
              <a:latin typeface="Helvetica Neue Light"/>
              <a:ea typeface="Helvetica Neue Light"/>
              <a:cs typeface="Helvetica Neue Light"/>
              <a:sym typeface="Helvetica Neue Light"/>
            </a:endParaRPr>
          </a:p>
          <a:p>
            <a:pPr indent="-355600" lvl="0" marL="457200" rtl="0" algn="l">
              <a:spcBef>
                <a:spcPts val="0"/>
              </a:spcBef>
              <a:spcAft>
                <a:spcPts val="0"/>
              </a:spcAft>
              <a:buClr>
                <a:srgbClr val="1C1C1C"/>
              </a:buClr>
              <a:buSzPts val="2000"/>
              <a:buFont typeface="Helvetica Neue Light"/>
              <a:buAutoNum type="arabicPeriod"/>
            </a:pPr>
            <a:r>
              <a:rPr lang="en-US" sz="2000">
                <a:solidFill>
                  <a:srgbClr val="1C1C1C"/>
                </a:solidFill>
                <a:latin typeface="Helvetica Neue Light"/>
                <a:ea typeface="Helvetica Neue Light"/>
                <a:cs typeface="Helvetica Neue Light"/>
                <a:sym typeface="Helvetica Neue Light"/>
              </a:rPr>
              <a:t>👍 these algorithms are easy to implement, and can perform well in several occasions</a:t>
            </a:r>
            <a:endParaRPr sz="2000">
              <a:solidFill>
                <a:srgbClr val="1C1C1C"/>
              </a:solidFill>
              <a:latin typeface="Helvetica Neue Light"/>
              <a:ea typeface="Helvetica Neue Light"/>
              <a:cs typeface="Helvetica Neue Light"/>
              <a:sym typeface="Helvetica Neue Light"/>
            </a:endParaRPr>
          </a:p>
          <a:p>
            <a:pPr indent="-355600" lvl="0" marL="457200" rtl="0" algn="l">
              <a:spcBef>
                <a:spcPts val="0"/>
              </a:spcBef>
              <a:spcAft>
                <a:spcPts val="0"/>
              </a:spcAft>
              <a:buClr>
                <a:srgbClr val="1C1C1C"/>
              </a:buClr>
              <a:buSzPts val="2000"/>
              <a:buFont typeface="Helvetica Neue Light"/>
              <a:buAutoNum type="arabicPeriod"/>
            </a:pPr>
            <a:r>
              <a:rPr lang="en-US" sz="2000">
                <a:solidFill>
                  <a:srgbClr val="1C1C1C"/>
                </a:solidFill>
                <a:latin typeface="Helvetica Neue Light"/>
                <a:ea typeface="Helvetica Neue Light"/>
                <a:cs typeface="Helvetica Neue Light"/>
                <a:sym typeface="Helvetica Neue Light"/>
              </a:rPr>
              <a:t>👎 they suffer from </a:t>
            </a:r>
            <a:r>
              <a:rPr b="1" lang="en-US" sz="2000">
                <a:solidFill>
                  <a:srgbClr val="1C1C1C"/>
                </a:solidFill>
                <a:latin typeface="Helvetica Neue"/>
                <a:ea typeface="Helvetica Neue"/>
                <a:cs typeface="Helvetica Neue"/>
                <a:sym typeface="Helvetica Neue"/>
              </a:rPr>
              <a:t>out-of-vocabulary</a:t>
            </a:r>
            <a:r>
              <a:rPr lang="en-US" sz="2000">
                <a:solidFill>
                  <a:srgbClr val="1C1C1C"/>
                </a:solidFill>
                <a:latin typeface="Helvetica Neue Light"/>
                <a:ea typeface="Helvetica Neue Light"/>
                <a:cs typeface="Helvetica Neue Light"/>
                <a:sym typeface="Helvetica Neue Light"/>
              </a:rPr>
              <a:t> issues: words that are not seen during indexing of the documents, but are seen inside the query, are completely discarded</a:t>
            </a:r>
            <a:endParaRPr sz="2000">
              <a:solidFill>
                <a:srgbClr val="1C1C1C"/>
              </a:solidFill>
              <a:latin typeface="Helvetica Neue Light"/>
              <a:ea typeface="Helvetica Neue Light"/>
              <a:cs typeface="Helvetica Neue Light"/>
              <a:sym typeface="Helvetica Neue Light"/>
            </a:endParaRPr>
          </a:p>
          <a:p>
            <a:pPr indent="-355600" lvl="0" marL="457200" rtl="0" algn="l">
              <a:spcBef>
                <a:spcPts val="0"/>
              </a:spcBef>
              <a:spcAft>
                <a:spcPts val="0"/>
              </a:spcAft>
              <a:buClr>
                <a:srgbClr val="1C1C1C"/>
              </a:buClr>
              <a:buSzPts val="2000"/>
              <a:buFont typeface="Helvetica Neue Light"/>
              <a:buAutoNum type="arabicPeriod"/>
            </a:pPr>
            <a:r>
              <a:rPr lang="en-US" sz="2000">
                <a:solidFill>
                  <a:srgbClr val="1C1C1C"/>
                </a:solidFill>
                <a:latin typeface="Helvetica Neue Light"/>
                <a:ea typeface="Helvetica Neue Light"/>
                <a:cs typeface="Helvetica Neue Light"/>
                <a:sym typeface="Helvetica Neue Light"/>
              </a:rPr>
              <a:t>👎 they require </a:t>
            </a:r>
            <a:r>
              <a:rPr b="1" lang="en-US" sz="2000">
                <a:solidFill>
                  <a:srgbClr val="1C1C1C"/>
                </a:solidFill>
                <a:latin typeface="Helvetica Neue"/>
                <a:ea typeface="Helvetica Neue"/>
                <a:cs typeface="Helvetica Neue"/>
                <a:sym typeface="Helvetica Neue"/>
              </a:rPr>
              <a:t>exact word-matches</a:t>
            </a:r>
            <a:r>
              <a:rPr lang="en-US" sz="2000">
                <a:solidFill>
                  <a:srgbClr val="1C1C1C"/>
                </a:solidFill>
                <a:latin typeface="Helvetica Neue Light"/>
                <a:ea typeface="Helvetica Neue Light"/>
                <a:cs typeface="Helvetica Neue Light"/>
                <a:sym typeface="Helvetica Neue Light"/>
              </a:rPr>
              <a:t>: synonyms are treated as completely different words</a:t>
            </a:r>
            <a:endParaRPr sz="20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20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b="1" lang="en-US" sz="2000">
                <a:solidFill>
                  <a:srgbClr val="1C1C1C"/>
                </a:solidFill>
                <a:latin typeface="Helvetica Neue"/>
                <a:ea typeface="Helvetica Neue"/>
                <a:cs typeface="Helvetica Neue"/>
                <a:sym typeface="Helvetica Neue"/>
              </a:rPr>
              <a:t>Dense retrievers</a:t>
            </a:r>
            <a:r>
              <a:rPr lang="en-US" sz="2000">
                <a:solidFill>
                  <a:srgbClr val="1C1C1C"/>
                </a:solidFill>
                <a:latin typeface="Helvetica Neue Light"/>
                <a:ea typeface="Helvetica Neue Light"/>
                <a:cs typeface="Helvetica Neue Light"/>
                <a:sym typeface="Helvetica Neue Light"/>
              </a:rPr>
              <a:t>:</a:t>
            </a:r>
            <a:endParaRPr sz="2000">
              <a:solidFill>
                <a:srgbClr val="1C1C1C"/>
              </a:solidFill>
              <a:latin typeface="Helvetica Neue Light"/>
              <a:ea typeface="Helvetica Neue Light"/>
              <a:cs typeface="Helvetica Neue Light"/>
              <a:sym typeface="Helvetica Neue Light"/>
            </a:endParaRPr>
          </a:p>
          <a:p>
            <a:pPr indent="-355600" lvl="0" marL="457200" rtl="0" algn="l">
              <a:spcBef>
                <a:spcPts val="0"/>
              </a:spcBef>
              <a:spcAft>
                <a:spcPts val="0"/>
              </a:spcAft>
              <a:buClr>
                <a:srgbClr val="1C1C1C"/>
              </a:buClr>
              <a:buSzPts val="2000"/>
              <a:buFont typeface="Helvetica Neue Light"/>
              <a:buAutoNum type="arabicPeriod"/>
            </a:pPr>
            <a:r>
              <a:rPr lang="en-US" sz="2000">
                <a:solidFill>
                  <a:srgbClr val="1C1C1C"/>
                </a:solidFill>
                <a:latin typeface="Helvetica Neue Light"/>
                <a:ea typeface="Helvetica Neue Light"/>
                <a:cs typeface="Helvetica Neue Light"/>
                <a:sym typeface="Helvetica Neue Light"/>
              </a:rPr>
              <a:t>are approaches based on neural networks</a:t>
            </a:r>
            <a:endParaRPr sz="2000">
              <a:solidFill>
                <a:srgbClr val="1C1C1C"/>
              </a:solidFill>
              <a:latin typeface="Helvetica Neue Light"/>
              <a:ea typeface="Helvetica Neue Light"/>
              <a:cs typeface="Helvetica Neue Light"/>
              <a:sym typeface="Helvetica Neue Light"/>
            </a:endParaRPr>
          </a:p>
          <a:p>
            <a:pPr indent="-355600" lvl="0" marL="457200" rtl="0" algn="l">
              <a:spcBef>
                <a:spcPts val="0"/>
              </a:spcBef>
              <a:spcAft>
                <a:spcPts val="0"/>
              </a:spcAft>
              <a:buClr>
                <a:srgbClr val="1C1C1C"/>
              </a:buClr>
              <a:buSzPts val="2000"/>
              <a:buFont typeface="Helvetica Neue Light"/>
              <a:buAutoNum type="arabicPeriod"/>
            </a:pPr>
            <a:r>
              <a:rPr lang="en-US" sz="2000">
                <a:solidFill>
                  <a:srgbClr val="1C1C1C"/>
                </a:solidFill>
                <a:latin typeface="Helvetica Neue Light"/>
                <a:ea typeface="Helvetica Neue Light"/>
                <a:cs typeface="Helvetica Neue Light"/>
                <a:sym typeface="Helvetica Neue Light"/>
              </a:rPr>
              <a:t>👍 they usually perform better than sparse retrievers</a:t>
            </a:r>
            <a:endParaRPr sz="2000">
              <a:solidFill>
                <a:srgbClr val="1C1C1C"/>
              </a:solidFill>
              <a:latin typeface="Helvetica Neue Light"/>
              <a:ea typeface="Helvetica Neue Light"/>
              <a:cs typeface="Helvetica Neue Light"/>
              <a:sym typeface="Helvetica Neue Light"/>
            </a:endParaRPr>
          </a:p>
          <a:p>
            <a:pPr indent="-355600" lvl="0" marL="457200" rtl="0" algn="l">
              <a:spcBef>
                <a:spcPts val="0"/>
              </a:spcBef>
              <a:spcAft>
                <a:spcPts val="0"/>
              </a:spcAft>
              <a:buClr>
                <a:srgbClr val="1C1C1C"/>
              </a:buClr>
              <a:buSzPts val="2000"/>
              <a:buFont typeface="Helvetica Neue Light"/>
              <a:buAutoNum type="arabicPeriod"/>
            </a:pPr>
            <a:r>
              <a:rPr lang="en-US" sz="2000">
                <a:solidFill>
                  <a:srgbClr val="1C1C1C"/>
                </a:solidFill>
                <a:latin typeface="Helvetica Neue Light"/>
                <a:ea typeface="Helvetica Neue Light"/>
                <a:cs typeface="Helvetica Neue Light"/>
                <a:sym typeface="Helvetica Neue Light"/>
              </a:rPr>
              <a:t>👍 the </a:t>
            </a:r>
            <a:r>
              <a:rPr b="1" lang="en-US" sz="2000">
                <a:solidFill>
                  <a:srgbClr val="1C1C1C"/>
                </a:solidFill>
                <a:latin typeface="Helvetica Neue"/>
                <a:ea typeface="Helvetica Neue"/>
                <a:cs typeface="Helvetica Neue"/>
                <a:sym typeface="Helvetica Neue"/>
              </a:rPr>
              <a:t>out-of-vocabulary</a:t>
            </a:r>
            <a:r>
              <a:rPr lang="en-US" sz="2000">
                <a:solidFill>
                  <a:srgbClr val="1C1C1C"/>
                </a:solidFill>
                <a:latin typeface="Helvetica Neue Light"/>
                <a:ea typeface="Helvetica Neue Light"/>
                <a:cs typeface="Helvetica Neue Light"/>
                <a:sym typeface="Helvetica Neue Light"/>
              </a:rPr>
              <a:t> issue is greatly reduced due to novel tokenization methods (e.g. WordPiece), and they extract the similarity through </a:t>
            </a:r>
            <a:r>
              <a:rPr b="1" lang="en-US" sz="2000">
                <a:solidFill>
                  <a:srgbClr val="1C1C1C"/>
                </a:solidFill>
                <a:latin typeface="Helvetica Neue"/>
                <a:ea typeface="Helvetica Neue"/>
                <a:cs typeface="Helvetica Neue"/>
                <a:sym typeface="Helvetica Neue"/>
              </a:rPr>
              <a:t>text semantics and not lexical overlap</a:t>
            </a:r>
            <a:endParaRPr b="1" sz="2000">
              <a:solidFill>
                <a:srgbClr val="1C1C1C"/>
              </a:solidFill>
              <a:latin typeface="Helvetica Neue"/>
              <a:ea typeface="Helvetica Neue"/>
              <a:cs typeface="Helvetica Neue"/>
              <a:sym typeface="Helvetica Neue"/>
            </a:endParaRPr>
          </a:p>
          <a:p>
            <a:pPr indent="-355600" lvl="0" marL="457200" rtl="0" algn="l">
              <a:spcBef>
                <a:spcPts val="0"/>
              </a:spcBef>
              <a:spcAft>
                <a:spcPts val="0"/>
              </a:spcAft>
              <a:buClr>
                <a:srgbClr val="1C1C1C"/>
              </a:buClr>
              <a:buSzPts val="2000"/>
              <a:buFont typeface="Helvetica Neue Light"/>
              <a:buAutoNum type="arabicPeriod"/>
            </a:pPr>
            <a:r>
              <a:rPr lang="en-US" sz="2000">
                <a:solidFill>
                  <a:srgbClr val="1C1C1C"/>
                </a:solidFill>
                <a:latin typeface="Helvetica Neue Light"/>
                <a:ea typeface="Helvetica Neue Light"/>
                <a:cs typeface="Helvetica Neue Light"/>
                <a:sym typeface="Helvetica Neue Light"/>
              </a:rPr>
              <a:t>👎 they are more computationally expensive</a:t>
            </a:r>
            <a:endParaRPr sz="2000">
              <a:solidFill>
                <a:srgbClr val="1C1C1C"/>
              </a:solidFill>
              <a:latin typeface="Helvetica Neue Light"/>
              <a:ea typeface="Helvetica Neue Light"/>
              <a:cs typeface="Helvetica Neue Light"/>
              <a:sym typeface="Helvetica Neue Light"/>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15"/>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Dense bi-encoder retrievers</a:t>
            </a:r>
            <a:endParaRPr sz="3200">
              <a:latin typeface="Calibri"/>
              <a:ea typeface="Calibri"/>
              <a:cs typeface="Calibri"/>
              <a:sym typeface="Calibri"/>
            </a:endParaRPr>
          </a:p>
        </p:txBody>
      </p:sp>
      <p:sp>
        <p:nvSpPr>
          <p:cNvPr id="108" name="Google Shape;108;p15"/>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109" name="Google Shape;109;p15"/>
          <p:cNvSpPr txBox="1"/>
          <p:nvPr/>
        </p:nvSpPr>
        <p:spPr>
          <a:xfrm>
            <a:off x="593700" y="1310775"/>
            <a:ext cx="10884000" cy="76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Dense retrieval systems turn the search problem into retrieving the nearest neighbors of the search query (after both the query and the documents are converted into embeddings).</a:t>
            </a:r>
            <a:endParaRPr sz="1800">
              <a:solidFill>
                <a:srgbClr val="1C1C1C"/>
              </a:solidFill>
              <a:latin typeface="Helvetica Neue Light"/>
              <a:ea typeface="Helvetica Neue Light"/>
              <a:cs typeface="Helvetica Neue Light"/>
              <a:sym typeface="Helvetica Neue Light"/>
            </a:endParaRPr>
          </a:p>
        </p:txBody>
      </p:sp>
      <p:pic>
        <p:nvPicPr>
          <p:cNvPr id="110" name="Google Shape;110;p15"/>
          <p:cNvPicPr preferRelativeResize="0"/>
          <p:nvPr/>
        </p:nvPicPr>
        <p:blipFill>
          <a:blip r:embed="rId3">
            <a:alphaModFix/>
          </a:blip>
          <a:stretch>
            <a:fillRect/>
          </a:stretch>
        </p:blipFill>
        <p:spPr>
          <a:xfrm>
            <a:off x="714375" y="2425850"/>
            <a:ext cx="5715000" cy="3257550"/>
          </a:xfrm>
          <a:prstGeom prst="rect">
            <a:avLst/>
          </a:prstGeom>
          <a:noFill/>
          <a:ln>
            <a:noFill/>
          </a:ln>
        </p:spPr>
      </p:pic>
      <p:pic>
        <p:nvPicPr>
          <p:cNvPr id="111" name="Google Shape;111;p15" title="download.png"/>
          <p:cNvPicPr preferRelativeResize="0"/>
          <p:nvPr/>
        </p:nvPicPr>
        <p:blipFill>
          <a:blip r:embed="rId4">
            <a:alphaModFix/>
          </a:blip>
          <a:stretch>
            <a:fillRect/>
          </a:stretch>
        </p:blipFill>
        <p:spPr>
          <a:xfrm>
            <a:off x="7762875" y="2389225"/>
            <a:ext cx="3272873" cy="33308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6"/>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Dense bi-encoder retrievers</a:t>
            </a:r>
            <a:endParaRPr sz="3200">
              <a:latin typeface="Calibri"/>
              <a:ea typeface="Calibri"/>
              <a:cs typeface="Calibri"/>
              <a:sym typeface="Calibri"/>
            </a:endParaRPr>
          </a:p>
        </p:txBody>
      </p:sp>
      <p:sp>
        <p:nvSpPr>
          <p:cNvPr id="118" name="Google Shape;118;p16"/>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119" name="Google Shape;119;p16"/>
          <p:cNvSpPr txBox="1"/>
          <p:nvPr/>
        </p:nvSpPr>
        <p:spPr>
          <a:xfrm>
            <a:off x="593700" y="1310775"/>
            <a:ext cx="10884000" cy="456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rgbClr val="1C1C1C"/>
                </a:solidFill>
                <a:latin typeface="Helvetica Neue"/>
                <a:ea typeface="Helvetica Neue"/>
                <a:cs typeface="Helvetica Neue"/>
                <a:sym typeface="Helvetica Neue"/>
              </a:rPr>
              <a:t>Procedure (during index creation)</a:t>
            </a:r>
            <a:r>
              <a:rPr lang="en-US" sz="1800">
                <a:solidFill>
                  <a:srgbClr val="1C1C1C"/>
                </a:solidFill>
                <a:latin typeface="Helvetica Neue Light"/>
                <a:ea typeface="Helvetica Neue Light"/>
                <a:cs typeface="Helvetica Neue Light"/>
                <a:sym typeface="Helvetica Neue Light"/>
              </a:rPr>
              <a:t>:</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Start off with a set of textual </a:t>
            </a:r>
            <a:r>
              <a:rPr lang="en-US" sz="1800">
                <a:solidFill>
                  <a:srgbClr val="1C1C1C"/>
                </a:solidFill>
                <a:latin typeface="Helvetica Neue Light"/>
                <a:ea typeface="Helvetica Neue Light"/>
                <a:cs typeface="Helvetica Neue Light"/>
                <a:sym typeface="Helvetica Neue Light"/>
              </a:rPr>
              <a:t>documents d</a:t>
            </a:r>
            <a:r>
              <a:rPr baseline="-25000" lang="en-US" sz="1800">
                <a:solidFill>
                  <a:srgbClr val="1C1C1C"/>
                </a:solidFill>
                <a:latin typeface="Helvetica Neue Light"/>
                <a:ea typeface="Helvetica Neue Light"/>
                <a:cs typeface="Helvetica Neue Light"/>
                <a:sym typeface="Helvetica Neue Light"/>
              </a:rPr>
              <a:t>i</a:t>
            </a:r>
            <a:r>
              <a:rPr lang="en-US" sz="1800">
                <a:solidFill>
                  <a:srgbClr val="1C1C1C"/>
                </a:solidFill>
                <a:latin typeface="Helvetica Neue Light"/>
                <a:ea typeface="Helvetica Neue Light"/>
                <a:cs typeface="Helvetica Neue Light"/>
                <a:sym typeface="Helvetica Neue Light"/>
              </a:rPr>
              <a:t>. As “retrieval units” we can either use the whole document, or chunk the document into sentences</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Embed each retrieval unit using a dense bi-encoder retriever using either the [CLS] or average pool of the token embeddings</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Save the embeddings and build the search index (for example, using a vector database)</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b="1" lang="en-US" sz="1800">
                <a:solidFill>
                  <a:srgbClr val="1C1C1C"/>
                </a:solidFill>
                <a:latin typeface="Helvetica Neue"/>
                <a:ea typeface="Helvetica Neue"/>
                <a:cs typeface="Helvetica Neue"/>
                <a:sym typeface="Helvetica Neue"/>
              </a:rPr>
              <a:t>Procedure (during inference)</a:t>
            </a:r>
            <a:r>
              <a:rPr lang="en-US" sz="1800">
                <a:solidFill>
                  <a:srgbClr val="1C1C1C"/>
                </a:solidFill>
                <a:latin typeface="Helvetica Neue Light"/>
                <a:ea typeface="Helvetica Neue Light"/>
                <a:cs typeface="Helvetica Neue Light"/>
                <a:sym typeface="Helvetica Neue Light"/>
              </a:rPr>
              <a:t>:</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Given a query q, use the dense bi-encoder retriever to get the query embedding, using the same pooling operation used for the retrieval units</a:t>
            </a:r>
            <a:endParaRPr sz="1800">
              <a:solidFill>
                <a:srgbClr val="1C1C1C"/>
              </a:solidFill>
              <a:latin typeface="Helvetica Neue Light"/>
              <a:ea typeface="Helvetica Neue Light"/>
              <a:cs typeface="Helvetica Neue Light"/>
              <a:sym typeface="Helvetica Neue Light"/>
            </a:endParaRPr>
          </a:p>
          <a:p>
            <a:pPr indent="-342900" lvl="1" marL="914400" rtl="0" algn="l">
              <a:spcBef>
                <a:spcPts val="0"/>
              </a:spcBef>
              <a:spcAft>
                <a:spcPts val="0"/>
              </a:spcAft>
              <a:buClr>
                <a:srgbClr val="1C1C1C"/>
              </a:buClr>
              <a:buSzPts val="1800"/>
              <a:buFont typeface="Helvetica Neue Light"/>
              <a:buAutoNum type="alphaLcPeriod"/>
            </a:pPr>
            <a:r>
              <a:rPr lang="en-US" sz="1800">
                <a:solidFill>
                  <a:srgbClr val="1C1C1C"/>
                </a:solidFill>
                <a:latin typeface="Helvetica Neue Light"/>
                <a:ea typeface="Helvetica Neue Light"/>
                <a:cs typeface="Helvetica Neue Light"/>
                <a:sym typeface="Helvetica Neue Light"/>
              </a:rPr>
              <a:t>Both the query and the retrieval units are fed to the model independently between each other</a:t>
            </a:r>
            <a:endParaRPr sz="1800">
              <a:solidFill>
                <a:srgbClr val="1C1C1C"/>
              </a:solidFill>
              <a:latin typeface="Helvetica Neue Light"/>
              <a:ea typeface="Helvetica Neue Light"/>
              <a:cs typeface="Helvetica Neue Light"/>
              <a:sym typeface="Helvetica Neue Light"/>
            </a:endParaRPr>
          </a:p>
          <a:p>
            <a:pPr indent="-342900" lvl="2" marL="1371600" rtl="0" algn="l">
              <a:spcBef>
                <a:spcPts val="0"/>
              </a:spcBef>
              <a:spcAft>
                <a:spcPts val="0"/>
              </a:spcAft>
              <a:buClr>
                <a:srgbClr val="1C1C1C"/>
              </a:buClr>
              <a:buSzPts val="1800"/>
              <a:buFont typeface="Helvetica Neue Light"/>
              <a:buAutoNum type="romanLcPeriod"/>
            </a:pPr>
            <a:r>
              <a:rPr lang="en-US" sz="1800">
                <a:solidFill>
                  <a:srgbClr val="1C1C1C"/>
                </a:solidFill>
                <a:latin typeface="Helvetica Neue Light"/>
                <a:ea typeface="Helvetica Neue Light"/>
                <a:cs typeface="Helvetica Neue Light"/>
                <a:sym typeface="Helvetica Neue Light"/>
              </a:rPr>
              <a:t>i.e., the query doesn’t “see” the documents, and viceversa</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The similarity between e</a:t>
            </a:r>
            <a:r>
              <a:rPr baseline="-25000" lang="en-US" sz="1800">
                <a:solidFill>
                  <a:srgbClr val="1C1C1C"/>
                </a:solidFill>
                <a:latin typeface="Helvetica Neue Light"/>
                <a:ea typeface="Helvetica Neue Light"/>
                <a:cs typeface="Helvetica Neue Light"/>
                <a:sym typeface="Helvetica Neue Light"/>
              </a:rPr>
              <a:t>q</a:t>
            </a:r>
            <a:r>
              <a:rPr lang="en-US" sz="1800">
                <a:solidFill>
                  <a:srgbClr val="1C1C1C"/>
                </a:solidFill>
                <a:latin typeface="Helvetica Neue Light"/>
                <a:ea typeface="Helvetica Neue Light"/>
                <a:cs typeface="Helvetica Neue Light"/>
                <a:sym typeface="Helvetica Neue Light"/>
              </a:rPr>
              <a:t> and e</a:t>
            </a:r>
            <a:r>
              <a:rPr baseline="-25000" lang="en-US" sz="1800">
                <a:solidFill>
                  <a:srgbClr val="1C1C1C"/>
                </a:solidFill>
                <a:latin typeface="Helvetica Neue Light"/>
                <a:ea typeface="Helvetica Neue Light"/>
                <a:cs typeface="Helvetica Neue Light"/>
                <a:sym typeface="Helvetica Neue Light"/>
              </a:rPr>
              <a:t>d</a:t>
            </a:r>
            <a:r>
              <a:rPr lang="en-US" sz="1800">
                <a:solidFill>
                  <a:srgbClr val="1C1C1C"/>
                </a:solidFill>
                <a:latin typeface="Helvetica Neue Light"/>
                <a:ea typeface="Helvetica Neue Light"/>
                <a:cs typeface="Helvetica Neue Light"/>
                <a:sym typeface="Helvetica Neue Light"/>
              </a:rPr>
              <a:t> is calculated with the cosine similarity</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This process is repeated for each retrieval unit in the corpus, obtaining a ranking of the most similar documents</a:t>
            </a:r>
            <a:endParaRPr sz="1800">
              <a:solidFill>
                <a:srgbClr val="1C1C1C"/>
              </a:solidFill>
              <a:latin typeface="Helvetica Neue Light"/>
              <a:ea typeface="Helvetica Neue Light"/>
              <a:cs typeface="Helvetica Neue Light"/>
              <a:sym typeface="Helvetica Neue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17"/>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spcBef>
                <a:spcPts val="0"/>
              </a:spcBef>
              <a:spcAft>
                <a:spcPts val="0"/>
              </a:spcAft>
              <a:buSzPts val="1400"/>
              <a:buNone/>
            </a:pPr>
            <a:r>
              <a:rPr lang="en-US" sz="3200">
                <a:latin typeface="Calibri"/>
                <a:ea typeface="Calibri"/>
                <a:cs typeface="Calibri"/>
                <a:sym typeface="Calibri"/>
              </a:rPr>
              <a:t>Dense bi-encoder retrievers</a:t>
            </a:r>
            <a:endParaRPr sz="3200">
              <a:latin typeface="Calibri"/>
              <a:ea typeface="Calibri"/>
              <a:cs typeface="Calibri"/>
              <a:sym typeface="Calibri"/>
            </a:endParaRPr>
          </a:p>
        </p:txBody>
      </p:sp>
      <p:sp>
        <p:nvSpPr>
          <p:cNvPr id="126" name="Google Shape;126;p17"/>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pic>
        <p:nvPicPr>
          <p:cNvPr id="127" name="Google Shape;127;p17"/>
          <p:cNvPicPr preferRelativeResize="0"/>
          <p:nvPr/>
        </p:nvPicPr>
        <p:blipFill>
          <a:blip r:embed="rId3">
            <a:alphaModFix/>
          </a:blip>
          <a:stretch>
            <a:fillRect/>
          </a:stretch>
        </p:blipFill>
        <p:spPr>
          <a:xfrm>
            <a:off x="4057688" y="1157280"/>
            <a:ext cx="3971925" cy="4067175"/>
          </a:xfrm>
          <a:prstGeom prst="rect">
            <a:avLst/>
          </a:prstGeom>
          <a:noFill/>
          <a:ln>
            <a:noFill/>
          </a:ln>
        </p:spPr>
      </p:pic>
      <p:sp>
        <p:nvSpPr>
          <p:cNvPr id="128" name="Google Shape;128;p17"/>
          <p:cNvSpPr txBox="1"/>
          <p:nvPr/>
        </p:nvSpPr>
        <p:spPr>
          <a:xfrm>
            <a:off x="819150" y="5334000"/>
            <a:ext cx="10449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 Bi-encoders are fast, as document embeddings can be computed and stored, and during inference only the query embedding needs to be calculated (one forward pass)</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  limited query/doc interactions: the embeddings cannot fully grasp the connection between q and d</a:t>
            </a:r>
            <a:endParaRPr sz="1600">
              <a:solidFill>
                <a:srgbClr val="1C1C1C"/>
              </a:solidFill>
              <a:latin typeface="Helvetica Neue Light"/>
              <a:ea typeface="Helvetica Neue Light"/>
              <a:cs typeface="Helvetica Neue Light"/>
              <a:sym typeface="Helvetica Neue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8"/>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spcBef>
                <a:spcPts val="0"/>
              </a:spcBef>
              <a:spcAft>
                <a:spcPts val="0"/>
              </a:spcAft>
              <a:buSzPts val="1400"/>
              <a:buNone/>
            </a:pPr>
            <a:r>
              <a:rPr lang="en-US" sz="3200">
                <a:latin typeface="Calibri"/>
                <a:ea typeface="Calibri"/>
                <a:cs typeface="Calibri"/>
                <a:sym typeface="Calibri"/>
              </a:rPr>
              <a:t>How are d</a:t>
            </a:r>
            <a:r>
              <a:rPr lang="en-US" sz="3200">
                <a:latin typeface="Calibri"/>
                <a:ea typeface="Calibri"/>
                <a:cs typeface="Calibri"/>
                <a:sym typeface="Calibri"/>
              </a:rPr>
              <a:t>ense bi-encoder retrievers trained?</a:t>
            </a:r>
            <a:endParaRPr sz="3200">
              <a:latin typeface="Calibri"/>
              <a:ea typeface="Calibri"/>
              <a:cs typeface="Calibri"/>
              <a:sym typeface="Calibri"/>
            </a:endParaRPr>
          </a:p>
        </p:txBody>
      </p:sp>
      <p:sp>
        <p:nvSpPr>
          <p:cNvPr id="135" name="Google Shape;135;p18"/>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136" name="Google Shape;136;p18"/>
          <p:cNvSpPr txBox="1"/>
          <p:nvPr/>
        </p:nvSpPr>
        <p:spPr>
          <a:xfrm>
            <a:off x="546075" y="1921175"/>
            <a:ext cx="3759300" cy="76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Query:</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“How do I bake sourdough bread?”</a:t>
            </a:r>
            <a:endParaRPr sz="1800">
              <a:solidFill>
                <a:srgbClr val="1C1C1C"/>
              </a:solidFill>
              <a:latin typeface="Helvetica Neue Light"/>
              <a:ea typeface="Helvetica Neue Light"/>
              <a:cs typeface="Helvetica Neue Light"/>
              <a:sym typeface="Helvetica Neue Light"/>
            </a:endParaRPr>
          </a:p>
        </p:txBody>
      </p:sp>
      <p:sp>
        <p:nvSpPr>
          <p:cNvPr id="137" name="Google Shape;137;p18"/>
          <p:cNvSpPr/>
          <p:nvPr/>
        </p:nvSpPr>
        <p:spPr>
          <a:xfrm>
            <a:off x="1577925" y="3646650"/>
            <a:ext cx="1695600" cy="1381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latin typeface="Helvetica Neue Light"/>
                <a:ea typeface="Helvetica Neue Light"/>
                <a:cs typeface="Helvetica Neue Light"/>
                <a:sym typeface="Helvetica Neue Light"/>
              </a:rPr>
              <a:t>Document about “sourdough bread”</a:t>
            </a:r>
            <a:endParaRPr sz="1800">
              <a:latin typeface="Helvetica Neue Light"/>
              <a:ea typeface="Helvetica Neue Light"/>
              <a:cs typeface="Helvetica Neue Light"/>
              <a:sym typeface="Helvetica Neue Light"/>
            </a:endParaRPr>
          </a:p>
        </p:txBody>
      </p:sp>
      <p:pic>
        <p:nvPicPr>
          <p:cNvPr id="138" name="Google Shape;138;p18" title="transformers.png"/>
          <p:cNvPicPr preferRelativeResize="0"/>
          <p:nvPr/>
        </p:nvPicPr>
        <p:blipFill rotWithShape="1">
          <a:blip r:embed="rId3">
            <a:alphaModFix/>
          </a:blip>
          <a:srcRect b="26169" l="74748" r="2887" t="27838"/>
          <a:stretch/>
        </p:blipFill>
        <p:spPr>
          <a:xfrm rot="5400000">
            <a:off x="5290486" y="1897888"/>
            <a:ext cx="2320727" cy="3062201"/>
          </a:xfrm>
          <a:prstGeom prst="rect">
            <a:avLst/>
          </a:prstGeom>
          <a:noFill/>
          <a:ln>
            <a:noFill/>
          </a:ln>
        </p:spPr>
      </p:pic>
      <p:sp>
        <p:nvSpPr>
          <p:cNvPr id="139" name="Google Shape;139;p18"/>
          <p:cNvSpPr/>
          <p:nvPr/>
        </p:nvSpPr>
        <p:spPr>
          <a:xfrm>
            <a:off x="10515600" y="1613375"/>
            <a:ext cx="523800" cy="1381200"/>
          </a:xfrm>
          <a:prstGeom prst="roundRect">
            <a:avLst>
              <a:gd fmla="val 16667"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latin typeface="Helvetica Neue Light"/>
                <a:ea typeface="Helvetica Neue Light"/>
                <a:cs typeface="Helvetica Neue Light"/>
                <a:sym typeface="Helvetica Neue Light"/>
              </a:rPr>
              <a:t>e</a:t>
            </a:r>
            <a:r>
              <a:rPr baseline="-25000" lang="en-US" sz="1800">
                <a:latin typeface="Helvetica Neue Light"/>
                <a:ea typeface="Helvetica Neue Light"/>
                <a:cs typeface="Helvetica Neue Light"/>
                <a:sym typeface="Helvetica Neue Light"/>
              </a:rPr>
              <a:t>q</a:t>
            </a:r>
            <a:endParaRPr baseline="-25000" sz="1800">
              <a:latin typeface="Helvetica Neue Light"/>
              <a:ea typeface="Helvetica Neue Light"/>
              <a:cs typeface="Helvetica Neue Light"/>
              <a:sym typeface="Helvetica Neue Light"/>
            </a:endParaRPr>
          </a:p>
        </p:txBody>
      </p:sp>
      <p:sp>
        <p:nvSpPr>
          <p:cNvPr id="140" name="Google Shape;140;p18"/>
          <p:cNvSpPr/>
          <p:nvPr/>
        </p:nvSpPr>
        <p:spPr>
          <a:xfrm>
            <a:off x="10515600" y="3646650"/>
            <a:ext cx="523800" cy="1381200"/>
          </a:xfrm>
          <a:prstGeom prst="roundRect">
            <a:avLst>
              <a:gd fmla="val 16667"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latin typeface="Helvetica Neue Light"/>
                <a:ea typeface="Helvetica Neue Light"/>
                <a:cs typeface="Helvetica Neue Light"/>
                <a:sym typeface="Helvetica Neue Light"/>
              </a:rPr>
              <a:t>e</a:t>
            </a:r>
            <a:r>
              <a:rPr baseline="-25000" lang="en-US" sz="1800">
                <a:latin typeface="Helvetica Neue Light"/>
                <a:ea typeface="Helvetica Neue Light"/>
                <a:cs typeface="Helvetica Neue Light"/>
                <a:sym typeface="Helvetica Neue Light"/>
              </a:rPr>
              <a:t>d</a:t>
            </a:r>
            <a:endParaRPr baseline="-25000" sz="1800">
              <a:latin typeface="Helvetica Neue Light"/>
              <a:ea typeface="Helvetica Neue Light"/>
              <a:cs typeface="Helvetica Neue Light"/>
              <a:sym typeface="Helvetica Neue Light"/>
            </a:endParaRPr>
          </a:p>
        </p:txBody>
      </p:sp>
      <p:cxnSp>
        <p:nvCxnSpPr>
          <p:cNvPr id="141" name="Google Shape;141;p18"/>
          <p:cNvCxnSpPr>
            <a:endCxn id="140" idx="1"/>
          </p:cNvCxnSpPr>
          <p:nvPr/>
        </p:nvCxnSpPr>
        <p:spPr>
          <a:xfrm>
            <a:off x="3295500" y="4324350"/>
            <a:ext cx="7220100" cy="12900"/>
          </a:xfrm>
          <a:prstGeom prst="straightConnector1">
            <a:avLst/>
          </a:prstGeom>
          <a:noFill/>
          <a:ln cap="flat" cmpd="sng" w="38100">
            <a:solidFill>
              <a:schemeClr val="dk2"/>
            </a:solidFill>
            <a:prstDash val="solid"/>
            <a:round/>
            <a:headEnd len="med" w="med" type="none"/>
            <a:tailEnd len="med" w="med" type="stealth"/>
          </a:ln>
        </p:spPr>
      </p:cxnSp>
      <p:cxnSp>
        <p:nvCxnSpPr>
          <p:cNvPr id="142" name="Google Shape;142;p18"/>
          <p:cNvCxnSpPr>
            <a:stCxn id="136" idx="3"/>
            <a:endCxn id="139" idx="1"/>
          </p:cNvCxnSpPr>
          <p:nvPr/>
        </p:nvCxnSpPr>
        <p:spPr>
          <a:xfrm>
            <a:off x="4305375" y="2303975"/>
            <a:ext cx="6210300" cy="0"/>
          </a:xfrm>
          <a:prstGeom prst="straightConnector1">
            <a:avLst/>
          </a:prstGeom>
          <a:noFill/>
          <a:ln cap="flat" cmpd="sng" w="38100">
            <a:solidFill>
              <a:schemeClr val="dk2"/>
            </a:solidFill>
            <a:prstDash val="solid"/>
            <a:round/>
            <a:headEnd len="med" w="med" type="none"/>
            <a:tailEnd len="med" w="med" type="stealth"/>
          </a:ln>
        </p:spPr>
      </p:cxnSp>
      <p:sp>
        <p:nvSpPr>
          <p:cNvPr id="143" name="Google Shape;143;p18"/>
          <p:cNvSpPr txBox="1"/>
          <p:nvPr/>
        </p:nvSpPr>
        <p:spPr>
          <a:xfrm>
            <a:off x="3650950" y="5474000"/>
            <a:ext cx="5599800" cy="76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rgbClr val="1C1C1C"/>
                </a:solidFill>
                <a:latin typeface="Helvetica Neue"/>
                <a:ea typeface="Helvetica Neue"/>
                <a:cs typeface="Helvetica Neue"/>
                <a:sym typeface="Helvetica Neue"/>
              </a:rPr>
              <a:t>Problem: the loss must reason on two examples</a:t>
            </a:r>
            <a:endParaRPr b="1" sz="1800">
              <a:solidFill>
                <a:srgbClr val="1C1C1C"/>
              </a:solidFill>
              <a:latin typeface="Helvetica Neue"/>
              <a:ea typeface="Helvetica Neue"/>
              <a:cs typeface="Helvetica Neue"/>
              <a:sym typeface="Helvetica Neue"/>
            </a:endParaRPr>
          </a:p>
        </p:txBody>
      </p:sp>
      <p:sp>
        <p:nvSpPr>
          <p:cNvPr id="144" name="Google Shape;144;p18"/>
          <p:cNvSpPr/>
          <p:nvPr/>
        </p:nvSpPr>
        <p:spPr>
          <a:xfrm>
            <a:off x="11058525" y="2276475"/>
            <a:ext cx="676450" cy="2047875"/>
          </a:xfrm>
          <a:custGeom>
            <a:rect b="b" l="l" r="r" t="t"/>
            <a:pathLst>
              <a:path extrusionOk="0" h="81915" w="27058">
                <a:moveTo>
                  <a:pt x="381" y="0"/>
                </a:moveTo>
                <a:cubicBezTo>
                  <a:pt x="4826" y="6985"/>
                  <a:pt x="27115" y="28258"/>
                  <a:pt x="27051" y="41910"/>
                </a:cubicBezTo>
                <a:cubicBezTo>
                  <a:pt x="26988" y="55563"/>
                  <a:pt x="4509" y="75248"/>
                  <a:pt x="0" y="81915"/>
                </a:cubicBezTo>
              </a:path>
            </a:pathLst>
          </a:custGeom>
          <a:noFill/>
          <a:ln cap="flat" cmpd="sng" w="9525">
            <a:solidFill>
              <a:schemeClr val="dk2"/>
            </a:solidFill>
            <a:prstDash val="solid"/>
            <a:round/>
            <a:headEnd len="med" w="med" type="stealth"/>
            <a:tailEnd len="med" w="med" type="stealth"/>
          </a:ln>
        </p:spPr>
      </p:sp>
      <p:sp>
        <p:nvSpPr>
          <p:cNvPr id="145" name="Google Shape;145;p18"/>
          <p:cNvSpPr txBox="1"/>
          <p:nvPr/>
        </p:nvSpPr>
        <p:spPr>
          <a:xfrm>
            <a:off x="10785450" y="3052863"/>
            <a:ext cx="1073100" cy="53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L(e</a:t>
            </a:r>
            <a:r>
              <a:rPr baseline="-25000" lang="en-US" sz="1800">
                <a:solidFill>
                  <a:srgbClr val="1C1C1C"/>
                </a:solidFill>
                <a:latin typeface="Helvetica Neue Light"/>
                <a:ea typeface="Helvetica Neue Light"/>
                <a:cs typeface="Helvetica Neue Light"/>
                <a:sym typeface="Helvetica Neue Light"/>
              </a:rPr>
              <a:t>q</a:t>
            </a:r>
            <a:r>
              <a:rPr lang="en-US" sz="1800">
                <a:solidFill>
                  <a:srgbClr val="1C1C1C"/>
                </a:solidFill>
                <a:latin typeface="Helvetica Neue Light"/>
                <a:ea typeface="Helvetica Neue Light"/>
                <a:cs typeface="Helvetica Neue Light"/>
                <a:sym typeface="Helvetica Neue Light"/>
              </a:rPr>
              <a:t>, e</a:t>
            </a:r>
            <a:r>
              <a:rPr baseline="-25000" lang="en-US" sz="1800">
                <a:solidFill>
                  <a:srgbClr val="1C1C1C"/>
                </a:solidFill>
                <a:latin typeface="Helvetica Neue Light"/>
                <a:ea typeface="Helvetica Neue Light"/>
                <a:cs typeface="Helvetica Neue Light"/>
                <a:sym typeface="Helvetica Neue Light"/>
              </a:rPr>
              <a:t>d</a:t>
            </a:r>
            <a:r>
              <a:rPr lang="en-US" sz="1800">
                <a:solidFill>
                  <a:srgbClr val="1C1C1C"/>
                </a:solidFill>
                <a:latin typeface="Helvetica Neue Light"/>
                <a:ea typeface="Helvetica Neue Light"/>
                <a:cs typeface="Helvetica Neue Light"/>
                <a:sym typeface="Helvetica Neue Light"/>
              </a:rPr>
              <a:t>)</a:t>
            </a:r>
            <a:endParaRPr sz="1800">
              <a:solidFill>
                <a:srgbClr val="1C1C1C"/>
              </a:solidFill>
              <a:latin typeface="Helvetica Neue Light"/>
              <a:ea typeface="Helvetica Neue Light"/>
              <a:cs typeface="Helvetica Neue Light"/>
              <a:sym typeface="Helvetica Neue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9"/>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spcBef>
                <a:spcPts val="0"/>
              </a:spcBef>
              <a:spcAft>
                <a:spcPts val="0"/>
              </a:spcAft>
              <a:buSzPts val="1400"/>
              <a:buNone/>
            </a:pPr>
            <a:r>
              <a:rPr lang="en-US" sz="3200">
                <a:latin typeface="Calibri"/>
                <a:ea typeface="Calibri"/>
                <a:cs typeface="Calibri"/>
                <a:sym typeface="Calibri"/>
              </a:rPr>
              <a:t>Siamese Network</a:t>
            </a:r>
            <a:endParaRPr sz="3200">
              <a:latin typeface="Calibri"/>
              <a:ea typeface="Calibri"/>
              <a:cs typeface="Calibri"/>
              <a:sym typeface="Calibri"/>
            </a:endParaRPr>
          </a:p>
        </p:txBody>
      </p:sp>
      <p:sp>
        <p:nvSpPr>
          <p:cNvPr id="152" name="Google Shape;152;p19"/>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153" name="Google Shape;153;p19"/>
          <p:cNvSpPr txBox="1"/>
          <p:nvPr/>
        </p:nvSpPr>
        <p:spPr>
          <a:xfrm>
            <a:off x="546075" y="1921175"/>
            <a:ext cx="3759300" cy="76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Query:</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“How do I bake sourdough bread?”</a:t>
            </a:r>
            <a:endParaRPr sz="1800">
              <a:solidFill>
                <a:srgbClr val="1C1C1C"/>
              </a:solidFill>
              <a:latin typeface="Helvetica Neue Light"/>
              <a:ea typeface="Helvetica Neue Light"/>
              <a:cs typeface="Helvetica Neue Light"/>
              <a:sym typeface="Helvetica Neue Light"/>
            </a:endParaRPr>
          </a:p>
        </p:txBody>
      </p:sp>
      <p:sp>
        <p:nvSpPr>
          <p:cNvPr id="154" name="Google Shape;154;p19"/>
          <p:cNvSpPr/>
          <p:nvPr/>
        </p:nvSpPr>
        <p:spPr>
          <a:xfrm>
            <a:off x="1577925" y="3646650"/>
            <a:ext cx="1695600" cy="1381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latin typeface="Helvetica Neue Light"/>
                <a:ea typeface="Helvetica Neue Light"/>
                <a:cs typeface="Helvetica Neue Light"/>
                <a:sym typeface="Helvetica Neue Light"/>
              </a:rPr>
              <a:t>Document about “sourdough bread”</a:t>
            </a:r>
            <a:endParaRPr sz="1800">
              <a:latin typeface="Helvetica Neue Light"/>
              <a:ea typeface="Helvetica Neue Light"/>
              <a:cs typeface="Helvetica Neue Light"/>
              <a:sym typeface="Helvetica Neue Light"/>
            </a:endParaRPr>
          </a:p>
        </p:txBody>
      </p:sp>
      <p:sp>
        <p:nvSpPr>
          <p:cNvPr id="155" name="Google Shape;155;p19"/>
          <p:cNvSpPr/>
          <p:nvPr/>
        </p:nvSpPr>
        <p:spPr>
          <a:xfrm>
            <a:off x="10515600" y="1613375"/>
            <a:ext cx="523800" cy="1381200"/>
          </a:xfrm>
          <a:prstGeom prst="roundRect">
            <a:avLst>
              <a:gd fmla="val 16667"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latin typeface="Helvetica Neue Light"/>
                <a:ea typeface="Helvetica Neue Light"/>
                <a:cs typeface="Helvetica Neue Light"/>
                <a:sym typeface="Helvetica Neue Light"/>
              </a:rPr>
              <a:t>e</a:t>
            </a:r>
            <a:r>
              <a:rPr baseline="-25000" lang="en-US" sz="1800">
                <a:latin typeface="Helvetica Neue Light"/>
                <a:ea typeface="Helvetica Neue Light"/>
                <a:cs typeface="Helvetica Neue Light"/>
                <a:sym typeface="Helvetica Neue Light"/>
              </a:rPr>
              <a:t>q</a:t>
            </a:r>
            <a:endParaRPr baseline="-25000" sz="1800">
              <a:latin typeface="Helvetica Neue Light"/>
              <a:ea typeface="Helvetica Neue Light"/>
              <a:cs typeface="Helvetica Neue Light"/>
              <a:sym typeface="Helvetica Neue Light"/>
            </a:endParaRPr>
          </a:p>
        </p:txBody>
      </p:sp>
      <p:sp>
        <p:nvSpPr>
          <p:cNvPr id="156" name="Google Shape;156;p19"/>
          <p:cNvSpPr/>
          <p:nvPr/>
        </p:nvSpPr>
        <p:spPr>
          <a:xfrm>
            <a:off x="10515600" y="3646650"/>
            <a:ext cx="523800" cy="1381200"/>
          </a:xfrm>
          <a:prstGeom prst="roundRect">
            <a:avLst>
              <a:gd fmla="val 16667" name="adj"/>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latin typeface="Helvetica Neue Light"/>
                <a:ea typeface="Helvetica Neue Light"/>
                <a:cs typeface="Helvetica Neue Light"/>
                <a:sym typeface="Helvetica Neue Light"/>
              </a:rPr>
              <a:t>e</a:t>
            </a:r>
            <a:r>
              <a:rPr baseline="-25000" lang="en-US" sz="1800">
                <a:latin typeface="Helvetica Neue Light"/>
                <a:ea typeface="Helvetica Neue Light"/>
                <a:cs typeface="Helvetica Neue Light"/>
                <a:sym typeface="Helvetica Neue Light"/>
              </a:rPr>
              <a:t>d</a:t>
            </a:r>
            <a:endParaRPr baseline="-25000" sz="1800">
              <a:latin typeface="Helvetica Neue Light"/>
              <a:ea typeface="Helvetica Neue Light"/>
              <a:cs typeface="Helvetica Neue Light"/>
              <a:sym typeface="Helvetica Neue Light"/>
            </a:endParaRPr>
          </a:p>
        </p:txBody>
      </p:sp>
      <p:cxnSp>
        <p:nvCxnSpPr>
          <p:cNvPr id="157" name="Google Shape;157;p19"/>
          <p:cNvCxnSpPr>
            <a:endCxn id="156" idx="1"/>
          </p:cNvCxnSpPr>
          <p:nvPr/>
        </p:nvCxnSpPr>
        <p:spPr>
          <a:xfrm>
            <a:off x="3295500" y="4324350"/>
            <a:ext cx="7220100" cy="12900"/>
          </a:xfrm>
          <a:prstGeom prst="straightConnector1">
            <a:avLst/>
          </a:prstGeom>
          <a:noFill/>
          <a:ln cap="flat" cmpd="sng" w="38100">
            <a:solidFill>
              <a:schemeClr val="dk2"/>
            </a:solidFill>
            <a:prstDash val="solid"/>
            <a:round/>
            <a:headEnd len="med" w="med" type="none"/>
            <a:tailEnd len="med" w="med" type="stealth"/>
          </a:ln>
        </p:spPr>
      </p:cxnSp>
      <p:cxnSp>
        <p:nvCxnSpPr>
          <p:cNvPr id="158" name="Google Shape;158;p19"/>
          <p:cNvCxnSpPr>
            <a:stCxn id="153" idx="3"/>
            <a:endCxn id="155" idx="1"/>
          </p:cNvCxnSpPr>
          <p:nvPr/>
        </p:nvCxnSpPr>
        <p:spPr>
          <a:xfrm>
            <a:off x="4305375" y="2303975"/>
            <a:ext cx="6210300" cy="0"/>
          </a:xfrm>
          <a:prstGeom prst="straightConnector1">
            <a:avLst/>
          </a:prstGeom>
          <a:noFill/>
          <a:ln cap="flat" cmpd="sng" w="38100">
            <a:solidFill>
              <a:schemeClr val="dk2"/>
            </a:solidFill>
            <a:prstDash val="solid"/>
            <a:round/>
            <a:headEnd len="med" w="med" type="none"/>
            <a:tailEnd len="med" w="med" type="stealth"/>
          </a:ln>
        </p:spPr>
      </p:cxnSp>
      <p:sp>
        <p:nvSpPr>
          <p:cNvPr id="159" name="Google Shape;159;p19"/>
          <p:cNvSpPr txBox="1"/>
          <p:nvPr/>
        </p:nvSpPr>
        <p:spPr>
          <a:xfrm>
            <a:off x="3650950" y="5474000"/>
            <a:ext cx="5599800" cy="76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rgbClr val="1C1C1C"/>
                </a:solidFill>
                <a:latin typeface="Helvetica Neue"/>
                <a:ea typeface="Helvetica Neue"/>
                <a:cs typeface="Helvetica Neue"/>
                <a:sym typeface="Helvetica Neue"/>
              </a:rPr>
              <a:t>Solution: “create” two copies of the network with shared weights (siamese networks)</a:t>
            </a:r>
            <a:endParaRPr b="1" sz="1800">
              <a:solidFill>
                <a:srgbClr val="1C1C1C"/>
              </a:solidFill>
              <a:latin typeface="Helvetica Neue"/>
              <a:ea typeface="Helvetica Neue"/>
              <a:cs typeface="Helvetica Neue"/>
              <a:sym typeface="Helvetica Neue"/>
            </a:endParaRPr>
          </a:p>
        </p:txBody>
      </p:sp>
      <p:sp>
        <p:nvSpPr>
          <p:cNvPr id="160" name="Google Shape;160;p19"/>
          <p:cNvSpPr/>
          <p:nvPr/>
        </p:nvSpPr>
        <p:spPr>
          <a:xfrm>
            <a:off x="11058525" y="2276475"/>
            <a:ext cx="676450" cy="2047875"/>
          </a:xfrm>
          <a:custGeom>
            <a:rect b="b" l="l" r="r" t="t"/>
            <a:pathLst>
              <a:path extrusionOk="0" h="81915" w="27058">
                <a:moveTo>
                  <a:pt x="381" y="0"/>
                </a:moveTo>
                <a:cubicBezTo>
                  <a:pt x="4826" y="6985"/>
                  <a:pt x="27115" y="28258"/>
                  <a:pt x="27051" y="41910"/>
                </a:cubicBezTo>
                <a:cubicBezTo>
                  <a:pt x="26988" y="55563"/>
                  <a:pt x="4509" y="75248"/>
                  <a:pt x="0" y="81915"/>
                </a:cubicBezTo>
              </a:path>
            </a:pathLst>
          </a:custGeom>
          <a:noFill/>
          <a:ln cap="flat" cmpd="sng" w="9525">
            <a:solidFill>
              <a:schemeClr val="dk2"/>
            </a:solidFill>
            <a:prstDash val="solid"/>
            <a:round/>
            <a:headEnd len="med" w="med" type="stealth"/>
            <a:tailEnd len="med" w="med" type="stealth"/>
          </a:ln>
        </p:spPr>
      </p:sp>
      <p:sp>
        <p:nvSpPr>
          <p:cNvPr id="161" name="Google Shape;161;p19"/>
          <p:cNvSpPr txBox="1"/>
          <p:nvPr/>
        </p:nvSpPr>
        <p:spPr>
          <a:xfrm>
            <a:off x="10785450" y="3052863"/>
            <a:ext cx="1073100" cy="53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L(e</a:t>
            </a:r>
            <a:r>
              <a:rPr baseline="-25000" lang="en-US" sz="1800">
                <a:solidFill>
                  <a:srgbClr val="1C1C1C"/>
                </a:solidFill>
                <a:latin typeface="Helvetica Neue Light"/>
                <a:ea typeface="Helvetica Neue Light"/>
                <a:cs typeface="Helvetica Neue Light"/>
                <a:sym typeface="Helvetica Neue Light"/>
              </a:rPr>
              <a:t>q</a:t>
            </a:r>
            <a:r>
              <a:rPr lang="en-US" sz="1800">
                <a:solidFill>
                  <a:srgbClr val="1C1C1C"/>
                </a:solidFill>
                <a:latin typeface="Helvetica Neue Light"/>
                <a:ea typeface="Helvetica Neue Light"/>
                <a:cs typeface="Helvetica Neue Light"/>
                <a:sym typeface="Helvetica Neue Light"/>
              </a:rPr>
              <a:t>, e</a:t>
            </a:r>
            <a:r>
              <a:rPr baseline="-25000" lang="en-US" sz="1800">
                <a:solidFill>
                  <a:srgbClr val="1C1C1C"/>
                </a:solidFill>
                <a:latin typeface="Helvetica Neue Light"/>
                <a:ea typeface="Helvetica Neue Light"/>
                <a:cs typeface="Helvetica Neue Light"/>
                <a:sym typeface="Helvetica Neue Light"/>
              </a:rPr>
              <a:t>d</a:t>
            </a:r>
            <a:r>
              <a:rPr lang="en-US" sz="1800">
                <a:solidFill>
                  <a:srgbClr val="1C1C1C"/>
                </a:solidFill>
                <a:latin typeface="Helvetica Neue Light"/>
                <a:ea typeface="Helvetica Neue Light"/>
                <a:cs typeface="Helvetica Neue Light"/>
                <a:sym typeface="Helvetica Neue Light"/>
              </a:rPr>
              <a:t>)</a:t>
            </a:r>
            <a:endParaRPr sz="1800">
              <a:solidFill>
                <a:srgbClr val="1C1C1C"/>
              </a:solidFill>
              <a:latin typeface="Helvetica Neue Light"/>
              <a:ea typeface="Helvetica Neue Light"/>
              <a:cs typeface="Helvetica Neue Light"/>
              <a:sym typeface="Helvetica Neue Light"/>
            </a:endParaRPr>
          </a:p>
        </p:txBody>
      </p:sp>
      <p:pic>
        <p:nvPicPr>
          <p:cNvPr id="162" name="Google Shape;162;p19" title="transformers.png"/>
          <p:cNvPicPr preferRelativeResize="0"/>
          <p:nvPr/>
        </p:nvPicPr>
        <p:blipFill rotWithShape="1">
          <a:blip r:embed="rId3">
            <a:alphaModFix/>
          </a:blip>
          <a:srcRect b="26169" l="74748" r="2887" t="27838"/>
          <a:stretch/>
        </p:blipFill>
        <p:spPr>
          <a:xfrm rot="5400000">
            <a:off x="5290486" y="697738"/>
            <a:ext cx="2320727" cy="3062201"/>
          </a:xfrm>
          <a:prstGeom prst="rect">
            <a:avLst/>
          </a:prstGeom>
          <a:noFill/>
          <a:ln>
            <a:noFill/>
          </a:ln>
        </p:spPr>
      </p:pic>
      <p:pic>
        <p:nvPicPr>
          <p:cNvPr id="163" name="Google Shape;163;p19" title="transformers.png"/>
          <p:cNvPicPr preferRelativeResize="0"/>
          <p:nvPr/>
        </p:nvPicPr>
        <p:blipFill rotWithShape="1">
          <a:blip r:embed="rId3">
            <a:alphaModFix/>
          </a:blip>
          <a:srcRect b="26169" l="74748" r="2887" t="27838"/>
          <a:stretch/>
        </p:blipFill>
        <p:spPr>
          <a:xfrm rot="5400000">
            <a:off x="5385736" y="2806150"/>
            <a:ext cx="2320727" cy="3062201"/>
          </a:xfrm>
          <a:prstGeom prst="rect">
            <a:avLst/>
          </a:prstGeom>
          <a:noFill/>
          <a:ln>
            <a:noFill/>
          </a:ln>
        </p:spPr>
      </p:pic>
      <p:sp>
        <p:nvSpPr>
          <p:cNvPr id="164" name="Google Shape;164;p19"/>
          <p:cNvSpPr/>
          <p:nvPr/>
        </p:nvSpPr>
        <p:spPr>
          <a:xfrm>
            <a:off x="4943475" y="1295400"/>
            <a:ext cx="3286200" cy="3817800"/>
          </a:xfrm>
          <a:prstGeom prst="roundRect">
            <a:avLst>
              <a:gd fmla="val 16667" name="adj"/>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Light"/>
              <a:ea typeface="Helvetica Neue Light"/>
              <a:cs typeface="Helvetica Neue Light"/>
              <a:sym typeface="Helvetica Neue Light"/>
            </a:endParaRPr>
          </a:p>
        </p:txBody>
      </p:sp>
      <p:sp>
        <p:nvSpPr>
          <p:cNvPr id="165" name="Google Shape;165;p19"/>
          <p:cNvSpPr txBox="1"/>
          <p:nvPr/>
        </p:nvSpPr>
        <p:spPr>
          <a:xfrm>
            <a:off x="5609925" y="2936550"/>
            <a:ext cx="2143800" cy="53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Shared parameters</a:t>
            </a:r>
            <a:endParaRPr sz="1800">
              <a:solidFill>
                <a:srgbClr val="1C1C1C"/>
              </a:solidFill>
              <a:latin typeface="Helvetica Neue Light"/>
              <a:ea typeface="Helvetica Neue Light"/>
              <a:cs typeface="Helvetica Neue Light"/>
              <a:sym typeface="Helvetica Neue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0"/>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spcBef>
                <a:spcPts val="0"/>
              </a:spcBef>
              <a:spcAft>
                <a:spcPts val="0"/>
              </a:spcAft>
              <a:buSzPts val="1400"/>
              <a:buNone/>
            </a:pPr>
            <a:r>
              <a:rPr lang="en-US" sz="3200">
                <a:latin typeface="Calibri"/>
                <a:ea typeface="Calibri"/>
                <a:cs typeface="Calibri"/>
                <a:sym typeface="Calibri"/>
              </a:rPr>
              <a:t>Dense bi-encoder retrievers training loss</a:t>
            </a:r>
            <a:endParaRPr sz="3200">
              <a:latin typeface="Calibri"/>
              <a:ea typeface="Calibri"/>
              <a:cs typeface="Calibri"/>
              <a:sym typeface="Calibri"/>
            </a:endParaRPr>
          </a:p>
        </p:txBody>
      </p:sp>
      <p:sp>
        <p:nvSpPr>
          <p:cNvPr id="172" name="Google Shape;172;p20"/>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173" name="Google Shape;173;p20"/>
          <p:cNvSpPr txBox="1"/>
          <p:nvPr/>
        </p:nvSpPr>
        <p:spPr>
          <a:xfrm>
            <a:off x="3650950" y="5474000"/>
            <a:ext cx="5599800" cy="76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1C1C1C"/>
              </a:solidFill>
              <a:latin typeface="Helvetica Neue"/>
              <a:ea typeface="Helvetica Neue"/>
              <a:cs typeface="Helvetica Neue"/>
              <a:sym typeface="Helvetica Neue"/>
            </a:endParaRPr>
          </a:p>
        </p:txBody>
      </p:sp>
      <p:sp>
        <p:nvSpPr>
          <p:cNvPr id="174" name="Google Shape;174;p20"/>
          <p:cNvSpPr txBox="1"/>
          <p:nvPr/>
        </p:nvSpPr>
        <p:spPr>
          <a:xfrm>
            <a:off x="593700" y="1310775"/>
            <a:ext cx="10884000" cy="511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Let D = {(q</a:t>
            </a:r>
            <a:r>
              <a:rPr baseline="-25000" lang="en-US" sz="1800">
                <a:solidFill>
                  <a:srgbClr val="1C1C1C"/>
                </a:solidFill>
                <a:latin typeface="Helvetica Neue Light"/>
                <a:ea typeface="Helvetica Neue Light"/>
                <a:cs typeface="Helvetica Neue Light"/>
                <a:sym typeface="Helvetica Neue Light"/>
              </a:rPr>
              <a:t>i</a:t>
            </a:r>
            <a:r>
              <a:rPr lang="en-US" sz="1800">
                <a:solidFill>
                  <a:srgbClr val="1C1C1C"/>
                </a:solidFill>
                <a:latin typeface="Helvetica Neue Light"/>
                <a:ea typeface="Helvetica Neue Light"/>
                <a:cs typeface="Helvetica Neue Light"/>
                <a:sym typeface="Helvetica Neue Light"/>
              </a:rPr>
              <a:t> , p</a:t>
            </a:r>
            <a:r>
              <a:rPr baseline="30000" lang="en-US" sz="1800">
                <a:solidFill>
                  <a:srgbClr val="1C1C1C"/>
                </a:solidFill>
                <a:latin typeface="Helvetica Neue Light"/>
                <a:ea typeface="Helvetica Neue Light"/>
                <a:cs typeface="Helvetica Neue Light"/>
                <a:sym typeface="Helvetica Neue Light"/>
              </a:rPr>
              <a:t>+</a:t>
            </a:r>
            <a:r>
              <a:rPr baseline="-25000" lang="en-US" sz="1800">
                <a:solidFill>
                  <a:srgbClr val="1C1C1C"/>
                </a:solidFill>
                <a:latin typeface="Helvetica Neue Light"/>
                <a:ea typeface="Helvetica Neue Light"/>
                <a:cs typeface="Helvetica Neue Light"/>
                <a:sym typeface="Helvetica Neue Light"/>
              </a:rPr>
              <a:t>i</a:t>
            </a:r>
            <a:r>
              <a:rPr lang="en-US" sz="1800">
                <a:solidFill>
                  <a:srgbClr val="1C1C1C"/>
                </a:solidFill>
                <a:latin typeface="Helvetica Neue Light"/>
                <a:ea typeface="Helvetica Neue Light"/>
                <a:cs typeface="Helvetica Neue Light"/>
                <a:sym typeface="Helvetica Neue Light"/>
              </a:rPr>
              <a:t> , p</a:t>
            </a:r>
            <a:r>
              <a:rPr baseline="30000" lang="en-US" sz="1800">
                <a:solidFill>
                  <a:srgbClr val="1C1C1C"/>
                </a:solidFill>
                <a:latin typeface="Helvetica Neue Light"/>
                <a:ea typeface="Helvetica Neue Light"/>
                <a:cs typeface="Helvetica Neue Light"/>
                <a:sym typeface="Helvetica Neue Light"/>
              </a:rPr>
              <a:t>−</a:t>
            </a:r>
            <a:r>
              <a:rPr baseline="-25000" lang="en-US" sz="1800">
                <a:solidFill>
                  <a:srgbClr val="1C1C1C"/>
                </a:solidFill>
                <a:latin typeface="Helvetica Neue Light"/>
                <a:ea typeface="Helvetica Neue Light"/>
                <a:cs typeface="Helvetica Neue Light"/>
                <a:sym typeface="Helvetica Neue Light"/>
              </a:rPr>
              <a:t>i,1</a:t>
            </a:r>
            <a:r>
              <a:rPr lang="en-US" sz="1800">
                <a:solidFill>
                  <a:srgbClr val="1C1C1C"/>
                </a:solidFill>
                <a:latin typeface="Helvetica Neue Light"/>
                <a:ea typeface="Helvetica Neue Light"/>
                <a:cs typeface="Helvetica Neue Light"/>
                <a:sym typeface="Helvetica Neue Light"/>
              </a:rPr>
              <a:t>,..., p</a:t>
            </a:r>
            <a:r>
              <a:rPr baseline="30000" lang="en-US" sz="1800">
                <a:solidFill>
                  <a:srgbClr val="1C1C1C"/>
                </a:solidFill>
                <a:latin typeface="Helvetica Neue Light"/>
                <a:ea typeface="Helvetica Neue Light"/>
                <a:cs typeface="Helvetica Neue Light"/>
                <a:sym typeface="Helvetica Neue Light"/>
              </a:rPr>
              <a:t>−</a:t>
            </a:r>
            <a:r>
              <a:rPr baseline="-25000" lang="en-US" sz="1800">
                <a:solidFill>
                  <a:srgbClr val="1C1C1C"/>
                </a:solidFill>
                <a:latin typeface="Helvetica Neue Light"/>
                <a:ea typeface="Helvetica Neue Light"/>
                <a:cs typeface="Helvetica Neue Light"/>
                <a:sym typeface="Helvetica Neue Light"/>
              </a:rPr>
              <a:t>i,n</a:t>
            </a:r>
            <a:r>
              <a:rPr lang="en-US" sz="1800">
                <a:solidFill>
                  <a:srgbClr val="1C1C1C"/>
                </a:solidFill>
                <a:latin typeface="Helvetica Neue Light"/>
                <a:ea typeface="Helvetica Neue Light"/>
                <a:cs typeface="Helvetica Neue Light"/>
                <a:sym typeface="Helvetica Neue Light"/>
              </a:rPr>
              <a:t>} for i=1…m be the training data that consists of m instances. Each instance contains one question q</a:t>
            </a:r>
            <a:r>
              <a:rPr baseline="-25000" lang="en-US" sz="1800">
                <a:solidFill>
                  <a:srgbClr val="1C1C1C"/>
                </a:solidFill>
                <a:latin typeface="Helvetica Neue Light"/>
                <a:ea typeface="Helvetica Neue Light"/>
                <a:cs typeface="Helvetica Neue Light"/>
                <a:sym typeface="Helvetica Neue Light"/>
              </a:rPr>
              <a:t>i</a:t>
            </a:r>
            <a:r>
              <a:rPr lang="en-US" sz="1800">
                <a:solidFill>
                  <a:srgbClr val="1C1C1C"/>
                </a:solidFill>
                <a:latin typeface="Helvetica Neue Light"/>
                <a:ea typeface="Helvetica Neue Light"/>
                <a:cs typeface="Helvetica Neue Light"/>
                <a:sym typeface="Helvetica Neue Light"/>
              </a:rPr>
              <a:t> and one relevant (positive) passage p</a:t>
            </a:r>
            <a:r>
              <a:rPr baseline="30000" lang="en-US" sz="1800">
                <a:solidFill>
                  <a:srgbClr val="1C1C1C"/>
                </a:solidFill>
                <a:latin typeface="Helvetica Neue Light"/>
                <a:ea typeface="Helvetica Neue Light"/>
                <a:cs typeface="Helvetica Neue Light"/>
                <a:sym typeface="Helvetica Neue Light"/>
              </a:rPr>
              <a:t>+</a:t>
            </a:r>
            <a:r>
              <a:rPr baseline="-25000" lang="en-US" sz="1800">
                <a:solidFill>
                  <a:srgbClr val="1C1C1C"/>
                </a:solidFill>
                <a:latin typeface="Helvetica Neue Light"/>
                <a:ea typeface="Helvetica Neue Light"/>
                <a:cs typeface="Helvetica Neue Light"/>
                <a:sym typeface="Helvetica Neue Light"/>
              </a:rPr>
              <a:t>i</a:t>
            </a:r>
            <a:r>
              <a:rPr lang="en-US" sz="1800">
                <a:solidFill>
                  <a:srgbClr val="1C1C1C"/>
                </a:solidFill>
                <a:latin typeface="Helvetica Neue Light"/>
                <a:ea typeface="Helvetica Neue Light"/>
                <a:cs typeface="Helvetica Neue Light"/>
                <a:sym typeface="Helvetica Neue Light"/>
              </a:rPr>
              <a:t> , along with n irrelevant (negative) passages p</a:t>
            </a:r>
            <a:r>
              <a:rPr baseline="30000" lang="en-US" sz="1800">
                <a:solidFill>
                  <a:srgbClr val="1C1C1C"/>
                </a:solidFill>
                <a:latin typeface="Helvetica Neue Light"/>
                <a:ea typeface="Helvetica Neue Light"/>
                <a:cs typeface="Helvetica Neue Light"/>
                <a:sym typeface="Helvetica Neue Light"/>
              </a:rPr>
              <a:t>-</a:t>
            </a:r>
            <a:r>
              <a:rPr baseline="-25000" lang="en-US" sz="1800">
                <a:solidFill>
                  <a:srgbClr val="1C1C1C"/>
                </a:solidFill>
                <a:latin typeface="Helvetica Neue Light"/>
                <a:ea typeface="Helvetica Neue Light"/>
                <a:cs typeface="Helvetica Neue Light"/>
                <a:sym typeface="Helvetica Neue Light"/>
              </a:rPr>
              <a:t>i,j</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We optimize the loss function as the negative log likelihood of the positive passage:</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Negative samples can be obtained by randomly extracting non-gold samples from the dataset.</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However, a better approach are </a:t>
            </a:r>
            <a:r>
              <a:rPr b="1" lang="en-US" sz="1800">
                <a:solidFill>
                  <a:srgbClr val="1C1C1C"/>
                </a:solidFill>
                <a:latin typeface="Helvetica Neue"/>
                <a:ea typeface="Helvetica Neue"/>
                <a:cs typeface="Helvetica Neue"/>
                <a:sym typeface="Helvetica Neue"/>
              </a:rPr>
              <a:t>hard-negatives</a:t>
            </a:r>
            <a:r>
              <a:rPr lang="en-US" sz="1800">
                <a:solidFill>
                  <a:srgbClr val="1C1C1C"/>
                </a:solidFill>
                <a:latin typeface="Helvetica Neue Light"/>
                <a:ea typeface="Helvetica Neue Light"/>
                <a:cs typeface="Helvetica Neue Light"/>
                <a:sym typeface="Helvetica Neue Light"/>
              </a:rPr>
              <a:t>, i.e. samples that are difficult to classify as negatives.</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Char char="●"/>
            </a:pPr>
            <a:r>
              <a:rPr lang="en-US" sz="1800">
                <a:solidFill>
                  <a:srgbClr val="1C1C1C"/>
                </a:solidFill>
                <a:latin typeface="Helvetica Neue Light"/>
                <a:ea typeface="Helvetica Neue Light"/>
                <a:cs typeface="Helvetica Neue Light"/>
                <a:sym typeface="Helvetica Neue Light"/>
              </a:rPr>
              <a:t>For example, these samples could be extracted using BM25 -&gt; top passages returned by BM25 which don’t contain the answer but match most question tokens.</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p:txBody>
      </p:sp>
      <p:pic>
        <p:nvPicPr>
          <p:cNvPr id="175" name="Google Shape;175;p20"/>
          <p:cNvPicPr preferRelativeResize="0"/>
          <p:nvPr/>
        </p:nvPicPr>
        <p:blipFill>
          <a:blip r:embed="rId3">
            <a:alphaModFix/>
          </a:blip>
          <a:stretch>
            <a:fillRect/>
          </a:stretch>
        </p:blipFill>
        <p:spPr>
          <a:xfrm>
            <a:off x="1562097" y="3690947"/>
            <a:ext cx="3867150" cy="655825"/>
          </a:xfrm>
          <a:prstGeom prst="rect">
            <a:avLst/>
          </a:prstGeom>
          <a:noFill/>
          <a:ln>
            <a:noFill/>
          </a:ln>
        </p:spPr>
      </p:pic>
      <p:pic>
        <p:nvPicPr>
          <p:cNvPr id="176" name="Google Shape;176;p20"/>
          <p:cNvPicPr preferRelativeResize="0"/>
          <p:nvPr/>
        </p:nvPicPr>
        <p:blipFill>
          <a:blip r:embed="rId4">
            <a:alphaModFix/>
          </a:blip>
          <a:stretch>
            <a:fillRect/>
          </a:stretch>
        </p:blipFill>
        <p:spPr>
          <a:xfrm>
            <a:off x="5030100" y="3568474"/>
            <a:ext cx="5599799" cy="107155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1"/>
          <p:cNvSpPr/>
          <p:nvPr/>
        </p:nvSpPr>
        <p:spPr>
          <a:xfrm>
            <a:off x="6908850" y="2442700"/>
            <a:ext cx="4343400" cy="1857300"/>
          </a:xfrm>
          <a:prstGeom prst="roundRect">
            <a:avLst>
              <a:gd fmla="val 1666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Light"/>
              <a:ea typeface="Helvetica Neue Light"/>
              <a:cs typeface="Helvetica Neue Light"/>
              <a:sym typeface="Helvetica Neue Light"/>
            </a:endParaRPr>
          </a:p>
        </p:txBody>
      </p:sp>
      <p:sp>
        <p:nvSpPr>
          <p:cNvPr id="183" name="Google Shape;183;p21"/>
          <p:cNvSpPr txBox="1"/>
          <p:nvPr/>
        </p:nvSpPr>
        <p:spPr>
          <a:xfrm>
            <a:off x="4545000" y="2921575"/>
            <a:ext cx="2517900" cy="53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500">
                <a:solidFill>
                  <a:srgbClr val="1C1C1C"/>
                </a:solidFill>
                <a:latin typeface="Helvetica Neue Light"/>
                <a:ea typeface="Helvetica Neue Light"/>
                <a:cs typeface="Helvetica Neue Light"/>
                <a:sym typeface="Helvetica Neue Light"/>
              </a:rPr>
              <a:t>bring them closer</a:t>
            </a:r>
            <a:endParaRPr sz="1500">
              <a:solidFill>
                <a:srgbClr val="1C1C1C"/>
              </a:solidFill>
              <a:latin typeface="Helvetica Neue Light"/>
              <a:ea typeface="Helvetica Neue Light"/>
              <a:cs typeface="Helvetica Neue Light"/>
              <a:sym typeface="Helvetica Neue Light"/>
            </a:endParaRPr>
          </a:p>
        </p:txBody>
      </p:sp>
      <p:sp>
        <p:nvSpPr>
          <p:cNvPr id="184" name="Google Shape;184;p21"/>
          <p:cNvSpPr/>
          <p:nvPr/>
        </p:nvSpPr>
        <p:spPr>
          <a:xfrm>
            <a:off x="4699050" y="4452475"/>
            <a:ext cx="4343400" cy="1857300"/>
          </a:xfrm>
          <a:prstGeom prst="roundRect">
            <a:avLst>
              <a:gd fmla="val 16667" name="adj"/>
            </a:avLst>
          </a:prstGeom>
          <a:noFill/>
          <a:ln cap="flat" cmpd="sng" w="9525">
            <a:solidFill>
              <a:schemeClr val="dk2"/>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Light"/>
              <a:ea typeface="Helvetica Neue Light"/>
              <a:cs typeface="Helvetica Neue Light"/>
              <a:sym typeface="Helvetica Neue Light"/>
            </a:endParaRPr>
          </a:p>
        </p:txBody>
      </p:sp>
      <p:sp>
        <p:nvSpPr>
          <p:cNvPr id="185" name="Google Shape;185;p21"/>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spcBef>
                <a:spcPts val="0"/>
              </a:spcBef>
              <a:spcAft>
                <a:spcPts val="0"/>
              </a:spcAft>
              <a:buSzPts val="1400"/>
              <a:buNone/>
            </a:pPr>
            <a:r>
              <a:rPr lang="en-US" sz="3200">
                <a:latin typeface="Calibri"/>
                <a:ea typeface="Calibri"/>
                <a:cs typeface="Calibri"/>
                <a:sym typeface="Calibri"/>
              </a:rPr>
              <a:t>Dense bi-encoder retrievers training loss</a:t>
            </a:r>
            <a:endParaRPr sz="3200">
              <a:latin typeface="Calibri"/>
              <a:ea typeface="Calibri"/>
              <a:cs typeface="Calibri"/>
              <a:sym typeface="Calibri"/>
            </a:endParaRPr>
          </a:p>
        </p:txBody>
      </p:sp>
      <p:sp>
        <p:nvSpPr>
          <p:cNvPr id="186" name="Google Shape;186;p21"/>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187" name="Google Shape;187;p21"/>
          <p:cNvSpPr txBox="1"/>
          <p:nvPr/>
        </p:nvSpPr>
        <p:spPr>
          <a:xfrm>
            <a:off x="593700" y="1310775"/>
            <a:ext cx="10884000" cy="173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The idea of applying the loss with hard-negative mining is to push away (in the representation space) documents that are similar, but do not contain the answer</a:t>
            </a:r>
            <a:endParaRPr sz="1800">
              <a:solidFill>
                <a:srgbClr val="1C1C1C"/>
              </a:solidFill>
              <a:latin typeface="Helvetica Neue Light"/>
              <a:ea typeface="Helvetica Neue Light"/>
              <a:cs typeface="Helvetica Neue Light"/>
              <a:sym typeface="Helvetica Neue Light"/>
            </a:endParaRPr>
          </a:p>
        </p:txBody>
      </p:sp>
      <p:sp>
        <p:nvSpPr>
          <p:cNvPr id="188" name="Google Shape;188;p21"/>
          <p:cNvSpPr txBox="1"/>
          <p:nvPr/>
        </p:nvSpPr>
        <p:spPr>
          <a:xfrm>
            <a:off x="939750" y="2990350"/>
            <a:ext cx="3759300" cy="765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Query:</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“How do I bake sourdough bread?”</a:t>
            </a:r>
            <a:endParaRPr sz="1800">
              <a:solidFill>
                <a:srgbClr val="1C1C1C"/>
              </a:solidFill>
              <a:latin typeface="Helvetica Neue Light"/>
              <a:ea typeface="Helvetica Neue Light"/>
              <a:cs typeface="Helvetica Neue Light"/>
              <a:sym typeface="Helvetica Neue Light"/>
            </a:endParaRPr>
          </a:p>
        </p:txBody>
      </p:sp>
      <p:sp>
        <p:nvSpPr>
          <p:cNvPr id="189" name="Google Shape;189;p21"/>
          <p:cNvSpPr/>
          <p:nvPr/>
        </p:nvSpPr>
        <p:spPr>
          <a:xfrm>
            <a:off x="7219775" y="2682550"/>
            <a:ext cx="1695600" cy="1381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latin typeface="Helvetica Neue Light"/>
                <a:ea typeface="Helvetica Neue Light"/>
                <a:cs typeface="Helvetica Neue Light"/>
                <a:sym typeface="Helvetica Neue Light"/>
              </a:rPr>
              <a:t>Document about “sourdough bread”</a:t>
            </a:r>
            <a:endParaRPr sz="1800">
              <a:latin typeface="Helvetica Neue Light"/>
              <a:ea typeface="Helvetica Neue Light"/>
              <a:cs typeface="Helvetica Neue Light"/>
              <a:sym typeface="Helvetica Neue Light"/>
            </a:endParaRPr>
          </a:p>
        </p:txBody>
      </p:sp>
      <p:sp>
        <p:nvSpPr>
          <p:cNvPr id="190" name="Google Shape;190;p21"/>
          <p:cNvSpPr/>
          <p:nvPr/>
        </p:nvSpPr>
        <p:spPr>
          <a:xfrm>
            <a:off x="9134300" y="2682550"/>
            <a:ext cx="1956000" cy="1381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600">
                <a:latin typeface="Helvetica Neue Light"/>
                <a:ea typeface="Helvetica Neue Light"/>
                <a:cs typeface="Helvetica Neue Light"/>
                <a:sym typeface="Helvetica Neue Light"/>
              </a:rPr>
              <a:t>Document about “difference between sourdough bread and bread sticks”</a:t>
            </a:r>
            <a:endParaRPr sz="1600">
              <a:latin typeface="Helvetica Neue Light"/>
              <a:ea typeface="Helvetica Neue Light"/>
              <a:cs typeface="Helvetica Neue Light"/>
              <a:sym typeface="Helvetica Neue Light"/>
            </a:endParaRPr>
          </a:p>
        </p:txBody>
      </p:sp>
      <p:cxnSp>
        <p:nvCxnSpPr>
          <p:cNvPr id="191" name="Google Shape;191;p21"/>
          <p:cNvCxnSpPr>
            <a:stCxn id="188" idx="3"/>
            <a:endCxn id="182" idx="1"/>
          </p:cNvCxnSpPr>
          <p:nvPr/>
        </p:nvCxnSpPr>
        <p:spPr>
          <a:xfrm flipH="1" rot="10800000">
            <a:off x="4699050" y="3371350"/>
            <a:ext cx="2209800" cy="1800"/>
          </a:xfrm>
          <a:prstGeom prst="straightConnector1">
            <a:avLst/>
          </a:prstGeom>
          <a:noFill/>
          <a:ln cap="flat" cmpd="sng" w="9525">
            <a:solidFill>
              <a:schemeClr val="dk2"/>
            </a:solidFill>
            <a:prstDash val="solid"/>
            <a:round/>
            <a:headEnd len="med" w="med" type="triangle"/>
            <a:tailEnd len="med" w="med" type="triangle"/>
          </a:ln>
        </p:spPr>
      </p:cxnSp>
      <p:sp>
        <p:nvSpPr>
          <p:cNvPr id="192" name="Google Shape;192;p21"/>
          <p:cNvSpPr/>
          <p:nvPr/>
        </p:nvSpPr>
        <p:spPr>
          <a:xfrm>
            <a:off x="5009975" y="4692325"/>
            <a:ext cx="1695600" cy="1381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latin typeface="Helvetica Neue Light"/>
                <a:ea typeface="Helvetica Neue Light"/>
                <a:cs typeface="Helvetica Neue Light"/>
                <a:sym typeface="Helvetica Neue Light"/>
              </a:rPr>
              <a:t>Document about “cooking pasta”</a:t>
            </a:r>
            <a:endParaRPr sz="1800">
              <a:latin typeface="Helvetica Neue Light"/>
              <a:ea typeface="Helvetica Neue Light"/>
              <a:cs typeface="Helvetica Neue Light"/>
              <a:sym typeface="Helvetica Neue Light"/>
            </a:endParaRPr>
          </a:p>
        </p:txBody>
      </p:sp>
      <p:sp>
        <p:nvSpPr>
          <p:cNvPr id="193" name="Google Shape;193;p21"/>
          <p:cNvSpPr/>
          <p:nvPr/>
        </p:nvSpPr>
        <p:spPr>
          <a:xfrm>
            <a:off x="7029275" y="4692325"/>
            <a:ext cx="1695600" cy="13812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800">
                <a:latin typeface="Helvetica Neue Light"/>
                <a:ea typeface="Helvetica Neue Light"/>
                <a:cs typeface="Helvetica Neue Light"/>
                <a:sym typeface="Helvetica Neue Light"/>
              </a:rPr>
              <a:t>Document about “bread sticks”</a:t>
            </a:r>
            <a:endParaRPr sz="1800">
              <a:latin typeface="Helvetica Neue Light"/>
              <a:ea typeface="Helvetica Neue Light"/>
              <a:cs typeface="Helvetica Neue Light"/>
              <a:sym typeface="Helvetica Neue Light"/>
            </a:endParaRPr>
          </a:p>
        </p:txBody>
      </p:sp>
      <p:sp>
        <p:nvSpPr>
          <p:cNvPr id="194" name="Google Shape;194;p21"/>
          <p:cNvSpPr txBox="1"/>
          <p:nvPr/>
        </p:nvSpPr>
        <p:spPr>
          <a:xfrm>
            <a:off x="2544750" y="4378900"/>
            <a:ext cx="2517900" cy="53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500">
                <a:solidFill>
                  <a:srgbClr val="1C1C1C"/>
                </a:solidFill>
                <a:latin typeface="Helvetica Neue Light"/>
                <a:ea typeface="Helvetica Neue Light"/>
                <a:cs typeface="Helvetica Neue Light"/>
                <a:sym typeface="Helvetica Neue Light"/>
              </a:rPr>
              <a:t>push</a:t>
            </a:r>
            <a:r>
              <a:rPr lang="en-US" sz="1500">
                <a:solidFill>
                  <a:srgbClr val="1C1C1C"/>
                </a:solidFill>
                <a:latin typeface="Helvetica Neue Light"/>
                <a:ea typeface="Helvetica Neue Light"/>
                <a:cs typeface="Helvetica Neue Light"/>
                <a:sym typeface="Helvetica Neue Light"/>
              </a:rPr>
              <a:t> them farther</a:t>
            </a:r>
            <a:endParaRPr sz="1500">
              <a:solidFill>
                <a:srgbClr val="1C1C1C"/>
              </a:solidFill>
              <a:latin typeface="Helvetica Neue Light"/>
              <a:ea typeface="Helvetica Neue Light"/>
              <a:cs typeface="Helvetica Neue Light"/>
              <a:sym typeface="Helvetica Neue Light"/>
            </a:endParaRPr>
          </a:p>
        </p:txBody>
      </p:sp>
      <p:sp>
        <p:nvSpPr>
          <p:cNvPr id="195" name="Google Shape;195;p21"/>
          <p:cNvSpPr/>
          <p:nvPr/>
        </p:nvSpPr>
        <p:spPr>
          <a:xfrm>
            <a:off x="2621533" y="3669500"/>
            <a:ext cx="2086950" cy="1807000"/>
          </a:xfrm>
          <a:custGeom>
            <a:rect b="b" l="l" r="r" t="t"/>
            <a:pathLst>
              <a:path extrusionOk="0" h="72280" w="83478">
                <a:moveTo>
                  <a:pt x="421" y="0"/>
                </a:moveTo>
                <a:cubicBezTo>
                  <a:pt x="612" y="3937"/>
                  <a:pt x="-1166" y="13716"/>
                  <a:pt x="1564" y="23622"/>
                </a:cubicBezTo>
                <a:cubicBezTo>
                  <a:pt x="4295" y="33528"/>
                  <a:pt x="8168" y="51499"/>
                  <a:pt x="16804" y="59436"/>
                </a:cubicBezTo>
                <a:cubicBezTo>
                  <a:pt x="25440" y="67374"/>
                  <a:pt x="42268" y="69215"/>
                  <a:pt x="53380" y="71247"/>
                </a:cubicBezTo>
                <a:cubicBezTo>
                  <a:pt x="64493" y="73279"/>
                  <a:pt x="78463" y="71565"/>
                  <a:pt x="83479" y="71628"/>
                </a:cubicBezTo>
              </a:path>
            </a:pathLst>
          </a:custGeom>
          <a:noFill/>
          <a:ln cap="flat" cmpd="sng" w="9525">
            <a:solidFill>
              <a:schemeClr val="dk2"/>
            </a:solidFill>
            <a:prstDash val="solid"/>
            <a:round/>
            <a:headEnd len="med" w="med" type="stealth"/>
            <a:tailEnd len="med" w="med" type="triangle"/>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2"/>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spcBef>
                <a:spcPts val="0"/>
              </a:spcBef>
              <a:spcAft>
                <a:spcPts val="0"/>
              </a:spcAft>
              <a:buSzPts val="1400"/>
              <a:buNone/>
            </a:pPr>
            <a:r>
              <a:rPr lang="en-US" sz="3200">
                <a:latin typeface="Calibri"/>
                <a:ea typeface="Calibri"/>
                <a:cs typeface="Calibri"/>
                <a:sym typeface="Calibri"/>
              </a:rPr>
              <a:t>Dense late-interaction retrievers - ColBERT</a:t>
            </a:r>
            <a:endParaRPr sz="3200">
              <a:latin typeface="Calibri"/>
              <a:ea typeface="Calibri"/>
              <a:cs typeface="Calibri"/>
              <a:sym typeface="Calibri"/>
            </a:endParaRPr>
          </a:p>
        </p:txBody>
      </p:sp>
      <p:sp>
        <p:nvSpPr>
          <p:cNvPr id="202" name="Google Shape;202;p22"/>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pic>
        <p:nvPicPr>
          <p:cNvPr id="203" name="Google Shape;203;p22"/>
          <p:cNvPicPr preferRelativeResize="0"/>
          <p:nvPr/>
        </p:nvPicPr>
        <p:blipFill>
          <a:blip r:embed="rId3">
            <a:alphaModFix/>
          </a:blip>
          <a:stretch>
            <a:fillRect/>
          </a:stretch>
        </p:blipFill>
        <p:spPr>
          <a:xfrm>
            <a:off x="2739151" y="1084175"/>
            <a:ext cx="6527511" cy="559190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23"/>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spcBef>
                <a:spcPts val="0"/>
              </a:spcBef>
              <a:spcAft>
                <a:spcPts val="0"/>
              </a:spcAft>
              <a:buSzPts val="1400"/>
              <a:buNone/>
            </a:pPr>
            <a:r>
              <a:rPr lang="en-US" sz="3200">
                <a:latin typeface="Calibri"/>
                <a:ea typeface="Calibri"/>
                <a:cs typeface="Calibri"/>
                <a:sym typeface="Calibri"/>
              </a:rPr>
              <a:t>Dense late-interaction retrievers - ColBERT</a:t>
            </a:r>
            <a:endParaRPr sz="3200">
              <a:latin typeface="Calibri"/>
              <a:ea typeface="Calibri"/>
              <a:cs typeface="Calibri"/>
              <a:sym typeface="Calibri"/>
            </a:endParaRPr>
          </a:p>
        </p:txBody>
      </p:sp>
      <p:sp>
        <p:nvSpPr>
          <p:cNvPr id="210" name="Google Shape;210;p23"/>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211" name="Google Shape;211;p23"/>
          <p:cNvSpPr txBox="1"/>
          <p:nvPr/>
        </p:nvSpPr>
        <p:spPr>
          <a:xfrm>
            <a:off x="593700" y="1310775"/>
            <a:ext cx="10884000" cy="511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Late interaction retrievers </a:t>
            </a:r>
            <a:r>
              <a:rPr b="1" lang="en-US" sz="1800">
                <a:solidFill>
                  <a:srgbClr val="1C1C1C"/>
                </a:solidFill>
                <a:latin typeface="Helvetica Neue"/>
                <a:ea typeface="Helvetica Neue"/>
                <a:cs typeface="Helvetica Neue"/>
                <a:sym typeface="Helvetica Neue"/>
              </a:rPr>
              <a:t>do not use sentence embeddings</a:t>
            </a:r>
            <a:r>
              <a:rPr lang="en-US" sz="1800">
                <a:solidFill>
                  <a:srgbClr val="1C1C1C"/>
                </a:solidFill>
                <a:latin typeface="Helvetica Neue Light"/>
                <a:ea typeface="Helvetica Neue Light"/>
                <a:cs typeface="Helvetica Neue Light"/>
                <a:sym typeface="Helvetica Neue Light"/>
              </a:rPr>
              <a:t>, but compute similarities at the </a:t>
            </a:r>
            <a:r>
              <a:rPr b="1" lang="en-US" sz="1800">
                <a:solidFill>
                  <a:srgbClr val="1C1C1C"/>
                </a:solidFill>
                <a:latin typeface="Helvetica Neue"/>
                <a:ea typeface="Helvetica Neue"/>
                <a:cs typeface="Helvetica Neue"/>
                <a:sym typeface="Helvetica Neue"/>
              </a:rPr>
              <a:t>token level</a:t>
            </a:r>
            <a:endParaRPr b="1" sz="1800">
              <a:solidFill>
                <a:srgbClr val="1C1C1C"/>
              </a:solidFill>
              <a:latin typeface="Helvetica Neue"/>
              <a:ea typeface="Helvetica Neue"/>
              <a:cs typeface="Helvetica Neue"/>
              <a:sym typeface="Helvetica Neue"/>
            </a:endParaRPr>
          </a:p>
          <a:p>
            <a:pPr indent="-342900" lvl="0" marL="457200" rtl="0" algn="l">
              <a:spcBef>
                <a:spcPts val="0"/>
              </a:spcBef>
              <a:spcAft>
                <a:spcPts val="0"/>
              </a:spcAft>
              <a:buClr>
                <a:srgbClr val="1C1C1C"/>
              </a:buClr>
              <a:buSzPts val="1800"/>
              <a:buFont typeface="Helvetica Neue Light"/>
              <a:buChar char="●"/>
            </a:pPr>
            <a:r>
              <a:rPr lang="en-US" sz="1800">
                <a:solidFill>
                  <a:srgbClr val="1C1C1C"/>
                </a:solidFill>
                <a:latin typeface="Helvetica Neue Light"/>
                <a:ea typeface="Helvetica Neue Light"/>
                <a:cs typeface="Helvetica Neue Light"/>
                <a:sym typeface="Helvetica Neue Light"/>
              </a:rPr>
              <a:t>indeed, most of the times we are interested in only a part of the document to retrieve, while the rest is often mainly noise</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In particular,</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ColBERT computes the maximum similarity between each query token and the document tokens</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Then, it sums the similarity scores obtained for each token</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The final score is considered as how much similar is the query w.r.t the document</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This approach is </a:t>
            </a:r>
            <a:r>
              <a:rPr b="1" lang="en-US" sz="1800">
                <a:solidFill>
                  <a:srgbClr val="1C1C1C"/>
                </a:solidFill>
                <a:latin typeface="Helvetica Neue"/>
                <a:ea typeface="Helvetica Neue"/>
                <a:cs typeface="Helvetica Neue"/>
                <a:sym typeface="Helvetica Neue"/>
              </a:rPr>
              <a:t>slower</a:t>
            </a:r>
            <a:r>
              <a:rPr lang="en-US" sz="1800">
                <a:solidFill>
                  <a:srgbClr val="1C1C1C"/>
                </a:solidFill>
                <a:latin typeface="Helvetica Neue Light"/>
                <a:ea typeface="Helvetica Neue Light"/>
                <a:cs typeface="Helvetica Neue Light"/>
                <a:sym typeface="Helvetica Neue Light"/>
              </a:rPr>
              <a:t> than standard </a:t>
            </a:r>
            <a:r>
              <a:rPr b="1" lang="en-US" sz="1800">
                <a:solidFill>
                  <a:srgbClr val="1C1C1C"/>
                </a:solidFill>
                <a:latin typeface="Helvetica Neue"/>
                <a:ea typeface="Helvetica Neue"/>
                <a:cs typeface="Helvetica Neue"/>
                <a:sym typeface="Helvetica Neue"/>
              </a:rPr>
              <a:t>dense bi-encoders</a:t>
            </a:r>
            <a:r>
              <a:rPr lang="en-US" sz="1800">
                <a:solidFill>
                  <a:srgbClr val="1C1C1C"/>
                </a:solidFill>
                <a:latin typeface="Helvetica Neue Light"/>
                <a:ea typeface="Helvetica Neue Light"/>
                <a:cs typeface="Helvetica Neue Light"/>
                <a:sym typeface="Helvetica Neue Light"/>
              </a:rPr>
              <a:t>, due to the multiple cosine similarity computations to be performed for each query token</a:t>
            </a:r>
            <a:endParaRPr sz="1800">
              <a:solidFill>
                <a:srgbClr val="1C1C1C"/>
              </a:solidFill>
              <a:latin typeface="Helvetica Neue Light"/>
              <a:ea typeface="Helvetica Neue Light"/>
              <a:cs typeface="Helvetica Neue Light"/>
              <a:sym typeface="Helvetica Neue Light"/>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4"/>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spcBef>
                <a:spcPts val="0"/>
              </a:spcBef>
              <a:spcAft>
                <a:spcPts val="0"/>
              </a:spcAft>
              <a:buSzPts val="1400"/>
              <a:buNone/>
            </a:pPr>
            <a:r>
              <a:rPr lang="en-US" sz="3200">
                <a:latin typeface="Calibri"/>
                <a:ea typeface="Calibri"/>
                <a:cs typeface="Calibri"/>
                <a:sym typeface="Calibri"/>
              </a:rPr>
              <a:t>H</a:t>
            </a:r>
            <a:r>
              <a:rPr lang="en-US" sz="3200">
                <a:latin typeface="Calibri"/>
                <a:ea typeface="Calibri"/>
                <a:cs typeface="Calibri"/>
                <a:sym typeface="Calibri"/>
              </a:rPr>
              <a:t>ybrid retrievers</a:t>
            </a:r>
            <a:endParaRPr sz="3200">
              <a:latin typeface="Calibri"/>
              <a:ea typeface="Calibri"/>
              <a:cs typeface="Calibri"/>
              <a:sym typeface="Calibri"/>
            </a:endParaRPr>
          </a:p>
        </p:txBody>
      </p:sp>
      <p:sp>
        <p:nvSpPr>
          <p:cNvPr id="218" name="Google Shape;218;p24"/>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pic>
        <p:nvPicPr>
          <p:cNvPr id="219" name="Google Shape;219;p24"/>
          <p:cNvPicPr preferRelativeResize="0"/>
          <p:nvPr/>
        </p:nvPicPr>
        <p:blipFill>
          <a:blip r:embed="rId3">
            <a:alphaModFix/>
          </a:blip>
          <a:stretch>
            <a:fillRect/>
          </a:stretch>
        </p:blipFill>
        <p:spPr>
          <a:xfrm>
            <a:off x="4067176" y="1074650"/>
            <a:ext cx="8003749" cy="5084600"/>
          </a:xfrm>
          <a:prstGeom prst="rect">
            <a:avLst/>
          </a:prstGeom>
          <a:noFill/>
          <a:ln>
            <a:noFill/>
          </a:ln>
        </p:spPr>
      </p:pic>
      <p:sp>
        <p:nvSpPr>
          <p:cNvPr id="220" name="Google Shape;220;p24"/>
          <p:cNvSpPr txBox="1"/>
          <p:nvPr/>
        </p:nvSpPr>
        <p:spPr>
          <a:xfrm>
            <a:off x="491075" y="1597800"/>
            <a:ext cx="3442800" cy="403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000">
                <a:solidFill>
                  <a:srgbClr val="262626"/>
                </a:solidFill>
                <a:latin typeface="Helvetica Neue Light"/>
                <a:ea typeface="Helvetica Neue Light"/>
                <a:cs typeface="Helvetica Neue Light"/>
                <a:sym typeface="Helvetica Neue Light"/>
              </a:rPr>
              <a:t>Relatively “simple” methods like </a:t>
            </a:r>
            <a:r>
              <a:rPr b="1" lang="en-US" sz="2000">
                <a:solidFill>
                  <a:srgbClr val="262626"/>
                </a:solidFill>
                <a:latin typeface="Helvetica Neue"/>
                <a:ea typeface="Helvetica Neue"/>
                <a:cs typeface="Helvetica Neue"/>
                <a:sym typeface="Helvetica Neue"/>
              </a:rPr>
              <a:t>BM25</a:t>
            </a:r>
            <a:r>
              <a:rPr lang="en-US" sz="2000">
                <a:solidFill>
                  <a:srgbClr val="262626"/>
                </a:solidFill>
                <a:latin typeface="Helvetica Neue Light"/>
                <a:ea typeface="Helvetica Neue Light"/>
                <a:cs typeface="Helvetica Neue Light"/>
                <a:sym typeface="Helvetica Neue Light"/>
              </a:rPr>
              <a:t> are actually </a:t>
            </a:r>
            <a:r>
              <a:rPr b="1" lang="en-US" sz="2000">
                <a:solidFill>
                  <a:srgbClr val="262626"/>
                </a:solidFill>
                <a:latin typeface="Helvetica Neue"/>
                <a:ea typeface="Helvetica Neue"/>
                <a:cs typeface="Helvetica Neue"/>
                <a:sym typeface="Helvetica Neue"/>
              </a:rPr>
              <a:t>pretty strong</a:t>
            </a:r>
            <a:r>
              <a:rPr lang="en-US" sz="2000">
                <a:solidFill>
                  <a:srgbClr val="262626"/>
                </a:solidFill>
                <a:latin typeface="Helvetica Neue Light"/>
                <a:ea typeface="Helvetica Neue Light"/>
                <a:cs typeface="Helvetica Neue Light"/>
                <a:sym typeface="Helvetica Neue Light"/>
              </a:rPr>
              <a:t> and can compete with the latest BERT based models.</a:t>
            </a:r>
            <a:endParaRPr sz="2000">
              <a:solidFill>
                <a:srgbClr val="262626"/>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2000">
              <a:solidFill>
                <a:srgbClr val="262626"/>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2000">
                <a:solidFill>
                  <a:srgbClr val="262626"/>
                </a:solidFill>
                <a:latin typeface="Helvetica Neue Light"/>
                <a:ea typeface="Helvetica Neue Light"/>
                <a:cs typeface="Helvetica Neue Light"/>
                <a:sym typeface="Helvetica Neue Light"/>
              </a:rPr>
              <a:t>Usually, a </a:t>
            </a:r>
            <a:r>
              <a:rPr b="1" lang="en-US" sz="2000">
                <a:solidFill>
                  <a:srgbClr val="262626"/>
                </a:solidFill>
                <a:latin typeface="Helvetica Neue"/>
                <a:ea typeface="Helvetica Neue"/>
                <a:cs typeface="Helvetica Neue"/>
                <a:sym typeface="Helvetica Neue"/>
              </a:rPr>
              <a:t>good approach</a:t>
            </a:r>
            <a:r>
              <a:rPr lang="en-US" sz="2000">
                <a:solidFill>
                  <a:srgbClr val="262626"/>
                </a:solidFill>
                <a:latin typeface="Helvetica Neue Light"/>
                <a:ea typeface="Helvetica Neue Light"/>
                <a:cs typeface="Helvetica Neue Light"/>
                <a:sym typeface="Helvetica Neue Light"/>
              </a:rPr>
              <a:t> for information retrieval is to </a:t>
            </a:r>
            <a:r>
              <a:rPr b="1" lang="en-US" sz="2000">
                <a:solidFill>
                  <a:srgbClr val="262626"/>
                </a:solidFill>
                <a:latin typeface="Helvetica Neue"/>
                <a:ea typeface="Helvetica Neue"/>
                <a:cs typeface="Helvetica Neue"/>
                <a:sym typeface="Helvetica Neue"/>
              </a:rPr>
              <a:t>combine the similarity scores</a:t>
            </a:r>
            <a:r>
              <a:rPr lang="en-US" sz="2000">
                <a:solidFill>
                  <a:srgbClr val="262626"/>
                </a:solidFill>
                <a:latin typeface="Helvetica Neue Light"/>
                <a:ea typeface="Helvetica Neue Light"/>
                <a:cs typeface="Helvetica Neue Light"/>
                <a:sym typeface="Helvetica Neue Light"/>
              </a:rPr>
              <a:t> of </a:t>
            </a:r>
            <a:r>
              <a:rPr b="1" lang="en-US" sz="2000">
                <a:solidFill>
                  <a:srgbClr val="262626"/>
                </a:solidFill>
                <a:latin typeface="Helvetica Neue"/>
                <a:ea typeface="Helvetica Neue"/>
                <a:cs typeface="Helvetica Neue"/>
                <a:sym typeface="Helvetica Neue"/>
              </a:rPr>
              <a:t>lexical methods</a:t>
            </a:r>
            <a:r>
              <a:rPr lang="en-US" sz="2000">
                <a:solidFill>
                  <a:srgbClr val="262626"/>
                </a:solidFill>
                <a:latin typeface="Helvetica Neue Light"/>
                <a:ea typeface="Helvetica Neue Light"/>
                <a:cs typeface="Helvetica Neue Light"/>
                <a:sym typeface="Helvetica Neue Light"/>
              </a:rPr>
              <a:t> with the scores obtained from </a:t>
            </a:r>
            <a:r>
              <a:rPr b="1" lang="en-US" sz="2000">
                <a:solidFill>
                  <a:srgbClr val="262626"/>
                </a:solidFill>
                <a:latin typeface="Helvetica Neue"/>
                <a:ea typeface="Helvetica Neue"/>
                <a:cs typeface="Helvetica Neue"/>
                <a:sym typeface="Helvetica Neue"/>
              </a:rPr>
              <a:t>encoder methods</a:t>
            </a:r>
            <a:endParaRPr b="1" sz="2000">
              <a:solidFill>
                <a:srgbClr val="262626"/>
              </a:solidFill>
              <a:latin typeface="Helvetica Neue"/>
              <a:ea typeface="Helvetica Neue"/>
              <a:cs typeface="Helvetica Neue"/>
              <a:sym typeface="Helvetica Neu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5"/>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Dense retrievers: cross-encoders</a:t>
            </a:r>
            <a:endParaRPr sz="3200">
              <a:latin typeface="Calibri"/>
              <a:ea typeface="Calibri"/>
              <a:cs typeface="Calibri"/>
              <a:sym typeface="Calibri"/>
            </a:endParaRPr>
          </a:p>
        </p:txBody>
      </p:sp>
      <p:sp>
        <p:nvSpPr>
          <p:cNvPr id="227" name="Google Shape;227;p25"/>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228" name="Google Shape;228;p25"/>
          <p:cNvSpPr txBox="1"/>
          <p:nvPr/>
        </p:nvSpPr>
        <p:spPr>
          <a:xfrm>
            <a:off x="593700" y="1310775"/>
            <a:ext cx="5949900" cy="2708700"/>
          </a:xfrm>
          <a:prstGeom prst="rect">
            <a:avLst/>
          </a:prstGeom>
          <a:noFill/>
          <a:ln>
            <a:noFill/>
          </a:ln>
        </p:spPr>
        <p:txBody>
          <a:bodyPr anchorCtr="0" anchor="t" bIns="91425" lIns="91425" spcFirstLastPara="1" rIns="91425" wrap="square" tIns="91425">
            <a:noAutofit/>
          </a:bodyPr>
          <a:lstStyle/>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We start off with a query q and a document d</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Both the query and the document are fed to an encoder model by concatenating q and d into a unique input</a:t>
            </a:r>
            <a:endParaRPr sz="1800">
              <a:solidFill>
                <a:srgbClr val="1C1C1C"/>
              </a:solidFill>
              <a:latin typeface="Helvetica Neue Light"/>
              <a:ea typeface="Helvetica Neue Light"/>
              <a:cs typeface="Helvetica Neue Light"/>
              <a:sym typeface="Helvetica Neue Light"/>
            </a:endParaRPr>
          </a:p>
          <a:p>
            <a:pPr indent="-342900" lvl="1" marL="914400" rtl="0" algn="l">
              <a:spcBef>
                <a:spcPts val="0"/>
              </a:spcBef>
              <a:spcAft>
                <a:spcPts val="0"/>
              </a:spcAft>
              <a:buClr>
                <a:srgbClr val="1C1C1C"/>
              </a:buClr>
              <a:buSzPts val="1800"/>
              <a:buFont typeface="Helvetica Neue Light"/>
              <a:buAutoNum type="alphaLcPeriod"/>
            </a:pPr>
            <a:r>
              <a:rPr lang="en-US" sz="1800">
                <a:solidFill>
                  <a:srgbClr val="1C1C1C"/>
                </a:solidFill>
                <a:latin typeface="Helvetica Neue Light"/>
                <a:ea typeface="Helvetica Neue Light"/>
                <a:cs typeface="Helvetica Neue Light"/>
                <a:sym typeface="Helvetica Neue Light"/>
              </a:rPr>
              <a:t>i.e., “[CLS] &lt;q&gt; [SEP] &lt;d&gt; [SEP]”</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We get one scalar value as a result. The highest the value is, the more similar are the query and document</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This process is repeated for each document in the corpus</a:t>
            </a:r>
            <a:endParaRPr sz="1800">
              <a:solidFill>
                <a:srgbClr val="1C1C1C"/>
              </a:solidFill>
              <a:latin typeface="Helvetica Neue Light"/>
              <a:ea typeface="Helvetica Neue Light"/>
              <a:cs typeface="Helvetica Neue Light"/>
              <a:sym typeface="Helvetica Neue Light"/>
            </a:endParaRPr>
          </a:p>
        </p:txBody>
      </p:sp>
      <p:sp>
        <p:nvSpPr>
          <p:cNvPr id="229" name="Google Shape;229;p25"/>
          <p:cNvSpPr txBox="1"/>
          <p:nvPr/>
        </p:nvSpPr>
        <p:spPr>
          <a:xfrm>
            <a:off x="819150" y="5334000"/>
            <a:ext cx="104490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 Cross-encoders are more accurate than bi-encoders, as they can better assess the similarity between query and document</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  they are extremely slow (n forward passes per query, with n being the number of documents)</a:t>
            </a:r>
            <a:endParaRPr sz="1600">
              <a:solidFill>
                <a:srgbClr val="1C1C1C"/>
              </a:solidFill>
              <a:latin typeface="Helvetica Neue Light"/>
              <a:ea typeface="Helvetica Neue Light"/>
              <a:cs typeface="Helvetica Neue Light"/>
              <a:sym typeface="Helvetica Neue Light"/>
            </a:endParaRPr>
          </a:p>
        </p:txBody>
      </p:sp>
      <p:pic>
        <p:nvPicPr>
          <p:cNvPr id="230" name="Google Shape;230;p25"/>
          <p:cNvPicPr preferRelativeResize="0"/>
          <p:nvPr/>
        </p:nvPicPr>
        <p:blipFill>
          <a:blip r:embed="rId3">
            <a:alphaModFix/>
          </a:blip>
          <a:stretch>
            <a:fillRect/>
          </a:stretch>
        </p:blipFill>
        <p:spPr>
          <a:xfrm>
            <a:off x="7429425" y="1113700"/>
            <a:ext cx="3438600" cy="3975901"/>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6"/>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spcBef>
                <a:spcPts val="0"/>
              </a:spcBef>
              <a:spcAft>
                <a:spcPts val="0"/>
              </a:spcAft>
              <a:buSzPts val="1400"/>
              <a:buNone/>
            </a:pPr>
            <a:r>
              <a:rPr lang="en-US" sz="3200">
                <a:latin typeface="Calibri"/>
                <a:ea typeface="Calibri"/>
                <a:cs typeface="Calibri"/>
                <a:sym typeface="Calibri"/>
              </a:rPr>
              <a:t>Dense retrievers: cross-encoders training loss</a:t>
            </a:r>
            <a:endParaRPr sz="3200">
              <a:latin typeface="Calibri"/>
              <a:ea typeface="Calibri"/>
              <a:cs typeface="Calibri"/>
              <a:sym typeface="Calibri"/>
            </a:endParaRPr>
          </a:p>
        </p:txBody>
      </p:sp>
      <p:sp>
        <p:nvSpPr>
          <p:cNvPr id="237" name="Google Shape;237;p26"/>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238" name="Google Shape;238;p26"/>
          <p:cNvSpPr txBox="1"/>
          <p:nvPr/>
        </p:nvSpPr>
        <p:spPr>
          <a:xfrm>
            <a:off x="3650950" y="5474000"/>
            <a:ext cx="5599800" cy="765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800">
              <a:solidFill>
                <a:srgbClr val="1C1C1C"/>
              </a:solidFill>
              <a:latin typeface="Helvetica Neue"/>
              <a:ea typeface="Helvetica Neue"/>
              <a:cs typeface="Helvetica Neue"/>
              <a:sym typeface="Helvetica Neue"/>
            </a:endParaRPr>
          </a:p>
        </p:txBody>
      </p:sp>
      <p:sp>
        <p:nvSpPr>
          <p:cNvPr id="239" name="Google Shape;239;p26"/>
          <p:cNvSpPr txBox="1"/>
          <p:nvPr/>
        </p:nvSpPr>
        <p:spPr>
          <a:xfrm>
            <a:off x="593700" y="1310775"/>
            <a:ext cx="10884000" cy="511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The training loss </a:t>
            </a:r>
            <a:r>
              <a:rPr lang="en-US" sz="1800">
                <a:solidFill>
                  <a:srgbClr val="1C1C1C"/>
                </a:solidFill>
                <a:latin typeface="Helvetica Neue Light"/>
                <a:ea typeface="Helvetica Neue Light"/>
                <a:cs typeface="Helvetica Neue Light"/>
                <a:sym typeface="Helvetica Neue Light"/>
              </a:rPr>
              <a:t>can either be</a:t>
            </a:r>
            <a:r>
              <a:rPr lang="en-US" sz="1800">
                <a:solidFill>
                  <a:srgbClr val="1C1C1C"/>
                </a:solidFill>
                <a:latin typeface="Helvetica Neue Light"/>
                <a:ea typeface="Helvetica Neue Light"/>
                <a:cs typeface="Helvetica Neue Light"/>
                <a:sym typeface="Helvetica Neue Light"/>
              </a:rPr>
              <a:t>:</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b="1" lang="en-US" sz="1800">
                <a:solidFill>
                  <a:srgbClr val="1C1C1C"/>
                </a:solidFill>
                <a:latin typeface="Helvetica Neue"/>
                <a:ea typeface="Helvetica Neue"/>
                <a:cs typeface="Helvetica Neue"/>
                <a:sym typeface="Helvetica Neue"/>
              </a:rPr>
              <a:t>binary cross-entropy</a:t>
            </a:r>
            <a:r>
              <a:rPr lang="en-US" sz="1800">
                <a:solidFill>
                  <a:srgbClr val="1C1C1C"/>
                </a:solidFill>
                <a:latin typeface="Helvetica Neue Light"/>
                <a:ea typeface="Helvetica Neue Light"/>
                <a:cs typeface="Helvetica Neue Light"/>
                <a:sym typeface="Helvetica Neue Light"/>
              </a:rPr>
              <a:t> (for p</a:t>
            </a:r>
            <a:r>
              <a:rPr lang="en-US" sz="1800">
                <a:solidFill>
                  <a:srgbClr val="1C1C1C"/>
                </a:solidFill>
                <a:latin typeface="Helvetica Neue Light"/>
                <a:ea typeface="Helvetica Neue Light"/>
                <a:cs typeface="Helvetica Neue Light"/>
                <a:sym typeface="Helvetica Neue Light"/>
              </a:rPr>
              <a:t>ointwise classification</a:t>
            </a:r>
            <a:r>
              <a:rPr lang="en-US" sz="1800">
                <a:solidFill>
                  <a:srgbClr val="1C1C1C"/>
                </a:solidFill>
                <a:latin typeface="Helvetica Neue Light"/>
                <a:ea typeface="Helvetica Neue Light"/>
                <a:cs typeface="Helvetica Neue Light"/>
                <a:sym typeface="Helvetica Neue Light"/>
              </a:rPr>
              <a:t>)</a:t>
            </a:r>
            <a:endParaRPr sz="1800">
              <a:solidFill>
                <a:srgbClr val="1C1C1C"/>
              </a:solidFill>
              <a:latin typeface="Helvetica Neue Light"/>
              <a:ea typeface="Helvetica Neue Light"/>
              <a:cs typeface="Helvetica Neue Light"/>
              <a:sym typeface="Helvetica Neue Light"/>
            </a:endParaRPr>
          </a:p>
          <a:p>
            <a:pPr indent="-342900" lvl="1" marL="914400" rtl="0" algn="l">
              <a:spcBef>
                <a:spcPts val="0"/>
              </a:spcBef>
              <a:spcAft>
                <a:spcPts val="0"/>
              </a:spcAft>
              <a:buClr>
                <a:srgbClr val="1C1C1C"/>
              </a:buClr>
              <a:buSzPts val="1800"/>
              <a:buFont typeface="Helvetica Neue Light"/>
              <a:buAutoNum type="alphaLcPeriod"/>
            </a:pPr>
            <a:r>
              <a:rPr lang="en-US" sz="1800">
                <a:solidFill>
                  <a:srgbClr val="1C1C1C"/>
                </a:solidFill>
                <a:latin typeface="Helvetica Neue Light"/>
                <a:ea typeface="Helvetica Neue Light"/>
                <a:cs typeface="Helvetica Neue Light"/>
                <a:sym typeface="Helvetica Neue Light"/>
              </a:rPr>
              <a:t>considering s(q,d) to be the logit for a query q and document d,</a:t>
            </a:r>
            <a:endParaRPr sz="1800">
              <a:solidFill>
                <a:srgbClr val="1C1C1C"/>
              </a:solidFill>
              <a:latin typeface="Helvetica Neue Light"/>
              <a:ea typeface="Helvetica Neue Light"/>
              <a:cs typeface="Helvetica Neue Light"/>
              <a:sym typeface="Helvetica Neue Light"/>
            </a:endParaRPr>
          </a:p>
          <a:p>
            <a:pPr indent="0" lvl="0" marL="91440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91440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91440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91440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it is not strong, as it doesn’t directly optimize ranking</a:t>
            </a:r>
            <a:endParaRPr sz="1800">
              <a:solidFill>
                <a:srgbClr val="1C1C1C"/>
              </a:solidFill>
              <a:latin typeface="Helvetica Neue Light"/>
              <a:ea typeface="Helvetica Neue Light"/>
              <a:cs typeface="Helvetica Neue Light"/>
              <a:sym typeface="Helvetica Neue Light"/>
            </a:endParaRPr>
          </a:p>
          <a:p>
            <a:pPr indent="0" lvl="0" marL="91440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b="1" lang="en-US" sz="1800">
                <a:solidFill>
                  <a:srgbClr val="1C1C1C"/>
                </a:solidFill>
                <a:latin typeface="Helvetica Neue"/>
                <a:ea typeface="Helvetica Neue"/>
                <a:cs typeface="Helvetica Neue"/>
                <a:sym typeface="Helvetica Neue"/>
              </a:rPr>
              <a:t>pairwise logistic</a:t>
            </a:r>
            <a:r>
              <a:rPr lang="en-US" sz="1800">
                <a:solidFill>
                  <a:srgbClr val="1C1C1C"/>
                </a:solidFill>
                <a:latin typeface="Helvetica Neue Light"/>
                <a:ea typeface="Helvetica Neue Light"/>
                <a:cs typeface="Helvetica Neue Light"/>
                <a:sym typeface="Helvetica Neue Light"/>
              </a:rPr>
              <a:t> (for pairwise ranking classification)</a:t>
            </a:r>
            <a:endParaRPr sz="1800">
              <a:solidFill>
                <a:srgbClr val="1C1C1C"/>
              </a:solidFill>
              <a:latin typeface="Helvetica Neue Light"/>
              <a:ea typeface="Helvetica Neue Light"/>
              <a:cs typeface="Helvetica Neue Light"/>
              <a:sym typeface="Helvetica Neue Light"/>
            </a:endParaRPr>
          </a:p>
          <a:p>
            <a:pPr indent="-342900" lvl="1" marL="914400" rtl="0" algn="l">
              <a:spcBef>
                <a:spcPts val="0"/>
              </a:spcBef>
              <a:spcAft>
                <a:spcPts val="0"/>
              </a:spcAft>
              <a:buClr>
                <a:srgbClr val="1C1C1C"/>
              </a:buClr>
              <a:buSzPts val="1800"/>
              <a:buFont typeface="Helvetica Neue Light"/>
              <a:buAutoNum type="alphaLcPeriod"/>
            </a:pPr>
            <a:r>
              <a:rPr lang="en-US" sz="1800">
                <a:solidFill>
                  <a:srgbClr val="1C1C1C"/>
                </a:solidFill>
                <a:latin typeface="Helvetica Neue Light"/>
                <a:ea typeface="Helvetica Neue Light"/>
                <a:cs typeface="Helvetica Neue Light"/>
                <a:sym typeface="Helvetica Neue Light"/>
              </a:rPr>
              <a:t>considering a query q, and two documents d</a:t>
            </a:r>
            <a:r>
              <a:rPr baseline="-25000" lang="en-US" sz="1800">
                <a:solidFill>
                  <a:srgbClr val="1C1C1C"/>
                </a:solidFill>
                <a:latin typeface="Helvetica Neue Light"/>
                <a:ea typeface="Helvetica Neue Light"/>
                <a:cs typeface="Helvetica Neue Light"/>
                <a:sym typeface="Helvetica Neue Light"/>
              </a:rPr>
              <a:t>1</a:t>
            </a:r>
            <a:r>
              <a:rPr lang="en-US" sz="1800">
                <a:solidFill>
                  <a:srgbClr val="1C1C1C"/>
                </a:solidFill>
                <a:latin typeface="Helvetica Neue Light"/>
                <a:ea typeface="Helvetica Neue Light"/>
                <a:cs typeface="Helvetica Neue Light"/>
                <a:sym typeface="Helvetica Neue Light"/>
              </a:rPr>
              <a:t> and d</a:t>
            </a:r>
            <a:r>
              <a:rPr baseline="-25000" lang="en-US" sz="1800">
                <a:solidFill>
                  <a:srgbClr val="1C1C1C"/>
                </a:solidFill>
                <a:latin typeface="Helvetica Neue Light"/>
                <a:ea typeface="Helvetica Neue Light"/>
                <a:cs typeface="Helvetica Neue Light"/>
                <a:sym typeface="Helvetica Neue Light"/>
              </a:rPr>
              <a:t>2</a:t>
            </a:r>
            <a:r>
              <a:rPr lang="en-US" sz="1800">
                <a:solidFill>
                  <a:srgbClr val="1C1C1C"/>
                </a:solidFill>
                <a:latin typeface="Helvetica Neue Light"/>
                <a:ea typeface="Helvetica Neue Light"/>
                <a:cs typeface="Helvetica Neue Light"/>
                <a:sym typeface="Helvetica Neue Light"/>
              </a:rPr>
              <a:t>, with s</a:t>
            </a:r>
            <a:r>
              <a:rPr baseline="30000" lang="en-US" sz="1800">
                <a:solidFill>
                  <a:srgbClr val="1C1C1C"/>
                </a:solidFill>
                <a:latin typeface="Helvetica Neue Light"/>
                <a:ea typeface="Helvetica Neue Light"/>
                <a:cs typeface="Helvetica Neue Light"/>
                <a:sym typeface="Helvetica Neue Light"/>
              </a:rPr>
              <a:t>+</a:t>
            </a:r>
            <a:r>
              <a:rPr lang="en-US" sz="1800">
                <a:solidFill>
                  <a:srgbClr val="1C1C1C"/>
                </a:solidFill>
                <a:latin typeface="Helvetica Neue Light"/>
                <a:ea typeface="Helvetica Neue Light"/>
                <a:cs typeface="Helvetica Neue Light"/>
                <a:sym typeface="Helvetica Neue Light"/>
              </a:rPr>
              <a:t> = s(q, d</a:t>
            </a:r>
            <a:r>
              <a:rPr baseline="-25000" lang="en-US" sz="1800">
                <a:solidFill>
                  <a:srgbClr val="1C1C1C"/>
                </a:solidFill>
                <a:latin typeface="Helvetica Neue Light"/>
                <a:ea typeface="Helvetica Neue Light"/>
                <a:cs typeface="Helvetica Neue Light"/>
                <a:sym typeface="Helvetica Neue Light"/>
              </a:rPr>
              <a:t>1</a:t>
            </a:r>
            <a:r>
              <a:rPr lang="en-US" sz="1800">
                <a:solidFill>
                  <a:srgbClr val="1C1C1C"/>
                </a:solidFill>
                <a:latin typeface="Helvetica Neue Light"/>
                <a:ea typeface="Helvetica Neue Light"/>
                <a:cs typeface="Helvetica Neue Light"/>
                <a:sym typeface="Helvetica Neue Light"/>
              </a:rPr>
              <a:t>) and s</a:t>
            </a:r>
            <a:r>
              <a:rPr baseline="30000" lang="en-US" sz="1800">
                <a:solidFill>
                  <a:srgbClr val="1C1C1C"/>
                </a:solidFill>
                <a:latin typeface="Helvetica Neue Light"/>
                <a:ea typeface="Helvetica Neue Light"/>
                <a:cs typeface="Helvetica Neue Light"/>
                <a:sym typeface="Helvetica Neue Light"/>
              </a:rPr>
              <a:t>-</a:t>
            </a:r>
            <a:r>
              <a:rPr lang="en-US" sz="1800">
                <a:solidFill>
                  <a:srgbClr val="1C1C1C"/>
                </a:solidFill>
                <a:latin typeface="Helvetica Neue Light"/>
                <a:ea typeface="Helvetica Neue Light"/>
                <a:cs typeface="Helvetica Neue Light"/>
                <a:sym typeface="Helvetica Neue Light"/>
              </a:rPr>
              <a:t> = s(q, d</a:t>
            </a:r>
            <a:r>
              <a:rPr baseline="-25000" lang="en-US" sz="1800">
                <a:solidFill>
                  <a:srgbClr val="1C1C1C"/>
                </a:solidFill>
                <a:latin typeface="Helvetica Neue Light"/>
                <a:ea typeface="Helvetica Neue Light"/>
                <a:cs typeface="Helvetica Neue Light"/>
                <a:sym typeface="Helvetica Neue Light"/>
              </a:rPr>
              <a:t>2</a:t>
            </a:r>
            <a:r>
              <a:rPr lang="en-US" sz="1800">
                <a:solidFill>
                  <a:srgbClr val="1C1C1C"/>
                </a:solidFill>
                <a:latin typeface="Helvetica Neue Light"/>
                <a:ea typeface="Helvetica Neue Light"/>
                <a:cs typeface="Helvetica Neue Light"/>
                <a:sym typeface="Helvetica Neue Light"/>
              </a:rPr>
              <a:t>),</a:t>
            </a:r>
            <a:endParaRPr sz="1800">
              <a:solidFill>
                <a:srgbClr val="1C1C1C"/>
              </a:solidFill>
              <a:latin typeface="Helvetica Neue Light"/>
              <a:ea typeface="Helvetica Neue Light"/>
              <a:cs typeface="Helvetica Neue Light"/>
              <a:sym typeface="Helvetica Neue Light"/>
            </a:endParaRPr>
          </a:p>
          <a:p>
            <a:pPr indent="0" lvl="0" marL="91440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91440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91440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91440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this loss is better, as it depends from the ranking of positive documents compared to negative ones</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p:txBody>
      </p:sp>
      <p:pic>
        <p:nvPicPr>
          <p:cNvPr id="240" name="Google Shape;240;p26"/>
          <p:cNvPicPr preferRelativeResize="0"/>
          <p:nvPr/>
        </p:nvPicPr>
        <p:blipFill>
          <a:blip r:embed="rId3">
            <a:alphaModFix/>
          </a:blip>
          <a:stretch>
            <a:fillRect/>
          </a:stretch>
        </p:blipFill>
        <p:spPr>
          <a:xfrm>
            <a:off x="3605221" y="2633671"/>
            <a:ext cx="4386249" cy="595325"/>
          </a:xfrm>
          <a:prstGeom prst="rect">
            <a:avLst/>
          </a:prstGeom>
          <a:noFill/>
          <a:ln>
            <a:noFill/>
          </a:ln>
        </p:spPr>
      </p:pic>
      <p:pic>
        <p:nvPicPr>
          <p:cNvPr id="241" name="Google Shape;241;p26"/>
          <p:cNvPicPr preferRelativeResize="0"/>
          <p:nvPr/>
        </p:nvPicPr>
        <p:blipFill>
          <a:blip r:embed="rId4">
            <a:alphaModFix/>
          </a:blip>
          <a:stretch>
            <a:fillRect/>
          </a:stretch>
        </p:blipFill>
        <p:spPr>
          <a:xfrm>
            <a:off x="3388525" y="4662500"/>
            <a:ext cx="4819650" cy="6541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7"/>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Retrieve &amp; Rerank pipeline</a:t>
            </a:r>
            <a:endParaRPr sz="3200">
              <a:latin typeface="Calibri"/>
              <a:ea typeface="Calibri"/>
              <a:cs typeface="Calibri"/>
              <a:sym typeface="Calibri"/>
            </a:endParaRPr>
          </a:p>
        </p:txBody>
      </p:sp>
      <p:sp>
        <p:nvSpPr>
          <p:cNvPr id="248" name="Google Shape;248;p27"/>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249" name="Google Shape;249;p27"/>
          <p:cNvSpPr txBox="1"/>
          <p:nvPr/>
        </p:nvSpPr>
        <p:spPr>
          <a:xfrm>
            <a:off x="612750" y="3282450"/>
            <a:ext cx="10884000" cy="338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US" sz="1800">
                <a:solidFill>
                  <a:srgbClr val="1C1C1C"/>
                </a:solidFill>
                <a:latin typeface="Helvetica Neue"/>
                <a:ea typeface="Helvetica Neue"/>
                <a:cs typeface="Helvetica Neue"/>
                <a:sym typeface="Helvetica Neue"/>
              </a:rPr>
              <a:t>Bi-encoders</a:t>
            </a:r>
            <a:r>
              <a:rPr lang="en-US" sz="1800">
                <a:solidFill>
                  <a:srgbClr val="1C1C1C"/>
                </a:solidFill>
                <a:latin typeface="Helvetica Neue Light"/>
                <a:ea typeface="Helvetica Neue Light"/>
                <a:cs typeface="Helvetica Neue Light"/>
                <a:sym typeface="Helvetica Neue Light"/>
              </a:rPr>
              <a:t> / </a:t>
            </a:r>
            <a:r>
              <a:rPr b="1" lang="en-US" sz="1800">
                <a:solidFill>
                  <a:srgbClr val="1C1C1C"/>
                </a:solidFill>
                <a:latin typeface="Helvetica Neue"/>
                <a:ea typeface="Helvetica Neue"/>
                <a:cs typeface="Helvetica Neue"/>
                <a:sym typeface="Helvetica Neue"/>
              </a:rPr>
              <a:t>Late-Interaction </a:t>
            </a:r>
            <a:r>
              <a:rPr lang="en-US" sz="1800">
                <a:solidFill>
                  <a:srgbClr val="1C1C1C"/>
                </a:solidFill>
                <a:latin typeface="Helvetica Neue Light"/>
                <a:ea typeface="Helvetica Neue Light"/>
                <a:cs typeface="Helvetica Neue Light"/>
                <a:sym typeface="Helvetica Neue Light"/>
              </a:rPr>
              <a:t>/ </a:t>
            </a:r>
            <a:r>
              <a:rPr b="1" lang="en-US" sz="1800">
                <a:solidFill>
                  <a:srgbClr val="1C1C1C"/>
                </a:solidFill>
                <a:latin typeface="Helvetica Neue"/>
                <a:ea typeface="Helvetica Neue"/>
                <a:cs typeface="Helvetica Neue"/>
                <a:sym typeface="Helvetica Neue"/>
              </a:rPr>
              <a:t>Hybrid-systems</a:t>
            </a:r>
            <a:r>
              <a:rPr lang="en-US" sz="1800">
                <a:solidFill>
                  <a:srgbClr val="1C1C1C"/>
                </a:solidFill>
                <a:latin typeface="Helvetica Neue Light"/>
                <a:ea typeface="Helvetica Neue Light"/>
                <a:cs typeface="Helvetica Neue Light"/>
                <a:sym typeface="Helvetica Neue Light"/>
              </a:rPr>
              <a:t> are </a:t>
            </a:r>
            <a:r>
              <a:rPr b="1" lang="en-US" sz="1800">
                <a:solidFill>
                  <a:srgbClr val="1C1C1C"/>
                </a:solidFill>
                <a:latin typeface="Helvetica Neue"/>
                <a:ea typeface="Helvetica Neue"/>
                <a:cs typeface="Helvetica Neue"/>
                <a:sym typeface="Helvetica Neue"/>
              </a:rPr>
              <a:t>quick</a:t>
            </a:r>
            <a:r>
              <a:rPr lang="en-US" sz="1800">
                <a:solidFill>
                  <a:srgbClr val="1C1C1C"/>
                </a:solidFill>
                <a:latin typeface="Helvetica Neue Light"/>
                <a:ea typeface="Helvetica Neue Light"/>
                <a:cs typeface="Helvetica Neue Light"/>
                <a:sym typeface="Helvetica Neue Light"/>
              </a:rPr>
              <a:t> but </a:t>
            </a:r>
            <a:r>
              <a:rPr b="1" lang="en-US" sz="1800">
                <a:solidFill>
                  <a:srgbClr val="1C1C1C"/>
                </a:solidFill>
                <a:latin typeface="Helvetica Neue"/>
                <a:ea typeface="Helvetica Neue"/>
                <a:cs typeface="Helvetica Neue"/>
                <a:sym typeface="Helvetica Neue"/>
              </a:rPr>
              <a:t>less accurate</a:t>
            </a:r>
            <a:r>
              <a:rPr lang="en-US" sz="1800">
                <a:solidFill>
                  <a:srgbClr val="1C1C1C"/>
                </a:solidFill>
                <a:latin typeface="Helvetica Neue Light"/>
                <a:ea typeface="Helvetica Neue Light"/>
                <a:cs typeface="Helvetica Neue Light"/>
                <a:sym typeface="Helvetica Neue Light"/>
              </a:rPr>
              <a:t>, while </a:t>
            </a:r>
            <a:r>
              <a:rPr b="1" lang="en-US" sz="1800">
                <a:solidFill>
                  <a:srgbClr val="1C1C1C"/>
                </a:solidFill>
                <a:latin typeface="Helvetica Neue"/>
                <a:ea typeface="Helvetica Neue"/>
                <a:cs typeface="Helvetica Neue"/>
                <a:sym typeface="Helvetica Neue"/>
              </a:rPr>
              <a:t>cross-encoders</a:t>
            </a:r>
            <a:r>
              <a:rPr lang="en-US" sz="1800">
                <a:solidFill>
                  <a:srgbClr val="1C1C1C"/>
                </a:solidFill>
                <a:latin typeface="Helvetica Neue Light"/>
                <a:ea typeface="Helvetica Neue Light"/>
                <a:cs typeface="Helvetica Neue Light"/>
                <a:sym typeface="Helvetica Neue Light"/>
              </a:rPr>
              <a:t> the </a:t>
            </a:r>
            <a:r>
              <a:rPr b="1" lang="en-US" sz="1800">
                <a:solidFill>
                  <a:srgbClr val="1C1C1C"/>
                </a:solidFill>
                <a:latin typeface="Helvetica Neue"/>
                <a:ea typeface="Helvetica Neue"/>
                <a:cs typeface="Helvetica Neue"/>
                <a:sym typeface="Helvetica Neue"/>
              </a:rPr>
              <a:t>opposite</a:t>
            </a:r>
            <a:r>
              <a:rPr lang="en-US" sz="1800">
                <a:solidFill>
                  <a:srgbClr val="1C1C1C"/>
                </a:solidFill>
                <a:latin typeface="Helvetica Neue Light"/>
                <a:ea typeface="Helvetica Neue Light"/>
                <a:cs typeface="Helvetica Neue Light"/>
                <a:sym typeface="Helvetica Neue Light"/>
              </a:rPr>
              <a:t>.</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Is there a way to combine the advantages of the two approaches?</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We can use a bi-encoder model to first retrieve the </a:t>
            </a:r>
            <a:r>
              <a:rPr i="1" lang="en-US" sz="1800">
                <a:solidFill>
                  <a:srgbClr val="1C1C1C"/>
                </a:solidFill>
                <a:latin typeface="Helvetica Neue Light"/>
                <a:ea typeface="Helvetica Neue Light"/>
                <a:cs typeface="Helvetica Neue Light"/>
                <a:sym typeface="Helvetica Neue Light"/>
              </a:rPr>
              <a:t>n </a:t>
            </a:r>
            <a:r>
              <a:rPr lang="en-US" sz="1800">
                <a:solidFill>
                  <a:srgbClr val="1C1C1C"/>
                </a:solidFill>
                <a:latin typeface="Helvetica Neue Light"/>
                <a:ea typeface="Helvetica Neue Light"/>
                <a:cs typeface="Helvetica Neue Light"/>
                <a:sym typeface="Helvetica Neue Light"/>
              </a:rPr>
              <a:t>most similar documents w.r.t. the query (e.g. </a:t>
            </a:r>
            <a:r>
              <a:rPr i="1" lang="en-US" sz="1800">
                <a:solidFill>
                  <a:srgbClr val="1C1C1C"/>
                </a:solidFill>
                <a:latin typeface="Helvetica Neue Light"/>
                <a:ea typeface="Helvetica Neue Light"/>
                <a:cs typeface="Helvetica Neue Light"/>
                <a:sym typeface="Helvetica Neue Light"/>
              </a:rPr>
              <a:t>n = 1000</a:t>
            </a:r>
            <a:r>
              <a:rPr lang="en-US" sz="1800">
                <a:solidFill>
                  <a:srgbClr val="1C1C1C"/>
                </a:solidFill>
                <a:latin typeface="Helvetica Neue Light"/>
                <a:ea typeface="Helvetica Neue Light"/>
                <a:cs typeface="Helvetica Neue Light"/>
                <a:sym typeface="Helvetica Neue Light"/>
              </a:rPr>
              <a:t>)</a:t>
            </a:r>
            <a:br>
              <a:rPr lang="en-US" sz="1800">
                <a:solidFill>
                  <a:srgbClr val="1C1C1C"/>
                </a:solidFill>
                <a:latin typeface="Helvetica Neue Light"/>
                <a:ea typeface="Helvetica Neue Light"/>
                <a:cs typeface="Helvetica Neue Light"/>
                <a:sym typeface="Helvetica Neue Light"/>
              </a:rPr>
            </a:b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Then, we use a cross-encoder model as a re-ranker to improve the sorting of the </a:t>
            </a:r>
            <a:r>
              <a:rPr i="1" lang="en-US" sz="1800">
                <a:solidFill>
                  <a:srgbClr val="1C1C1C"/>
                </a:solidFill>
                <a:latin typeface="Helvetica Neue Light"/>
                <a:ea typeface="Helvetica Neue Light"/>
                <a:cs typeface="Helvetica Neue Light"/>
                <a:sym typeface="Helvetica Neue Light"/>
              </a:rPr>
              <a:t>n</a:t>
            </a:r>
            <a:r>
              <a:rPr lang="en-US" sz="1800">
                <a:solidFill>
                  <a:srgbClr val="1C1C1C"/>
                </a:solidFill>
                <a:latin typeface="Helvetica Neue Light"/>
                <a:ea typeface="Helvetica Neue Light"/>
                <a:cs typeface="Helvetica Neue Light"/>
                <a:sym typeface="Helvetica Neue Light"/>
              </a:rPr>
              <a:t> candidates</a:t>
            </a:r>
            <a:endParaRPr sz="1800">
              <a:solidFill>
                <a:srgbClr val="1C1C1C"/>
              </a:solidFill>
              <a:latin typeface="Helvetica Neue Light"/>
              <a:ea typeface="Helvetica Neue Light"/>
              <a:cs typeface="Helvetica Neue Light"/>
              <a:sym typeface="Helvetica Neue Light"/>
            </a:endParaRPr>
          </a:p>
          <a:p>
            <a:pPr indent="0" lvl="0" marL="45720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At this point, we take the </a:t>
            </a:r>
            <a:r>
              <a:rPr i="1" lang="en-US" sz="1800">
                <a:solidFill>
                  <a:srgbClr val="1C1C1C"/>
                </a:solidFill>
                <a:latin typeface="Helvetica Neue Light"/>
                <a:ea typeface="Helvetica Neue Light"/>
                <a:cs typeface="Helvetica Neue Light"/>
                <a:sym typeface="Helvetica Neue Light"/>
              </a:rPr>
              <a:t>k </a:t>
            </a:r>
            <a:r>
              <a:rPr lang="en-US" sz="1800">
                <a:solidFill>
                  <a:srgbClr val="1C1C1C"/>
                </a:solidFill>
                <a:latin typeface="Helvetica Neue Light"/>
                <a:ea typeface="Helvetica Neue Light"/>
                <a:cs typeface="Helvetica Neue Light"/>
                <a:sym typeface="Helvetica Neue Light"/>
              </a:rPr>
              <a:t>most similar documents w.r.t. the query (with </a:t>
            </a:r>
            <a:r>
              <a:rPr i="1" lang="en-US" sz="1800">
                <a:solidFill>
                  <a:srgbClr val="1C1C1C"/>
                </a:solidFill>
                <a:latin typeface="Helvetica Neue Light"/>
                <a:ea typeface="Helvetica Neue Light"/>
                <a:cs typeface="Helvetica Neue Light"/>
                <a:sym typeface="Helvetica Neue Light"/>
              </a:rPr>
              <a:t>k&lt;=n</a:t>
            </a:r>
            <a:r>
              <a:rPr lang="en-US" sz="1800">
                <a:solidFill>
                  <a:srgbClr val="1C1C1C"/>
                </a:solidFill>
                <a:latin typeface="Helvetica Neue Light"/>
                <a:ea typeface="Helvetica Neue Light"/>
                <a:cs typeface="Helvetica Neue Light"/>
                <a:sym typeface="Helvetica Neue Light"/>
              </a:rPr>
              <a:t>) and use it for further processing</a:t>
            </a:r>
            <a:endParaRPr sz="1800">
              <a:solidFill>
                <a:srgbClr val="1C1C1C"/>
              </a:solidFill>
              <a:latin typeface="Helvetica Neue Light"/>
              <a:ea typeface="Helvetica Neue Light"/>
              <a:cs typeface="Helvetica Neue Light"/>
              <a:sym typeface="Helvetica Neue Light"/>
            </a:endParaRPr>
          </a:p>
        </p:txBody>
      </p:sp>
      <p:pic>
        <p:nvPicPr>
          <p:cNvPr id="250" name="Google Shape;250;p27" title="download (1).png"/>
          <p:cNvPicPr preferRelativeResize="0"/>
          <p:nvPr/>
        </p:nvPicPr>
        <p:blipFill>
          <a:blip r:embed="rId3">
            <a:alphaModFix/>
          </a:blip>
          <a:stretch>
            <a:fillRect/>
          </a:stretch>
        </p:blipFill>
        <p:spPr>
          <a:xfrm>
            <a:off x="2215562" y="961300"/>
            <a:ext cx="7678375" cy="226695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8"/>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Retrieval</a:t>
            </a:r>
            <a:r>
              <a:rPr lang="en-US" sz="3200">
                <a:latin typeface="Calibri"/>
                <a:ea typeface="Calibri"/>
                <a:cs typeface="Calibri"/>
                <a:sym typeface="Calibri"/>
              </a:rPr>
              <a:t> Augmented Generation (RAG)</a:t>
            </a:r>
            <a:endParaRPr sz="3200">
              <a:latin typeface="Calibri"/>
              <a:ea typeface="Calibri"/>
              <a:cs typeface="Calibri"/>
              <a:sym typeface="Calibri"/>
            </a:endParaRPr>
          </a:p>
        </p:txBody>
      </p:sp>
      <p:sp>
        <p:nvSpPr>
          <p:cNvPr id="257" name="Google Shape;257;p28"/>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258" name="Google Shape;258;p28"/>
          <p:cNvSpPr txBox="1"/>
          <p:nvPr/>
        </p:nvSpPr>
        <p:spPr>
          <a:xfrm>
            <a:off x="612750" y="3952875"/>
            <a:ext cx="10884000" cy="271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Retrieval models (&amp; Rerank) can extract documents that can be subsequently fed to an LLM as additional context.</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b="1" lang="en-US" sz="1800">
                <a:solidFill>
                  <a:srgbClr val="1C1C1C"/>
                </a:solidFill>
                <a:latin typeface="Helvetica Neue"/>
                <a:ea typeface="Helvetica Neue"/>
                <a:cs typeface="Helvetica Neue"/>
                <a:sym typeface="Helvetica Neue"/>
              </a:rPr>
              <a:t>LLMs may lack some knowledge and often hallucinate</a:t>
            </a:r>
            <a:r>
              <a:rPr lang="en-US" sz="1800">
                <a:solidFill>
                  <a:srgbClr val="1C1C1C"/>
                </a:solidFill>
                <a:latin typeface="Helvetica Neue Light"/>
                <a:ea typeface="Helvetica Neue Light"/>
                <a:cs typeface="Helvetica Neue Light"/>
                <a:sym typeface="Helvetica Neue Light"/>
              </a:rPr>
              <a:t>: in specific tasks, like question answering, retrieving relevant information, and then prepending the information inside the LLM context (prompt) largely improves LLM accuracy and drops hallucination rate</a:t>
            </a:r>
            <a:endParaRPr sz="1800">
              <a:solidFill>
                <a:srgbClr val="1C1C1C"/>
              </a:solidFill>
              <a:latin typeface="Helvetica Neue Light"/>
              <a:ea typeface="Helvetica Neue Light"/>
              <a:cs typeface="Helvetica Neue Light"/>
              <a:sym typeface="Helvetica Neue Light"/>
            </a:endParaRPr>
          </a:p>
        </p:txBody>
      </p:sp>
      <p:pic>
        <p:nvPicPr>
          <p:cNvPr id="259" name="Google Shape;259;p28"/>
          <p:cNvPicPr preferRelativeResize="0"/>
          <p:nvPr/>
        </p:nvPicPr>
        <p:blipFill>
          <a:blip r:embed="rId3">
            <a:alphaModFix/>
          </a:blip>
          <a:stretch>
            <a:fillRect/>
          </a:stretch>
        </p:blipFill>
        <p:spPr>
          <a:xfrm>
            <a:off x="2661250" y="1121750"/>
            <a:ext cx="6869501" cy="24501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9"/>
          <p:cNvSpPr txBox="1"/>
          <p:nvPr>
            <p:ph type="title"/>
          </p:nvPr>
        </p:nvSpPr>
        <p:spPr>
          <a:xfrm>
            <a:off x="406400" y="425800"/>
            <a:ext cx="112311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Lecture Plan</a:t>
            </a:r>
            <a:endParaRPr sz="3200">
              <a:latin typeface="Calibri"/>
              <a:ea typeface="Calibri"/>
              <a:cs typeface="Calibri"/>
              <a:sym typeface="Calibri"/>
            </a:endParaRPr>
          </a:p>
        </p:txBody>
      </p:sp>
      <p:sp>
        <p:nvSpPr>
          <p:cNvPr id="266" name="Google Shape;266;p29"/>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267" name="Google Shape;267;p29"/>
          <p:cNvSpPr txBox="1"/>
          <p:nvPr/>
        </p:nvSpPr>
        <p:spPr>
          <a:xfrm>
            <a:off x="567950" y="1608550"/>
            <a:ext cx="11004600" cy="40383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888888"/>
              </a:buClr>
              <a:buSzPts val="2000"/>
              <a:buFont typeface="Helvetica Neue"/>
              <a:buChar char="●"/>
            </a:pPr>
            <a:r>
              <a:rPr b="1" lang="en-US" sz="2000">
                <a:solidFill>
                  <a:srgbClr val="888888"/>
                </a:solidFill>
                <a:latin typeface="Helvetica Neue"/>
                <a:ea typeface="Helvetica Neue"/>
                <a:cs typeface="Helvetica Neue"/>
                <a:sym typeface="Helvetica Neue"/>
              </a:rPr>
              <a:t>Retrieve &amp; Rerank pipeline and RAG</a:t>
            </a:r>
            <a:endParaRPr b="1" sz="2000">
              <a:solidFill>
                <a:srgbClr val="888888"/>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262626"/>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262626"/>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262626"/>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262626"/>
              </a:solidFill>
              <a:latin typeface="Helvetica Neue"/>
              <a:ea typeface="Helvetica Neue"/>
              <a:cs typeface="Helvetica Neue"/>
              <a:sym typeface="Helvetica Neue"/>
            </a:endParaRPr>
          </a:p>
          <a:p>
            <a:pPr indent="-355600" lvl="0" marL="457200" rtl="0" algn="l">
              <a:spcBef>
                <a:spcPts val="0"/>
              </a:spcBef>
              <a:spcAft>
                <a:spcPts val="0"/>
              </a:spcAft>
              <a:buClr>
                <a:srgbClr val="262626"/>
              </a:buClr>
              <a:buSzPts val="2000"/>
              <a:buFont typeface="Helvetica Neue"/>
              <a:buChar char="●"/>
            </a:pPr>
            <a:r>
              <a:rPr b="1" lang="en-US" sz="2000">
                <a:solidFill>
                  <a:srgbClr val="262626"/>
                </a:solidFill>
                <a:latin typeface="Helvetica Neue"/>
                <a:ea typeface="Helvetica Neue"/>
                <a:cs typeface="Helvetica Neue"/>
                <a:sym typeface="Helvetica Neue"/>
              </a:rPr>
              <a:t>Optimizing the performance of RAG</a:t>
            </a:r>
            <a:endParaRPr b="1" sz="2000">
              <a:solidFill>
                <a:srgbClr val="262626"/>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888888"/>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888888"/>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888888"/>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888888"/>
              </a:solidFill>
              <a:latin typeface="Helvetica Neue"/>
              <a:ea typeface="Helvetica Neue"/>
              <a:cs typeface="Helvetica Neue"/>
              <a:sym typeface="Helvetica Neue"/>
            </a:endParaRPr>
          </a:p>
          <a:p>
            <a:pPr indent="-355600" lvl="0" marL="457200" rtl="0" algn="l">
              <a:spcBef>
                <a:spcPts val="0"/>
              </a:spcBef>
              <a:spcAft>
                <a:spcPts val="0"/>
              </a:spcAft>
              <a:buClr>
                <a:srgbClr val="888888"/>
              </a:buClr>
              <a:buSzPts val="2000"/>
              <a:buFont typeface="Helvetica Neue"/>
              <a:buChar char="●"/>
            </a:pPr>
            <a:r>
              <a:rPr b="1" lang="en-US" sz="2000">
                <a:solidFill>
                  <a:srgbClr val="888888"/>
                </a:solidFill>
                <a:latin typeface="Helvetica Neue"/>
                <a:ea typeface="Helvetica Neue"/>
                <a:cs typeface="Helvetica Neue"/>
                <a:sym typeface="Helvetica Neue"/>
              </a:rPr>
              <a:t>Use case: Fact Checking</a:t>
            </a:r>
            <a:endParaRPr b="1" sz="2000">
              <a:solidFill>
                <a:srgbClr val="888888"/>
              </a:solidFill>
              <a:latin typeface="Helvetica Neue"/>
              <a:ea typeface="Helvetica Neue"/>
              <a:cs typeface="Helvetica Neue"/>
              <a:sym typeface="Helvetica Neue"/>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0"/>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Finding the optimal retrieval implementation</a:t>
            </a:r>
            <a:endParaRPr sz="3200">
              <a:latin typeface="Calibri"/>
              <a:ea typeface="Calibri"/>
              <a:cs typeface="Calibri"/>
              <a:sym typeface="Calibri"/>
            </a:endParaRPr>
          </a:p>
        </p:txBody>
      </p:sp>
      <p:sp>
        <p:nvSpPr>
          <p:cNvPr id="274" name="Google Shape;274;p30"/>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275" name="Google Shape;275;p30"/>
          <p:cNvSpPr txBox="1"/>
          <p:nvPr/>
        </p:nvSpPr>
        <p:spPr>
          <a:xfrm>
            <a:off x="593700" y="1310775"/>
            <a:ext cx="10884000" cy="46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Retriever pipelines can be substantially tuned to provide higher quality results via</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Choosing the right chunk granularity</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Query Classification</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Query Transformations</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Document Repacking</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Document Summarization</a:t>
            </a:r>
            <a:endParaRPr sz="1800">
              <a:solidFill>
                <a:srgbClr val="1C1C1C"/>
              </a:solidFill>
              <a:latin typeface="Helvetica Neue Light"/>
              <a:ea typeface="Helvetica Neue Light"/>
              <a:cs typeface="Helvetica Neue Light"/>
              <a:sym typeface="Helvetica Neue 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1"/>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Finding the optimal retrieval implementation</a:t>
            </a:r>
            <a:endParaRPr sz="3200">
              <a:latin typeface="Calibri"/>
              <a:ea typeface="Calibri"/>
              <a:cs typeface="Calibri"/>
              <a:sym typeface="Calibri"/>
            </a:endParaRPr>
          </a:p>
        </p:txBody>
      </p:sp>
      <p:sp>
        <p:nvSpPr>
          <p:cNvPr id="282" name="Google Shape;282;p31"/>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283" name="Google Shape;283;p31"/>
          <p:cNvSpPr txBox="1"/>
          <p:nvPr/>
        </p:nvSpPr>
        <p:spPr>
          <a:xfrm>
            <a:off x="593700" y="1310775"/>
            <a:ext cx="10884000" cy="46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Retriever pipelines can be substantially tuned to provide higher quality results via</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a:buAutoNum type="arabicPeriod"/>
            </a:pPr>
            <a:r>
              <a:rPr b="1" lang="en-US" sz="1800">
                <a:solidFill>
                  <a:srgbClr val="1C1C1C"/>
                </a:solidFill>
                <a:latin typeface="Helvetica Neue"/>
                <a:ea typeface="Helvetica Neue"/>
                <a:cs typeface="Helvetica Neue"/>
                <a:sym typeface="Helvetica Neue"/>
              </a:rPr>
              <a:t>Choosing the right chunk granularity</a:t>
            </a:r>
            <a:endParaRPr b="1" sz="1800">
              <a:solidFill>
                <a:srgbClr val="1C1C1C"/>
              </a:solidFill>
              <a:latin typeface="Helvetica Neue"/>
              <a:ea typeface="Helvetica Neue"/>
              <a:cs typeface="Helvetica Neue"/>
              <a:sym typeface="Helvetica Neue"/>
            </a:endParaRPr>
          </a:p>
          <a:p>
            <a:pPr indent="-342900" lvl="0" marL="457200" rtl="0" algn="l">
              <a:spcBef>
                <a:spcPts val="0"/>
              </a:spcBef>
              <a:spcAft>
                <a:spcPts val="0"/>
              </a:spcAft>
              <a:buClr>
                <a:srgbClr val="888888"/>
              </a:buClr>
              <a:buSzPts val="1800"/>
              <a:buFont typeface="Helvetica Neue Light"/>
              <a:buAutoNum type="arabicPeriod"/>
            </a:pPr>
            <a:r>
              <a:rPr lang="en-US" sz="1800">
                <a:solidFill>
                  <a:srgbClr val="888888"/>
                </a:solidFill>
                <a:latin typeface="Helvetica Neue Light"/>
                <a:ea typeface="Helvetica Neue Light"/>
                <a:cs typeface="Helvetica Neue Light"/>
                <a:sym typeface="Helvetica Neue Light"/>
              </a:rPr>
              <a:t>Query Classification</a:t>
            </a:r>
            <a:endParaRPr sz="1800">
              <a:solidFill>
                <a:srgbClr val="888888"/>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888888"/>
              </a:buClr>
              <a:buSzPts val="1800"/>
              <a:buFont typeface="Helvetica Neue Light"/>
              <a:buAutoNum type="arabicPeriod"/>
            </a:pPr>
            <a:r>
              <a:rPr lang="en-US" sz="1800">
                <a:solidFill>
                  <a:srgbClr val="888888"/>
                </a:solidFill>
                <a:latin typeface="Helvetica Neue Light"/>
                <a:ea typeface="Helvetica Neue Light"/>
                <a:cs typeface="Helvetica Neue Light"/>
                <a:sym typeface="Helvetica Neue Light"/>
              </a:rPr>
              <a:t>Query Transformations</a:t>
            </a:r>
            <a:endParaRPr sz="1800">
              <a:solidFill>
                <a:srgbClr val="888888"/>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888888"/>
              </a:buClr>
              <a:buSzPts val="1800"/>
              <a:buFont typeface="Helvetica Neue Light"/>
              <a:buAutoNum type="arabicPeriod"/>
            </a:pPr>
            <a:r>
              <a:rPr lang="en-US" sz="1800">
                <a:solidFill>
                  <a:srgbClr val="888888"/>
                </a:solidFill>
                <a:latin typeface="Helvetica Neue Light"/>
                <a:ea typeface="Helvetica Neue Light"/>
                <a:cs typeface="Helvetica Neue Light"/>
                <a:sym typeface="Helvetica Neue Light"/>
              </a:rPr>
              <a:t>Document Repacking</a:t>
            </a:r>
            <a:endParaRPr sz="1800">
              <a:solidFill>
                <a:srgbClr val="888888"/>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888888"/>
              </a:buClr>
              <a:buSzPts val="1800"/>
              <a:buFont typeface="Helvetica Neue Light"/>
              <a:buAutoNum type="arabicPeriod"/>
            </a:pPr>
            <a:r>
              <a:rPr lang="en-US" sz="1800">
                <a:solidFill>
                  <a:srgbClr val="888888"/>
                </a:solidFill>
                <a:latin typeface="Helvetica Neue Light"/>
                <a:ea typeface="Helvetica Neue Light"/>
                <a:cs typeface="Helvetica Neue Light"/>
                <a:sym typeface="Helvetica Neue Light"/>
              </a:rPr>
              <a:t>Document Summarization</a:t>
            </a:r>
            <a:endParaRPr sz="1800">
              <a:solidFill>
                <a:srgbClr val="888888"/>
              </a:solidFill>
              <a:latin typeface="Helvetica Neue Light"/>
              <a:ea typeface="Helvetica Neue Light"/>
              <a:cs typeface="Helvetica Neue Light"/>
              <a:sym typeface="Helvetica Neue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2"/>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Choosing the right chunk granularity</a:t>
            </a:r>
            <a:endParaRPr sz="3200">
              <a:latin typeface="Calibri"/>
              <a:ea typeface="Calibri"/>
              <a:cs typeface="Calibri"/>
              <a:sym typeface="Calibri"/>
            </a:endParaRPr>
          </a:p>
        </p:txBody>
      </p:sp>
      <p:sp>
        <p:nvSpPr>
          <p:cNvPr id="290" name="Google Shape;290;p32"/>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291" name="Google Shape;291;p32"/>
          <p:cNvSpPr txBox="1"/>
          <p:nvPr/>
        </p:nvSpPr>
        <p:spPr>
          <a:xfrm>
            <a:off x="593700" y="1310775"/>
            <a:ext cx="10884000" cy="46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Right now, we have considered </a:t>
            </a:r>
            <a:r>
              <a:rPr b="1" lang="en-US" sz="1800">
                <a:solidFill>
                  <a:srgbClr val="1C1C1C"/>
                </a:solidFill>
                <a:latin typeface="Helvetica Neue"/>
                <a:ea typeface="Helvetica Neue"/>
                <a:cs typeface="Helvetica Neue"/>
                <a:sym typeface="Helvetica Neue"/>
              </a:rPr>
              <a:t>one embedding for each document, regardless of the document’s size</a:t>
            </a:r>
            <a:r>
              <a:rPr lang="en-US" sz="1800">
                <a:solidFill>
                  <a:srgbClr val="1C1C1C"/>
                </a:solidFill>
                <a:latin typeface="Helvetica Neue Light"/>
                <a:ea typeface="Helvetica Neue Light"/>
                <a:cs typeface="Helvetica Neue Light"/>
                <a:sym typeface="Helvetica Neue Light"/>
              </a:rPr>
              <a:t>. This has several drawbacks:</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we embed </a:t>
            </a:r>
            <a:r>
              <a:rPr b="1" lang="en-US" sz="1800">
                <a:solidFill>
                  <a:srgbClr val="1C1C1C"/>
                </a:solidFill>
                <a:latin typeface="Helvetica Neue"/>
                <a:ea typeface="Helvetica Neue"/>
                <a:cs typeface="Helvetica Neue"/>
                <a:sym typeface="Helvetica Neue"/>
              </a:rPr>
              <a:t>only a small portion of the document</a:t>
            </a:r>
            <a:r>
              <a:rPr lang="en-US" sz="1800">
                <a:solidFill>
                  <a:srgbClr val="1C1C1C"/>
                </a:solidFill>
                <a:latin typeface="Helvetica Neue Light"/>
                <a:ea typeface="Helvetica Neue Light"/>
                <a:cs typeface="Helvetica Neue Light"/>
                <a:sym typeface="Helvetica Neue Light"/>
              </a:rPr>
              <a:t> due to the </a:t>
            </a:r>
            <a:r>
              <a:rPr b="1" lang="en-US" sz="1800">
                <a:solidFill>
                  <a:srgbClr val="1C1C1C"/>
                </a:solidFill>
                <a:latin typeface="Helvetica Neue"/>
                <a:ea typeface="Helvetica Neue"/>
                <a:cs typeface="Helvetica Neue"/>
                <a:sym typeface="Helvetica Neue"/>
              </a:rPr>
              <a:t>model’s context size</a:t>
            </a:r>
            <a:r>
              <a:rPr lang="en-US" sz="1800">
                <a:solidFill>
                  <a:srgbClr val="1C1C1C"/>
                </a:solidFill>
                <a:latin typeface="Helvetica Neue Light"/>
                <a:ea typeface="Helvetica Neue Light"/>
                <a:cs typeface="Helvetica Neue Light"/>
                <a:sym typeface="Helvetica Neue Light"/>
              </a:rPr>
              <a:t> (e.g. the title and first paragraphs of the document)</a:t>
            </a:r>
            <a:endParaRPr sz="1800">
              <a:solidFill>
                <a:srgbClr val="1C1C1C"/>
              </a:solidFill>
              <a:latin typeface="Helvetica Neue Light"/>
              <a:ea typeface="Helvetica Neue Light"/>
              <a:cs typeface="Helvetica Neue Light"/>
              <a:sym typeface="Helvetica Neue Light"/>
            </a:endParaRPr>
          </a:p>
          <a:p>
            <a:pPr indent="-342900" lvl="1" marL="914400" rtl="0" algn="l">
              <a:spcBef>
                <a:spcPts val="0"/>
              </a:spcBef>
              <a:spcAft>
                <a:spcPts val="0"/>
              </a:spcAft>
              <a:buClr>
                <a:srgbClr val="1C1C1C"/>
              </a:buClr>
              <a:buSzPts val="1800"/>
              <a:buFont typeface="Helvetica Neue Light"/>
              <a:buAutoNum type="alphaLcPeriod"/>
            </a:pPr>
            <a:r>
              <a:rPr lang="en-US" sz="1800">
                <a:solidFill>
                  <a:srgbClr val="1C1C1C"/>
                </a:solidFill>
                <a:latin typeface="Helvetica Neue Light"/>
                <a:ea typeface="Helvetica Neue Light"/>
                <a:cs typeface="Helvetica Neue Light"/>
                <a:sym typeface="Helvetica Neue Light"/>
              </a:rPr>
              <a:t>a lot of information would be left out and the index would be difficult to search</a:t>
            </a:r>
            <a:endParaRPr sz="1800">
              <a:solidFill>
                <a:srgbClr val="1C1C1C"/>
              </a:solidFill>
              <a:latin typeface="Helvetica Neue Light"/>
              <a:ea typeface="Helvetica Neue Light"/>
              <a:cs typeface="Helvetica Neue Light"/>
              <a:sym typeface="Helvetica Neue Light"/>
            </a:endParaRPr>
          </a:p>
          <a:p>
            <a:pPr indent="0" lvl="0" marL="91440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we can divide the document in chunks, embed those chunks, and then aggregate (e.g., average) those chunks into a single vector.​</a:t>
            </a:r>
            <a:endParaRPr sz="1800">
              <a:solidFill>
                <a:srgbClr val="1C1C1C"/>
              </a:solidFill>
              <a:latin typeface="Helvetica Neue Light"/>
              <a:ea typeface="Helvetica Neue Light"/>
              <a:cs typeface="Helvetica Neue Light"/>
              <a:sym typeface="Helvetica Neue Light"/>
            </a:endParaRPr>
          </a:p>
          <a:p>
            <a:pPr indent="-342900" lvl="1" marL="914400" rtl="0" algn="l">
              <a:spcBef>
                <a:spcPts val="0"/>
              </a:spcBef>
              <a:spcAft>
                <a:spcPts val="0"/>
              </a:spcAft>
              <a:buClr>
                <a:srgbClr val="1C1C1C"/>
              </a:buClr>
              <a:buSzPts val="1800"/>
              <a:buFont typeface="Helvetica Neue Light"/>
              <a:buAutoNum type="alphaLcPeriod"/>
            </a:pPr>
            <a:r>
              <a:rPr lang="en-US" sz="1800">
                <a:solidFill>
                  <a:srgbClr val="1C1C1C"/>
                </a:solidFill>
                <a:latin typeface="Helvetica Neue Light"/>
                <a:ea typeface="Helvetica Neue Light"/>
                <a:cs typeface="Helvetica Neue Light"/>
                <a:sym typeface="Helvetica Neue Light"/>
              </a:rPr>
              <a:t>it results in a highly compressed vector that loses a lot of the information in the document</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b="1" lang="en-US" sz="1800">
                <a:solidFill>
                  <a:srgbClr val="1C1C1C"/>
                </a:solidFill>
                <a:latin typeface="Helvetica Neue"/>
                <a:ea typeface="Helvetica Neue"/>
                <a:cs typeface="Helvetica Neue"/>
                <a:sym typeface="Helvetica Neue"/>
              </a:rPr>
              <a:t>This approach can satisfy some information needs, but not others.</a:t>
            </a:r>
            <a:endParaRPr b="1" sz="1800">
              <a:solidFill>
                <a:srgbClr val="1C1C1C"/>
              </a:solidFill>
              <a:latin typeface="Helvetica Neue"/>
              <a:ea typeface="Helvetica Neue"/>
              <a:cs typeface="Helvetica Neue"/>
              <a:sym typeface="Helvetica Neue"/>
            </a:endParaRPr>
          </a:p>
          <a:p>
            <a:pPr indent="0" lvl="0" marL="0" rtl="0" algn="l">
              <a:spcBef>
                <a:spcPts val="0"/>
              </a:spcBef>
              <a:spcAft>
                <a:spcPts val="0"/>
              </a:spcAft>
              <a:buNone/>
            </a:pPr>
            <a:r>
              <a:t/>
            </a:r>
            <a:endParaRPr b="1" sz="1800">
              <a:solidFill>
                <a:srgbClr val="1C1C1C"/>
              </a:solidFill>
              <a:latin typeface="Helvetica Neue"/>
              <a:ea typeface="Helvetica Neue"/>
              <a:cs typeface="Helvetica Neue"/>
              <a:sym typeface="Helvetica Neue"/>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A lot of the time, a search is for </a:t>
            </a:r>
            <a:r>
              <a:rPr b="1" lang="en-US" sz="1800">
                <a:solidFill>
                  <a:srgbClr val="1C1C1C"/>
                </a:solidFill>
                <a:latin typeface="Helvetica Neue"/>
                <a:ea typeface="Helvetica Neue"/>
                <a:cs typeface="Helvetica Neue"/>
                <a:sym typeface="Helvetica Neue"/>
              </a:rPr>
              <a:t>a specific piece of information contained in an article</a:t>
            </a:r>
            <a:r>
              <a:rPr lang="en-US" sz="1800">
                <a:solidFill>
                  <a:srgbClr val="1C1C1C"/>
                </a:solidFill>
                <a:latin typeface="Helvetica Neue Light"/>
                <a:ea typeface="Helvetica Neue Light"/>
                <a:cs typeface="Helvetica Neue Light"/>
                <a:sym typeface="Helvetica Neue Light"/>
              </a:rPr>
              <a:t>, which is better captured if </a:t>
            </a:r>
            <a:r>
              <a:rPr b="1" lang="en-US" sz="1800">
                <a:solidFill>
                  <a:srgbClr val="1C1C1C"/>
                </a:solidFill>
                <a:latin typeface="Helvetica Neue"/>
                <a:ea typeface="Helvetica Neue"/>
                <a:cs typeface="Helvetica Neue"/>
                <a:sym typeface="Helvetica Neue"/>
              </a:rPr>
              <a:t>the concept had its own vector</a:t>
            </a:r>
            <a:r>
              <a:rPr lang="en-US" sz="1800">
                <a:solidFill>
                  <a:srgbClr val="1C1C1C"/>
                </a:solidFill>
                <a:latin typeface="Helvetica Neue Light"/>
                <a:ea typeface="Helvetica Neue Light"/>
                <a:cs typeface="Helvetica Neue Light"/>
                <a:sym typeface="Helvetica Neue Light"/>
              </a:rPr>
              <a:t>.​</a:t>
            </a:r>
            <a:endParaRPr sz="1800">
              <a:solidFill>
                <a:srgbClr val="1C1C1C"/>
              </a:solidFill>
              <a:latin typeface="Helvetica Neue Light"/>
              <a:ea typeface="Helvetica Neue Light"/>
              <a:cs typeface="Helvetica Neue Light"/>
              <a:sym typeface="Helvetica Neue Ligh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33"/>
          <p:cNvSpPr txBox="1"/>
          <p:nvPr>
            <p:ph type="title"/>
          </p:nvPr>
        </p:nvSpPr>
        <p:spPr>
          <a:xfrm>
            <a:off x="406400" y="425800"/>
            <a:ext cx="11049000" cy="535500"/>
          </a:xfrm>
          <a:prstGeom prst="rect">
            <a:avLst/>
          </a:prstGeom>
          <a:noFill/>
          <a:ln>
            <a:noFill/>
          </a:ln>
        </p:spPr>
        <p:txBody>
          <a:bodyPr anchorCtr="0" anchor="b" bIns="45700" lIns="91425" spcFirstLastPara="1" rIns="91425" wrap="square" tIns="45700">
            <a:spAutoFit/>
          </a:bodyPr>
          <a:lstStyle/>
          <a:p>
            <a:pPr indent="0" lvl="0" marL="0" rtl="0" algn="l">
              <a:spcBef>
                <a:spcPts val="0"/>
              </a:spcBef>
              <a:spcAft>
                <a:spcPts val="0"/>
              </a:spcAft>
              <a:buSzPts val="1400"/>
              <a:buNone/>
            </a:pPr>
            <a:r>
              <a:rPr lang="en-US" sz="3200">
                <a:latin typeface="Calibri"/>
                <a:ea typeface="Calibri"/>
                <a:cs typeface="Calibri"/>
                <a:sym typeface="Calibri"/>
              </a:rPr>
              <a:t>Choosing the right chunk granularity - Chunking strategies</a:t>
            </a:r>
            <a:endParaRPr sz="3200">
              <a:latin typeface="Calibri"/>
              <a:ea typeface="Calibri"/>
              <a:cs typeface="Calibri"/>
              <a:sym typeface="Calibri"/>
            </a:endParaRPr>
          </a:p>
        </p:txBody>
      </p:sp>
      <p:sp>
        <p:nvSpPr>
          <p:cNvPr id="298" name="Google Shape;298;p33"/>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299" name="Google Shape;299;p33"/>
          <p:cNvSpPr txBox="1"/>
          <p:nvPr/>
        </p:nvSpPr>
        <p:spPr>
          <a:xfrm>
            <a:off x="603225" y="1863225"/>
            <a:ext cx="3387900" cy="268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US" sz="1800">
                <a:solidFill>
                  <a:srgbClr val="1C1C1C"/>
                </a:solidFill>
                <a:highlight>
                  <a:srgbClr val="FF9900"/>
                </a:highlight>
                <a:latin typeface="Helvetica Neue Light"/>
                <a:ea typeface="Helvetica Neue Light"/>
                <a:cs typeface="Helvetica Neue Light"/>
                <a:sym typeface="Helvetica Neue Light"/>
              </a:rPr>
              <a:t>Artificial intelligence is transforming many fields. It enables machines to learn from data an</a:t>
            </a:r>
            <a:r>
              <a:rPr lang="en-US" sz="1800">
                <a:solidFill>
                  <a:srgbClr val="1C1C1C"/>
                </a:solidFill>
                <a:highlight>
                  <a:srgbClr val="B6D7A8"/>
                </a:highlight>
                <a:latin typeface="Helvetica Neue Light"/>
                <a:ea typeface="Helvetica Neue Light"/>
                <a:cs typeface="Helvetica Neue Light"/>
                <a:sym typeface="Helvetica Neue Light"/>
              </a:rPr>
              <a:t>d make decisions.</a:t>
            </a:r>
            <a:endParaRPr sz="1800">
              <a:solidFill>
                <a:srgbClr val="1C1C1C"/>
              </a:solidFill>
              <a:highlight>
                <a:srgbClr val="B6D7A8"/>
              </a:highlight>
              <a:latin typeface="Helvetica Neue Light"/>
              <a:ea typeface="Helvetica Neue Light"/>
              <a:cs typeface="Helvetica Neue Light"/>
              <a:sym typeface="Helvetica Neue Light"/>
            </a:endParaRPr>
          </a:p>
          <a:p>
            <a:pPr indent="0" lvl="0" marL="0" rtl="0" algn="l">
              <a:spcBef>
                <a:spcPts val="0"/>
              </a:spcBef>
              <a:spcAft>
                <a:spcPts val="0"/>
              </a:spcAft>
              <a:buClr>
                <a:schemeClr val="dk1"/>
              </a:buClr>
              <a:buSzPts val="1100"/>
              <a:buFont typeface="Arial"/>
              <a:buNone/>
            </a:pPr>
            <a:r>
              <a:t/>
            </a:r>
            <a:endParaRPr sz="1800">
              <a:solidFill>
                <a:srgbClr val="1C1C1C"/>
              </a:solidFill>
              <a:highlight>
                <a:srgbClr val="B6D7A8"/>
              </a:highlight>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highlight>
                  <a:srgbClr val="B6D7A8"/>
                </a:highlight>
                <a:latin typeface="Helvetica Neue Light"/>
                <a:ea typeface="Helvetica Neue Light"/>
                <a:cs typeface="Helvetica Neue Light"/>
                <a:sym typeface="Helvetica Neue Light"/>
              </a:rPr>
              <a:t>In recent years, large language models have become particularly popular. T</a:t>
            </a:r>
            <a:r>
              <a:rPr lang="en-US" sz="1800">
                <a:solidFill>
                  <a:srgbClr val="1C1C1C"/>
                </a:solidFill>
                <a:highlight>
                  <a:srgbClr val="A4C2F4"/>
                </a:highlight>
                <a:latin typeface="Helvetica Neue Light"/>
                <a:ea typeface="Helvetica Neue Light"/>
                <a:cs typeface="Helvetica Neue Light"/>
                <a:sym typeface="Helvetica Neue Light"/>
              </a:rPr>
              <a:t>hey are used in chatbots, search engines, and writing assistants.</a:t>
            </a:r>
            <a:endParaRPr sz="1800">
              <a:solidFill>
                <a:srgbClr val="1C1C1C"/>
              </a:solidFill>
              <a:highlight>
                <a:srgbClr val="A4C2F4"/>
              </a:highlight>
              <a:latin typeface="Helvetica Neue Light"/>
              <a:ea typeface="Helvetica Neue Light"/>
              <a:cs typeface="Helvetica Neue Light"/>
              <a:sym typeface="Helvetica Neue Light"/>
            </a:endParaRPr>
          </a:p>
        </p:txBody>
      </p:sp>
      <p:sp>
        <p:nvSpPr>
          <p:cNvPr id="300" name="Google Shape;300;p33"/>
          <p:cNvSpPr txBox="1"/>
          <p:nvPr/>
        </p:nvSpPr>
        <p:spPr>
          <a:xfrm>
            <a:off x="4402050" y="1863225"/>
            <a:ext cx="3387900" cy="268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highlight>
                  <a:srgbClr val="FF9900"/>
                </a:highlight>
                <a:latin typeface="Helvetica Neue Light"/>
                <a:ea typeface="Helvetica Neue Light"/>
                <a:cs typeface="Helvetica Neue Light"/>
                <a:sym typeface="Helvetica Neue Light"/>
              </a:rPr>
              <a:t>Artificial intelligence is transforming many fields.</a:t>
            </a:r>
            <a:r>
              <a:rPr lang="en-US" sz="1800">
                <a:solidFill>
                  <a:srgbClr val="1C1C1C"/>
                </a:solidFill>
                <a:highlight>
                  <a:srgbClr val="B6D7A8"/>
                </a:highlight>
                <a:latin typeface="Helvetica Neue Light"/>
                <a:ea typeface="Helvetica Neue Light"/>
                <a:cs typeface="Helvetica Neue Light"/>
                <a:sym typeface="Helvetica Neue Light"/>
              </a:rPr>
              <a:t> It enables machines to learn from data and make decisions.</a:t>
            </a:r>
            <a:endParaRPr sz="1800">
              <a:solidFill>
                <a:srgbClr val="1C1C1C"/>
              </a:solidFill>
              <a:highlight>
                <a:srgbClr val="B6D7A8"/>
              </a:highlight>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highlight>
                <a:srgbClr val="B6D7A8"/>
              </a:highlight>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highlight>
                  <a:srgbClr val="A4C2F4"/>
                </a:highlight>
                <a:latin typeface="Helvetica Neue Light"/>
                <a:ea typeface="Helvetica Neue Light"/>
                <a:cs typeface="Helvetica Neue Light"/>
                <a:sym typeface="Helvetica Neue Light"/>
              </a:rPr>
              <a:t>In recent years, large language models have become particularly popular.</a:t>
            </a:r>
            <a:r>
              <a:rPr lang="en-US" sz="1800">
                <a:solidFill>
                  <a:srgbClr val="1C1C1C"/>
                </a:solidFill>
                <a:highlight>
                  <a:srgbClr val="EA9999"/>
                </a:highlight>
                <a:latin typeface="Helvetica Neue Light"/>
                <a:ea typeface="Helvetica Neue Light"/>
                <a:cs typeface="Helvetica Neue Light"/>
                <a:sym typeface="Helvetica Neue Light"/>
              </a:rPr>
              <a:t> They are used in chatbots, search engines, and writing assistants.</a:t>
            </a:r>
            <a:endParaRPr sz="1800">
              <a:solidFill>
                <a:srgbClr val="1C1C1C"/>
              </a:solidFill>
              <a:highlight>
                <a:srgbClr val="EA9999"/>
              </a:highlight>
              <a:latin typeface="Helvetica Neue Light"/>
              <a:ea typeface="Helvetica Neue Light"/>
              <a:cs typeface="Helvetica Neue Light"/>
              <a:sym typeface="Helvetica Neue Light"/>
            </a:endParaRPr>
          </a:p>
        </p:txBody>
      </p:sp>
      <p:sp>
        <p:nvSpPr>
          <p:cNvPr id="301" name="Google Shape;301;p33"/>
          <p:cNvSpPr txBox="1"/>
          <p:nvPr/>
        </p:nvSpPr>
        <p:spPr>
          <a:xfrm>
            <a:off x="8200875" y="1863225"/>
            <a:ext cx="3387900" cy="268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highlight>
                  <a:srgbClr val="FF9900"/>
                </a:highlight>
                <a:latin typeface="Helvetica Neue Light"/>
                <a:ea typeface="Helvetica Neue Light"/>
                <a:cs typeface="Helvetica Neue Light"/>
                <a:sym typeface="Helvetica Neue Light"/>
              </a:rPr>
              <a:t>Artificial intelligence is transforming many fields. It enables machines to learn from data and make decisions.</a:t>
            </a:r>
            <a:endParaRPr sz="1800">
              <a:solidFill>
                <a:srgbClr val="1C1C1C"/>
              </a:solidFill>
              <a:highlight>
                <a:srgbClr val="FF9900"/>
              </a:highlight>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highlight>
                <a:srgbClr val="B6D7A8"/>
              </a:highlight>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highlight>
                  <a:srgbClr val="B6D7A8"/>
                </a:highlight>
                <a:latin typeface="Helvetica Neue Light"/>
                <a:ea typeface="Helvetica Neue Light"/>
                <a:cs typeface="Helvetica Neue Light"/>
                <a:sym typeface="Helvetica Neue Light"/>
              </a:rPr>
              <a:t>In recent years, large language models have become particularly popular. They are used in chatbots, search engines, and writing assistants.</a:t>
            </a:r>
            <a:endParaRPr sz="1800">
              <a:solidFill>
                <a:srgbClr val="1C1C1C"/>
              </a:solidFill>
              <a:highlight>
                <a:srgbClr val="B6D7A8"/>
              </a:highlight>
              <a:latin typeface="Helvetica Neue Light"/>
              <a:ea typeface="Helvetica Neue Light"/>
              <a:cs typeface="Helvetica Neue Light"/>
              <a:sym typeface="Helvetica Neue Light"/>
            </a:endParaRPr>
          </a:p>
        </p:txBody>
      </p:sp>
      <p:sp>
        <p:nvSpPr>
          <p:cNvPr id="302" name="Google Shape;302;p33"/>
          <p:cNvSpPr txBox="1"/>
          <p:nvPr/>
        </p:nvSpPr>
        <p:spPr>
          <a:xfrm>
            <a:off x="593700" y="1186950"/>
            <a:ext cx="3120900" cy="53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Character-level chunking</a:t>
            </a:r>
            <a:endParaRPr sz="1800">
              <a:solidFill>
                <a:srgbClr val="1C1C1C"/>
              </a:solidFill>
              <a:latin typeface="Helvetica Neue Light"/>
              <a:ea typeface="Helvetica Neue Light"/>
              <a:cs typeface="Helvetica Neue Light"/>
              <a:sym typeface="Helvetica Neue Light"/>
            </a:endParaRPr>
          </a:p>
        </p:txBody>
      </p:sp>
      <p:sp>
        <p:nvSpPr>
          <p:cNvPr id="303" name="Google Shape;303;p33"/>
          <p:cNvSpPr txBox="1"/>
          <p:nvPr/>
        </p:nvSpPr>
        <p:spPr>
          <a:xfrm>
            <a:off x="4535550" y="1186950"/>
            <a:ext cx="3120900" cy="53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Sentence-level chunking</a:t>
            </a:r>
            <a:endParaRPr sz="1800">
              <a:solidFill>
                <a:srgbClr val="1C1C1C"/>
              </a:solidFill>
              <a:latin typeface="Helvetica Neue Light"/>
              <a:ea typeface="Helvetica Neue Light"/>
              <a:cs typeface="Helvetica Neue Light"/>
              <a:sym typeface="Helvetica Neue Light"/>
            </a:endParaRPr>
          </a:p>
        </p:txBody>
      </p:sp>
      <p:sp>
        <p:nvSpPr>
          <p:cNvPr id="304" name="Google Shape;304;p33"/>
          <p:cNvSpPr txBox="1"/>
          <p:nvPr/>
        </p:nvSpPr>
        <p:spPr>
          <a:xfrm>
            <a:off x="8334375" y="1186950"/>
            <a:ext cx="3120900" cy="53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Paragraph</a:t>
            </a:r>
            <a:r>
              <a:rPr lang="en-US" sz="1800">
                <a:solidFill>
                  <a:srgbClr val="1C1C1C"/>
                </a:solidFill>
                <a:latin typeface="Helvetica Neue Light"/>
                <a:ea typeface="Helvetica Neue Light"/>
                <a:cs typeface="Helvetica Neue Light"/>
                <a:sym typeface="Helvetica Neue Light"/>
              </a:rPr>
              <a:t>-level chunking</a:t>
            </a:r>
            <a:endParaRPr sz="1800">
              <a:solidFill>
                <a:srgbClr val="1C1C1C"/>
              </a:solidFill>
              <a:latin typeface="Helvetica Neue Light"/>
              <a:ea typeface="Helvetica Neue Light"/>
              <a:cs typeface="Helvetica Neue Light"/>
              <a:sym typeface="Helvetica Neue Ligh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34"/>
          <p:cNvSpPr txBox="1"/>
          <p:nvPr>
            <p:ph type="title"/>
          </p:nvPr>
        </p:nvSpPr>
        <p:spPr>
          <a:xfrm>
            <a:off x="406400" y="425800"/>
            <a:ext cx="11049000" cy="535500"/>
          </a:xfrm>
          <a:prstGeom prst="rect">
            <a:avLst/>
          </a:prstGeom>
          <a:noFill/>
          <a:ln>
            <a:noFill/>
          </a:ln>
        </p:spPr>
        <p:txBody>
          <a:bodyPr anchorCtr="0" anchor="b" bIns="45700" lIns="91425" spcFirstLastPara="1" rIns="91425" wrap="square" tIns="45700">
            <a:spAutoFit/>
          </a:bodyPr>
          <a:lstStyle/>
          <a:p>
            <a:pPr indent="0" lvl="0" marL="0" rtl="0" algn="l">
              <a:spcBef>
                <a:spcPts val="0"/>
              </a:spcBef>
              <a:spcAft>
                <a:spcPts val="0"/>
              </a:spcAft>
              <a:buSzPts val="1400"/>
              <a:buNone/>
            </a:pPr>
            <a:r>
              <a:rPr lang="en-US" sz="3200">
                <a:latin typeface="Calibri"/>
                <a:ea typeface="Calibri"/>
                <a:cs typeface="Calibri"/>
                <a:sym typeface="Calibri"/>
              </a:rPr>
              <a:t>Choosing the right chunk granularity - Chunking strategies</a:t>
            </a:r>
            <a:endParaRPr sz="3200">
              <a:latin typeface="Calibri"/>
              <a:ea typeface="Calibri"/>
              <a:cs typeface="Calibri"/>
              <a:sym typeface="Calibri"/>
            </a:endParaRPr>
          </a:p>
        </p:txBody>
      </p:sp>
      <p:sp>
        <p:nvSpPr>
          <p:cNvPr id="311" name="Google Shape;311;p34"/>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312" name="Google Shape;312;p34"/>
          <p:cNvSpPr txBox="1"/>
          <p:nvPr/>
        </p:nvSpPr>
        <p:spPr>
          <a:xfrm>
            <a:off x="603225" y="1863225"/>
            <a:ext cx="3387900" cy="268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highlight>
                  <a:srgbClr val="FF9900"/>
                </a:highlight>
                <a:latin typeface="Helvetica Neue Light"/>
                <a:ea typeface="Helvetica Neue Light"/>
                <a:cs typeface="Helvetica Neue Light"/>
                <a:sym typeface="Helvetica Neue Light"/>
              </a:rPr>
              <a:t>Artificial intelligence is transforming many fields. It enables machines to learn from data an</a:t>
            </a:r>
            <a:r>
              <a:rPr lang="en-US" sz="1800">
                <a:solidFill>
                  <a:srgbClr val="1C1C1C"/>
                </a:solidFill>
                <a:highlight>
                  <a:srgbClr val="B6D7A8"/>
                </a:highlight>
                <a:latin typeface="Helvetica Neue Light"/>
                <a:ea typeface="Helvetica Neue Light"/>
                <a:cs typeface="Helvetica Neue Light"/>
                <a:sym typeface="Helvetica Neue Light"/>
              </a:rPr>
              <a:t>d make decisions.</a:t>
            </a:r>
            <a:endParaRPr sz="1800">
              <a:solidFill>
                <a:srgbClr val="1C1C1C"/>
              </a:solidFill>
              <a:highlight>
                <a:srgbClr val="B6D7A8"/>
              </a:highlight>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highlight>
                <a:srgbClr val="B6D7A8"/>
              </a:highlight>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highlight>
                  <a:srgbClr val="B6D7A8"/>
                </a:highlight>
                <a:latin typeface="Helvetica Neue Light"/>
                <a:ea typeface="Helvetica Neue Light"/>
                <a:cs typeface="Helvetica Neue Light"/>
                <a:sym typeface="Helvetica Neue Light"/>
              </a:rPr>
              <a:t>In recent years, large language models have become particularly popular. T</a:t>
            </a:r>
            <a:r>
              <a:rPr lang="en-US" sz="1800">
                <a:solidFill>
                  <a:srgbClr val="1C1C1C"/>
                </a:solidFill>
                <a:highlight>
                  <a:srgbClr val="A4C2F4"/>
                </a:highlight>
                <a:latin typeface="Helvetica Neue Light"/>
                <a:ea typeface="Helvetica Neue Light"/>
                <a:cs typeface="Helvetica Neue Light"/>
                <a:sym typeface="Helvetica Neue Light"/>
              </a:rPr>
              <a:t>hey are used in chatbots, search engines, and writing assistants.</a:t>
            </a:r>
            <a:endParaRPr sz="1800">
              <a:solidFill>
                <a:srgbClr val="1C1C1C"/>
              </a:solidFill>
              <a:highlight>
                <a:srgbClr val="A4C2F4"/>
              </a:highlight>
              <a:latin typeface="Helvetica Neue Light"/>
              <a:ea typeface="Helvetica Neue Light"/>
              <a:cs typeface="Helvetica Neue Light"/>
              <a:sym typeface="Helvetica Neue Light"/>
            </a:endParaRPr>
          </a:p>
        </p:txBody>
      </p:sp>
      <p:sp>
        <p:nvSpPr>
          <p:cNvPr id="313" name="Google Shape;313;p34"/>
          <p:cNvSpPr txBox="1"/>
          <p:nvPr/>
        </p:nvSpPr>
        <p:spPr>
          <a:xfrm>
            <a:off x="4402050" y="1863225"/>
            <a:ext cx="3387900" cy="268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highlight>
                  <a:srgbClr val="FF9900"/>
                </a:highlight>
                <a:latin typeface="Helvetica Neue Light"/>
                <a:ea typeface="Helvetica Neue Light"/>
                <a:cs typeface="Helvetica Neue Light"/>
                <a:sym typeface="Helvetica Neue Light"/>
              </a:rPr>
              <a:t>Artificial intelligence is transforming many fields.</a:t>
            </a:r>
            <a:r>
              <a:rPr lang="en-US" sz="1800">
                <a:solidFill>
                  <a:srgbClr val="1C1C1C"/>
                </a:solidFill>
                <a:highlight>
                  <a:srgbClr val="B6D7A8"/>
                </a:highlight>
                <a:latin typeface="Helvetica Neue Light"/>
                <a:ea typeface="Helvetica Neue Light"/>
                <a:cs typeface="Helvetica Neue Light"/>
                <a:sym typeface="Helvetica Neue Light"/>
              </a:rPr>
              <a:t> It enables machines to learn from data and make decisions.</a:t>
            </a:r>
            <a:endParaRPr sz="1800">
              <a:solidFill>
                <a:srgbClr val="1C1C1C"/>
              </a:solidFill>
              <a:highlight>
                <a:srgbClr val="B6D7A8"/>
              </a:highlight>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highlight>
                <a:srgbClr val="B6D7A8"/>
              </a:highlight>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highlight>
                  <a:srgbClr val="A4C2F4"/>
                </a:highlight>
                <a:latin typeface="Helvetica Neue Light"/>
                <a:ea typeface="Helvetica Neue Light"/>
                <a:cs typeface="Helvetica Neue Light"/>
                <a:sym typeface="Helvetica Neue Light"/>
              </a:rPr>
              <a:t>In recent years, large language models have become particularly popular.</a:t>
            </a:r>
            <a:r>
              <a:rPr lang="en-US" sz="1800">
                <a:solidFill>
                  <a:srgbClr val="1C1C1C"/>
                </a:solidFill>
                <a:highlight>
                  <a:srgbClr val="EA9999"/>
                </a:highlight>
                <a:latin typeface="Helvetica Neue Light"/>
                <a:ea typeface="Helvetica Neue Light"/>
                <a:cs typeface="Helvetica Neue Light"/>
                <a:sym typeface="Helvetica Neue Light"/>
              </a:rPr>
              <a:t> They are used in chatbots, search engines, and writing assistants.</a:t>
            </a:r>
            <a:endParaRPr sz="1800">
              <a:solidFill>
                <a:srgbClr val="1C1C1C"/>
              </a:solidFill>
              <a:highlight>
                <a:srgbClr val="EA9999"/>
              </a:highlight>
              <a:latin typeface="Helvetica Neue Light"/>
              <a:ea typeface="Helvetica Neue Light"/>
              <a:cs typeface="Helvetica Neue Light"/>
              <a:sym typeface="Helvetica Neue Light"/>
            </a:endParaRPr>
          </a:p>
        </p:txBody>
      </p:sp>
      <p:sp>
        <p:nvSpPr>
          <p:cNvPr id="314" name="Google Shape;314;p34"/>
          <p:cNvSpPr txBox="1"/>
          <p:nvPr/>
        </p:nvSpPr>
        <p:spPr>
          <a:xfrm>
            <a:off x="8200875" y="1863225"/>
            <a:ext cx="3387900" cy="268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highlight>
                  <a:srgbClr val="FF9900"/>
                </a:highlight>
                <a:latin typeface="Helvetica Neue Light"/>
                <a:ea typeface="Helvetica Neue Light"/>
                <a:cs typeface="Helvetica Neue Light"/>
                <a:sym typeface="Helvetica Neue Light"/>
              </a:rPr>
              <a:t>Artificial intelligence is transforming many fields. It enables machines to learn from data and make decisions.</a:t>
            </a:r>
            <a:endParaRPr sz="1800">
              <a:solidFill>
                <a:srgbClr val="1C1C1C"/>
              </a:solidFill>
              <a:highlight>
                <a:srgbClr val="FF9900"/>
              </a:highlight>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highlight>
                <a:srgbClr val="B6D7A8"/>
              </a:highlight>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highlight>
                  <a:srgbClr val="B6D7A8"/>
                </a:highlight>
                <a:latin typeface="Helvetica Neue Light"/>
                <a:ea typeface="Helvetica Neue Light"/>
                <a:cs typeface="Helvetica Neue Light"/>
                <a:sym typeface="Helvetica Neue Light"/>
              </a:rPr>
              <a:t>In recent years, large language models have become particularly popular. They are used in chatbots, search engines, and writing assistants.</a:t>
            </a:r>
            <a:endParaRPr sz="1800">
              <a:solidFill>
                <a:srgbClr val="1C1C1C"/>
              </a:solidFill>
              <a:highlight>
                <a:srgbClr val="B6D7A8"/>
              </a:highlight>
              <a:latin typeface="Helvetica Neue Light"/>
              <a:ea typeface="Helvetica Neue Light"/>
              <a:cs typeface="Helvetica Neue Light"/>
              <a:sym typeface="Helvetica Neue Light"/>
            </a:endParaRPr>
          </a:p>
        </p:txBody>
      </p:sp>
      <p:sp>
        <p:nvSpPr>
          <p:cNvPr id="315" name="Google Shape;315;p34"/>
          <p:cNvSpPr txBox="1"/>
          <p:nvPr/>
        </p:nvSpPr>
        <p:spPr>
          <a:xfrm>
            <a:off x="593700" y="1186950"/>
            <a:ext cx="3120900" cy="53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Character-level chunking</a:t>
            </a:r>
            <a:endParaRPr sz="1800">
              <a:solidFill>
                <a:srgbClr val="1C1C1C"/>
              </a:solidFill>
              <a:latin typeface="Helvetica Neue Light"/>
              <a:ea typeface="Helvetica Neue Light"/>
              <a:cs typeface="Helvetica Neue Light"/>
              <a:sym typeface="Helvetica Neue Light"/>
            </a:endParaRPr>
          </a:p>
        </p:txBody>
      </p:sp>
      <p:sp>
        <p:nvSpPr>
          <p:cNvPr id="316" name="Google Shape;316;p34"/>
          <p:cNvSpPr txBox="1"/>
          <p:nvPr/>
        </p:nvSpPr>
        <p:spPr>
          <a:xfrm>
            <a:off x="4535550" y="1186950"/>
            <a:ext cx="3120900" cy="53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Sentence-level chunking</a:t>
            </a:r>
            <a:endParaRPr sz="1800">
              <a:solidFill>
                <a:srgbClr val="1C1C1C"/>
              </a:solidFill>
              <a:latin typeface="Helvetica Neue Light"/>
              <a:ea typeface="Helvetica Neue Light"/>
              <a:cs typeface="Helvetica Neue Light"/>
              <a:sym typeface="Helvetica Neue Light"/>
            </a:endParaRPr>
          </a:p>
        </p:txBody>
      </p:sp>
      <p:sp>
        <p:nvSpPr>
          <p:cNvPr id="317" name="Google Shape;317;p34"/>
          <p:cNvSpPr txBox="1"/>
          <p:nvPr/>
        </p:nvSpPr>
        <p:spPr>
          <a:xfrm>
            <a:off x="8334375" y="1186950"/>
            <a:ext cx="3120900" cy="53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Paragraph-level chunking</a:t>
            </a:r>
            <a:endParaRPr sz="1800">
              <a:solidFill>
                <a:srgbClr val="1C1C1C"/>
              </a:solidFill>
              <a:latin typeface="Helvetica Neue Light"/>
              <a:ea typeface="Helvetica Neue Light"/>
              <a:cs typeface="Helvetica Neue Light"/>
              <a:sym typeface="Helvetica Neue Light"/>
            </a:endParaRPr>
          </a:p>
        </p:txBody>
      </p:sp>
      <p:sp>
        <p:nvSpPr>
          <p:cNvPr id="318" name="Google Shape;318;p34"/>
          <p:cNvSpPr txBox="1"/>
          <p:nvPr/>
        </p:nvSpPr>
        <p:spPr>
          <a:xfrm>
            <a:off x="736725" y="5206500"/>
            <a:ext cx="3120900" cy="53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Breaks textual and lexical coherence.</a:t>
            </a:r>
            <a:endParaRPr sz="1800">
              <a:solidFill>
                <a:srgbClr val="1C1C1C"/>
              </a:solidFill>
              <a:latin typeface="Helvetica Neue Light"/>
              <a:ea typeface="Helvetica Neue Light"/>
              <a:cs typeface="Helvetica Neue Light"/>
              <a:sym typeface="Helvetica Neue Light"/>
            </a:endParaRPr>
          </a:p>
          <a:p>
            <a:pPr indent="0" lvl="0" marL="0" rtl="0" algn="ctr">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Does not handle coreferences</a:t>
            </a:r>
            <a:endParaRPr sz="1800">
              <a:solidFill>
                <a:srgbClr val="1C1C1C"/>
              </a:solidFill>
              <a:latin typeface="Helvetica Neue Light"/>
              <a:ea typeface="Helvetica Neue Light"/>
              <a:cs typeface="Helvetica Neue Light"/>
              <a:sym typeface="Helvetica Neue Light"/>
            </a:endParaRPr>
          </a:p>
        </p:txBody>
      </p:sp>
      <p:sp>
        <p:nvSpPr>
          <p:cNvPr id="319" name="Google Shape;319;p34"/>
          <p:cNvSpPr/>
          <p:nvPr/>
        </p:nvSpPr>
        <p:spPr>
          <a:xfrm>
            <a:off x="3181350" y="2181225"/>
            <a:ext cx="209700" cy="366300"/>
          </a:xfrm>
          <a:prstGeom prst="roundRect">
            <a:avLst>
              <a:gd fmla="val 16667" name="adj"/>
            </a:avLst>
          </a:prstGeom>
          <a:noFill/>
          <a:ln cap="flat" cmpd="sng" w="381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Light"/>
              <a:ea typeface="Helvetica Neue Light"/>
              <a:cs typeface="Helvetica Neue Light"/>
              <a:sym typeface="Helvetica Neue Light"/>
            </a:endParaRPr>
          </a:p>
        </p:txBody>
      </p:sp>
      <p:sp>
        <p:nvSpPr>
          <p:cNvPr id="320" name="Google Shape;320;p34"/>
          <p:cNvSpPr/>
          <p:nvPr/>
        </p:nvSpPr>
        <p:spPr>
          <a:xfrm>
            <a:off x="2647950" y="3848100"/>
            <a:ext cx="533400" cy="366300"/>
          </a:xfrm>
          <a:prstGeom prst="roundRect">
            <a:avLst>
              <a:gd fmla="val 16667" name="adj"/>
            </a:avLst>
          </a:prstGeom>
          <a:noFill/>
          <a:ln cap="flat" cmpd="sng" w="381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Light"/>
              <a:ea typeface="Helvetica Neue Light"/>
              <a:cs typeface="Helvetica Neue Light"/>
              <a:sym typeface="Helvetica Neue Light"/>
            </a:endParaRPr>
          </a:p>
        </p:txBody>
      </p:sp>
      <p:sp>
        <p:nvSpPr>
          <p:cNvPr id="321" name="Google Shape;321;p34"/>
          <p:cNvSpPr/>
          <p:nvPr/>
        </p:nvSpPr>
        <p:spPr>
          <a:xfrm>
            <a:off x="6962775" y="2181225"/>
            <a:ext cx="209700" cy="366300"/>
          </a:xfrm>
          <a:prstGeom prst="roundRect">
            <a:avLst>
              <a:gd fmla="val 16667" name="adj"/>
            </a:avLst>
          </a:prstGeom>
          <a:noFill/>
          <a:ln cap="flat" cmpd="sng" w="381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Light"/>
              <a:ea typeface="Helvetica Neue Light"/>
              <a:cs typeface="Helvetica Neue Light"/>
              <a:sym typeface="Helvetica Neue Light"/>
            </a:endParaRPr>
          </a:p>
        </p:txBody>
      </p:sp>
      <p:sp>
        <p:nvSpPr>
          <p:cNvPr id="322" name="Google Shape;322;p34"/>
          <p:cNvSpPr/>
          <p:nvPr/>
        </p:nvSpPr>
        <p:spPr>
          <a:xfrm>
            <a:off x="6429375" y="3848100"/>
            <a:ext cx="533400" cy="366300"/>
          </a:xfrm>
          <a:prstGeom prst="roundRect">
            <a:avLst>
              <a:gd fmla="val 16667" name="adj"/>
            </a:avLst>
          </a:prstGeom>
          <a:noFill/>
          <a:ln cap="flat" cmpd="sng" w="38100">
            <a:solidFill>
              <a:srgbClr val="1C1C1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Helvetica Neue Light"/>
              <a:ea typeface="Helvetica Neue Light"/>
              <a:cs typeface="Helvetica Neue Light"/>
              <a:sym typeface="Helvetica Neue Light"/>
            </a:endParaRPr>
          </a:p>
        </p:txBody>
      </p:sp>
      <p:sp>
        <p:nvSpPr>
          <p:cNvPr id="323" name="Google Shape;323;p34"/>
          <p:cNvSpPr txBox="1"/>
          <p:nvPr/>
        </p:nvSpPr>
        <p:spPr>
          <a:xfrm>
            <a:off x="4535550" y="5206500"/>
            <a:ext cx="3120900" cy="53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Does not handle coreferences</a:t>
            </a:r>
            <a:endParaRPr sz="1800">
              <a:solidFill>
                <a:srgbClr val="1C1C1C"/>
              </a:solidFill>
              <a:latin typeface="Helvetica Neue Light"/>
              <a:ea typeface="Helvetica Neue Light"/>
              <a:cs typeface="Helvetica Neue Light"/>
              <a:sym typeface="Helvetica Neue Light"/>
            </a:endParaRPr>
          </a:p>
        </p:txBody>
      </p:sp>
      <p:sp>
        <p:nvSpPr>
          <p:cNvPr id="324" name="Google Shape;324;p34"/>
          <p:cNvSpPr txBox="1"/>
          <p:nvPr/>
        </p:nvSpPr>
        <p:spPr>
          <a:xfrm>
            <a:off x="8259825" y="5206500"/>
            <a:ext cx="3120900" cy="535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Coreferences are better handled, but each chunk may contain more noisy context</a:t>
            </a:r>
            <a:endParaRPr sz="1800">
              <a:solidFill>
                <a:srgbClr val="1C1C1C"/>
              </a:solidFill>
              <a:latin typeface="Helvetica Neue Light"/>
              <a:ea typeface="Helvetica Neue Light"/>
              <a:cs typeface="Helvetica Neue Light"/>
              <a:sym typeface="Helvetica Neue Light"/>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5"/>
          <p:cNvSpPr txBox="1"/>
          <p:nvPr>
            <p:ph type="title"/>
          </p:nvPr>
        </p:nvSpPr>
        <p:spPr>
          <a:xfrm>
            <a:off x="406400" y="425800"/>
            <a:ext cx="11090400" cy="535500"/>
          </a:xfrm>
          <a:prstGeom prst="rect">
            <a:avLst/>
          </a:prstGeom>
          <a:noFill/>
          <a:ln>
            <a:noFill/>
          </a:ln>
        </p:spPr>
        <p:txBody>
          <a:bodyPr anchorCtr="0" anchor="b" bIns="45700" lIns="91425" spcFirstLastPara="1" rIns="91425" wrap="square" tIns="45700">
            <a:spAutoFit/>
          </a:bodyPr>
          <a:lstStyle/>
          <a:p>
            <a:pPr indent="0" lvl="0" marL="0" rtl="0" algn="l">
              <a:spcBef>
                <a:spcPts val="0"/>
              </a:spcBef>
              <a:spcAft>
                <a:spcPts val="0"/>
              </a:spcAft>
              <a:buSzPts val="1400"/>
              <a:buNone/>
            </a:pPr>
            <a:r>
              <a:rPr lang="en-US" sz="3200">
                <a:latin typeface="Calibri"/>
                <a:ea typeface="Calibri"/>
                <a:cs typeface="Calibri"/>
                <a:sym typeface="Calibri"/>
              </a:rPr>
              <a:t>Choosing the right chunk granularity - Propositions</a:t>
            </a:r>
            <a:endParaRPr sz="3200">
              <a:latin typeface="Calibri"/>
              <a:ea typeface="Calibri"/>
              <a:cs typeface="Calibri"/>
              <a:sym typeface="Calibri"/>
            </a:endParaRPr>
          </a:p>
        </p:txBody>
      </p:sp>
      <p:sp>
        <p:nvSpPr>
          <p:cNvPr id="331" name="Google Shape;331;p35"/>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pic>
        <p:nvPicPr>
          <p:cNvPr id="332" name="Google Shape;332;p35"/>
          <p:cNvPicPr preferRelativeResize="0"/>
          <p:nvPr/>
        </p:nvPicPr>
        <p:blipFill>
          <a:blip r:embed="rId3">
            <a:alphaModFix/>
          </a:blip>
          <a:stretch>
            <a:fillRect/>
          </a:stretch>
        </p:blipFill>
        <p:spPr>
          <a:xfrm>
            <a:off x="6712825" y="1285150"/>
            <a:ext cx="4888750" cy="4772750"/>
          </a:xfrm>
          <a:prstGeom prst="rect">
            <a:avLst/>
          </a:prstGeom>
          <a:noFill/>
          <a:ln>
            <a:noFill/>
          </a:ln>
        </p:spPr>
      </p:pic>
      <p:sp>
        <p:nvSpPr>
          <p:cNvPr id="333" name="Google Shape;333;p35"/>
          <p:cNvSpPr txBox="1"/>
          <p:nvPr/>
        </p:nvSpPr>
        <p:spPr>
          <a:xfrm>
            <a:off x="593700" y="1310775"/>
            <a:ext cx="5550000" cy="46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In previous approaches, it is very easy to break </a:t>
            </a:r>
            <a:r>
              <a:rPr b="1" lang="en-US" sz="1800">
                <a:solidFill>
                  <a:srgbClr val="1C1C1C"/>
                </a:solidFill>
                <a:latin typeface="Helvetica Neue"/>
                <a:ea typeface="Helvetica Neue"/>
                <a:cs typeface="Helvetica Neue"/>
                <a:sym typeface="Helvetica Neue"/>
              </a:rPr>
              <a:t>coreference links</a:t>
            </a:r>
            <a:r>
              <a:rPr lang="en-US" sz="1800">
                <a:solidFill>
                  <a:srgbClr val="1C1C1C"/>
                </a:solidFill>
                <a:latin typeface="Helvetica Neue Light"/>
                <a:ea typeface="Helvetica Neue Light"/>
                <a:cs typeface="Helvetica Neue Light"/>
                <a:sym typeface="Helvetica Neue Light"/>
              </a:rPr>
              <a:t>, making the resulting chunks less clear.</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At the same time, using larger chunks may </a:t>
            </a:r>
            <a:r>
              <a:rPr b="1" lang="en-US" sz="1800">
                <a:solidFill>
                  <a:srgbClr val="1C1C1C"/>
                </a:solidFill>
                <a:latin typeface="Helvetica Neue"/>
                <a:ea typeface="Helvetica Neue"/>
                <a:cs typeface="Helvetica Neue"/>
                <a:sym typeface="Helvetica Neue"/>
              </a:rPr>
              <a:t>introduce</a:t>
            </a:r>
            <a:r>
              <a:rPr lang="en-US" sz="1800">
                <a:solidFill>
                  <a:srgbClr val="1C1C1C"/>
                </a:solidFill>
                <a:latin typeface="Helvetica Neue Light"/>
                <a:ea typeface="Helvetica Neue Light"/>
                <a:cs typeface="Helvetica Neue Light"/>
                <a:sym typeface="Helvetica Neue Light"/>
              </a:rPr>
              <a:t> </a:t>
            </a:r>
            <a:r>
              <a:rPr b="1" lang="en-US" sz="1800">
                <a:solidFill>
                  <a:srgbClr val="1C1C1C"/>
                </a:solidFill>
                <a:latin typeface="Helvetica Neue"/>
                <a:ea typeface="Helvetica Neue"/>
                <a:cs typeface="Helvetica Neue"/>
                <a:sym typeface="Helvetica Neue"/>
              </a:rPr>
              <a:t>noise</a:t>
            </a:r>
            <a:r>
              <a:rPr lang="en-US" sz="1800">
                <a:solidFill>
                  <a:srgbClr val="1C1C1C"/>
                </a:solidFill>
                <a:latin typeface="Helvetica Neue Light"/>
                <a:ea typeface="Helvetica Neue Light"/>
                <a:cs typeface="Helvetica Neue Light"/>
                <a:sym typeface="Helvetica Neue Light"/>
              </a:rPr>
              <a:t> inside the resulting embeddings.</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Solution: transform the text into a set of </a:t>
            </a:r>
            <a:r>
              <a:rPr b="1" lang="en-US" sz="1800">
                <a:solidFill>
                  <a:srgbClr val="1C1C1C"/>
                </a:solidFill>
                <a:latin typeface="Helvetica Neue"/>
                <a:ea typeface="Helvetica Neue"/>
                <a:cs typeface="Helvetica Neue"/>
                <a:sym typeface="Helvetica Neue"/>
              </a:rPr>
              <a:t>propositions</a:t>
            </a:r>
            <a:r>
              <a:rPr lang="en-US" sz="1800">
                <a:solidFill>
                  <a:srgbClr val="1C1C1C"/>
                </a:solidFill>
                <a:latin typeface="Helvetica Neue Light"/>
                <a:ea typeface="Helvetica Neue Light"/>
                <a:cs typeface="Helvetica Neue Light"/>
                <a:sym typeface="Helvetica Neue Light"/>
              </a:rPr>
              <a:t>, i.e. sentences composed by one independent clause containing exclusively (</a:t>
            </a:r>
            <a:r>
              <a:rPr i="1" lang="en-US" sz="1800">
                <a:solidFill>
                  <a:srgbClr val="1C1C1C"/>
                </a:solidFill>
                <a:latin typeface="Helvetica Neue Light"/>
                <a:ea typeface="Helvetica Neue Light"/>
                <a:cs typeface="Helvetica Neue Light"/>
                <a:sym typeface="Helvetica Neue Light"/>
              </a:rPr>
              <a:t>subject</a:t>
            </a:r>
            <a:r>
              <a:rPr lang="en-US" sz="1800">
                <a:solidFill>
                  <a:srgbClr val="1C1C1C"/>
                </a:solidFill>
                <a:latin typeface="Helvetica Neue Light"/>
                <a:ea typeface="Helvetica Neue Light"/>
                <a:cs typeface="Helvetica Neue Light"/>
                <a:sym typeface="Helvetica Neue Light"/>
              </a:rPr>
              <a:t>, </a:t>
            </a:r>
            <a:r>
              <a:rPr i="1" lang="en-US" sz="1800">
                <a:solidFill>
                  <a:srgbClr val="1C1C1C"/>
                </a:solidFill>
                <a:latin typeface="Helvetica Neue Light"/>
                <a:ea typeface="Helvetica Neue Light"/>
                <a:cs typeface="Helvetica Neue Light"/>
                <a:sym typeface="Helvetica Neue Light"/>
              </a:rPr>
              <a:t>predicate</a:t>
            </a:r>
            <a:r>
              <a:rPr lang="en-US" sz="1800">
                <a:solidFill>
                  <a:srgbClr val="1C1C1C"/>
                </a:solidFill>
                <a:latin typeface="Helvetica Neue Light"/>
                <a:ea typeface="Helvetica Neue Light"/>
                <a:cs typeface="Helvetica Neue Light"/>
                <a:sym typeface="Helvetica Neue Light"/>
              </a:rPr>
              <a:t>, </a:t>
            </a:r>
            <a:r>
              <a:rPr i="1" lang="en-US" sz="1800">
                <a:solidFill>
                  <a:srgbClr val="1C1C1C"/>
                </a:solidFill>
                <a:latin typeface="Helvetica Neue Light"/>
                <a:ea typeface="Helvetica Neue Light"/>
                <a:cs typeface="Helvetica Neue Light"/>
                <a:sym typeface="Helvetica Neue Light"/>
              </a:rPr>
              <a:t>object</a:t>
            </a:r>
            <a:r>
              <a:rPr lang="en-US" sz="1800">
                <a:solidFill>
                  <a:srgbClr val="1C1C1C"/>
                </a:solidFill>
                <a:latin typeface="Helvetica Neue Light"/>
                <a:ea typeface="Helvetica Neue Light"/>
                <a:cs typeface="Helvetica Neue Light"/>
                <a:sym typeface="Helvetica Neue Light"/>
              </a:rPr>
              <a:t>) + prepositional phrases:</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by either asking an LLM to extract the propositions (may hallucinate)</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or by performing coreference resolution first (with a neural dependency parser), followed by splitting the compound sentences (with the same dependency parser)</a:t>
            </a:r>
            <a:endParaRPr sz="1800">
              <a:solidFill>
                <a:srgbClr val="1C1C1C"/>
              </a:solidFill>
              <a:latin typeface="Helvetica Neue Light"/>
              <a:ea typeface="Helvetica Neue Light"/>
              <a:cs typeface="Helvetica Neue Light"/>
              <a:sym typeface="Helvetica Neue 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36"/>
          <p:cNvSpPr txBox="1"/>
          <p:nvPr>
            <p:ph type="title"/>
          </p:nvPr>
        </p:nvSpPr>
        <p:spPr>
          <a:xfrm>
            <a:off x="406400" y="425800"/>
            <a:ext cx="11090400" cy="535500"/>
          </a:xfrm>
          <a:prstGeom prst="rect">
            <a:avLst/>
          </a:prstGeom>
          <a:noFill/>
          <a:ln>
            <a:noFill/>
          </a:ln>
        </p:spPr>
        <p:txBody>
          <a:bodyPr anchorCtr="0" anchor="b" bIns="45700" lIns="91425" spcFirstLastPara="1" rIns="91425" wrap="square" tIns="45700">
            <a:spAutoFit/>
          </a:bodyPr>
          <a:lstStyle/>
          <a:p>
            <a:pPr indent="0" lvl="0" marL="0" rtl="0" algn="l">
              <a:spcBef>
                <a:spcPts val="0"/>
              </a:spcBef>
              <a:spcAft>
                <a:spcPts val="0"/>
              </a:spcAft>
              <a:buSzPts val="1400"/>
              <a:buNone/>
            </a:pPr>
            <a:r>
              <a:rPr lang="en-US" sz="3200">
                <a:latin typeface="Calibri"/>
                <a:ea typeface="Calibri"/>
                <a:cs typeface="Calibri"/>
                <a:sym typeface="Calibri"/>
              </a:rPr>
              <a:t>Choosing the right chunk granularity - Propositions</a:t>
            </a:r>
            <a:endParaRPr sz="3200">
              <a:latin typeface="Calibri"/>
              <a:ea typeface="Calibri"/>
              <a:cs typeface="Calibri"/>
              <a:sym typeface="Calibri"/>
            </a:endParaRPr>
          </a:p>
        </p:txBody>
      </p:sp>
      <p:sp>
        <p:nvSpPr>
          <p:cNvPr id="340" name="Google Shape;340;p36"/>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341" name="Google Shape;341;p36"/>
          <p:cNvSpPr txBox="1"/>
          <p:nvPr/>
        </p:nvSpPr>
        <p:spPr>
          <a:xfrm>
            <a:off x="593700" y="1310775"/>
            <a:ext cx="10884000" cy="46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Indexing and retrieving small chunks may provide to subsequent steps too few information</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Char char="●"/>
            </a:pPr>
            <a:r>
              <a:rPr b="1" lang="en-US" sz="1800">
                <a:solidFill>
                  <a:srgbClr val="1C1C1C"/>
                </a:solidFill>
                <a:latin typeface="Helvetica Neue"/>
                <a:ea typeface="Helvetica Neue"/>
                <a:cs typeface="Helvetica Neue"/>
                <a:sym typeface="Helvetica Neue"/>
              </a:rPr>
              <a:t>small chunks</a:t>
            </a:r>
            <a:r>
              <a:rPr lang="en-US" sz="1800">
                <a:solidFill>
                  <a:srgbClr val="1C1C1C"/>
                </a:solidFill>
                <a:latin typeface="Helvetica Neue Light"/>
                <a:ea typeface="Helvetica Neue Light"/>
                <a:cs typeface="Helvetica Neue Light"/>
                <a:sym typeface="Helvetica Neue Light"/>
              </a:rPr>
              <a:t> are generally </a:t>
            </a:r>
            <a:r>
              <a:rPr b="1" lang="en-US" sz="1800">
                <a:solidFill>
                  <a:srgbClr val="1C1C1C"/>
                </a:solidFill>
                <a:latin typeface="Helvetica Neue"/>
                <a:ea typeface="Helvetica Neue"/>
                <a:cs typeface="Helvetica Neue"/>
                <a:sym typeface="Helvetica Neue"/>
              </a:rPr>
              <a:t>good for retrieval</a:t>
            </a:r>
            <a:endParaRPr b="1" sz="1800">
              <a:solidFill>
                <a:srgbClr val="1C1C1C"/>
              </a:solidFill>
              <a:latin typeface="Helvetica Neue"/>
              <a:ea typeface="Helvetica Neue"/>
              <a:cs typeface="Helvetica Neue"/>
              <a:sym typeface="Helvetica Neue"/>
            </a:endParaRPr>
          </a:p>
          <a:p>
            <a:pPr indent="-342900" lvl="0" marL="457200" rtl="0" algn="l">
              <a:spcBef>
                <a:spcPts val="0"/>
              </a:spcBef>
              <a:spcAft>
                <a:spcPts val="0"/>
              </a:spcAft>
              <a:buClr>
                <a:srgbClr val="1C1C1C"/>
              </a:buClr>
              <a:buSzPts val="1800"/>
              <a:buFont typeface="Helvetica Neue Light"/>
              <a:buChar char="●"/>
            </a:pPr>
            <a:r>
              <a:rPr lang="en-US" sz="1800">
                <a:solidFill>
                  <a:srgbClr val="1C1C1C"/>
                </a:solidFill>
                <a:latin typeface="Helvetica Neue Light"/>
                <a:ea typeface="Helvetica Neue Light"/>
                <a:cs typeface="Helvetica Neue Light"/>
                <a:sym typeface="Helvetica Neue Light"/>
              </a:rPr>
              <a:t>however in some cases, e.g. in RAG applications, we may still need to provide </a:t>
            </a:r>
            <a:r>
              <a:rPr b="1" lang="en-US" sz="1800">
                <a:solidFill>
                  <a:srgbClr val="1C1C1C"/>
                </a:solidFill>
                <a:latin typeface="Helvetica Neue"/>
                <a:ea typeface="Helvetica Neue"/>
                <a:cs typeface="Helvetica Neue"/>
                <a:sym typeface="Helvetica Neue"/>
              </a:rPr>
              <a:t>to the final LLM call</a:t>
            </a:r>
            <a:r>
              <a:rPr lang="en-US" sz="1800">
                <a:solidFill>
                  <a:srgbClr val="1C1C1C"/>
                </a:solidFill>
                <a:latin typeface="Helvetica Neue Light"/>
                <a:ea typeface="Helvetica Neue Light"/>
                <a:cs typeface="Helvetica Neue Light"/>
                <a:sym typeface="Helvetica Neue Light"/>
              </a:rPr>
              <a:t> the </a:t>
            </a:r>
            <a:r>
              <a:rPr b="1" lang="en-US" sz="1800">
                <a:solidFill>
                  <a:srgbClr val="1C1C1C"/>
                </a:solidFill>
                <a:latin typeface="Helvetica Neue"/>
                <a:ea typeface="Helvetica Neue"/>
                <a:cs typeface="Helvetica Neue"/>
                <a:sym typeface="Helvetica Neue"/>
              </a:rPr>
              <a:t>whole document</a:t>
            </a:r>
            <a:r>
              <a:rPr lang="en-US" sz="1800">
                <a:solidFill>
                  <a:srgbClr val="1C1C1C"/>
                </a:solidFill>
                <a:latin typeface="Helvetica Neue Light"/>
                <a:ea typeface="Helvetica Neue Light"/>
                <a:cs typeface="Helvetica Neue Light"/>
                <a:sym typeface="Helvetica Neue Light"/>
              </a:rPr>
              <a:t> (or, in general, big paragraphs), and not just a sentence/proposition</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In this case:</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We save the whole document’s text inside our database (or, if we need large paragraphs, we split the document in paragraphs, and save each paragraph in the database)</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We then chunk the document (or each paragraph) using a chunking strategy (e.g. sentence or proposition chunking), but we also save the link between small chunk -&gt; document (paragraph)</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During inference:</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retrieval &amp; reranking is performed using small chunks</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from the retrieved small chunks, we can obtain back the document (paragraph) we need, so that we can use more textual context for subsequent tasks</a:t>
            </a:r>
            <a:endParaRPr sz="1800">
              <a:solidFill>
                <a:srgbClr val="1C1C1C"/>
              </a:solidFill>
              <a:latin typeface="Helvetica Neue Light"/>
              <a:ea typeface="Helvetica Neue Light"/>
              <a:cs typeface="Helvetica Neue Light"/>
              <a:sym typeface="Helvetica Neue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7"/>
          <p:cNvSpPr txBox="1"/>
          <p:nvPr>
            <p:ph type="title"/>
          </p:nvPr>
        </p:nvSpPr>
        <p:spPr>
          <a:xfrm>
            <a:off x="406400" y="425800"/>
            <a:ext cx="9452100" cy="535500"/>
          </a:xfrm>
          <a:prstGeom prst="rect">
            <a:avLst/>
          </a:prstGeom>
          <a:noFill/>
          <a:ln>
            <a:noFill/>
          </a:ln>
        </p:spPr>
        <p:txBody>
          <a:bodyPr anchorCtr="0" anchor="b" bIns="45700" lIns="91425" spcFirstLastPara="1" rIns="91425" wrap="square" tIns="45700">
            <a:spAutoFit/>
          </a:bodyPr>
          <a:lstStyle/>
          <a:p>
            <a:pPr indent="0" lvl="0" marL="0" rtl="0" algn="l">
              <a:spcBef>
                <a:spcPts val="0"/>
              </a:spcBef>
              <a:spcAft>
                <a:spcPts val="0"/>
              </a:spcAft>
              <a:buSzPts val="1400"/>
              <a:buNone/>
            </a:pPr>
            <a:r>
              <a:rPr lang="en-US" sz="3200">
                <a:latin typeface="Calibri"/>
                <a:ea typeface="Calibri"/>
                <a:cs typeface="Calibri"/>
                <a:sym typeface="Calibri"/>
              </a:rPr>
              <a:t>Choosing the right chunk granularity - Propositions</a:t>
            </a:r>
            <a:endParaRPr sz="3200">
              <a:latin typeface="Calibri"/>
              <a:ea typeface="Calibri"/>
              <a:cs typeface="Calibri"/>
              <a:sym typeface="Calibri"/>
            </a:endParaRPr>
          </a:p>
        </p:txBody>
      </p:sp>
      <p:sp>
        <p:nvSpPr>
          <p:cNvPr id="348" name="Google Shape;348;p37"/>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pic>
        <p:nvPicPr>
          <p:cNvPr id="349" name="Google Shape;349;p37"/>
          <p:cNvPicPr preferRelativeResize="0"/>
          <p:nvPr/>
        </p:nvPicPr>
        <p:blipFill>
          <a:blip r:embed="rId3">
            <a:alphaModFix/>
          </a:blip>
          <a:stretch>
            <a:fillRect/>
          </a:stretch>
        </p:blipFill>
        <p:spPr>
          <a:xfrm>
            <a:off x="824501" y="1075600"/>
            <a:ext cx="10542997" cy="551638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38"/>
          <p:cNvSpPr txBox="1"/>
          <p:nvPr>
            <p:ph type="title"/>
          </p:nvPr>
        </p:nvSpPr>
        <p:spPr>
          <a:xfrm>
            <a:off x="406400" y="425800"/>
            <a:ext cx="11090400" cy="535500"/>
          </a:xfrm>
          <a:prstGeom prst="rect">
            <a:avLst/>
          </a:prstGeom>
          <a:noFill/>
          <a:ln>
            <a:noFill/>
          </a:ln>
        </p:spPr>
        <p:txBody>
          <a:bodyPr anchorCtr="0" anchor="b" bIns="45700" lIns="91425" spcFirstLastPara="1" rIns="91425" wrap="square" tIns="45700">
            <a:spAutoFit/>
          </a:bodyPr>
          <a:lstStyle/>
          <a:p>
            <a:pPr indent="0" lvl="0" marL="0" rtl="0" algn="l">
              <a:spcBef>
                <a:spcPts val="0"/>
              </a:spcBef>
              <a:spcAft>
                <a:spcPts val="0"/>
              </a:spcAft>
              <a:buSzPts val="1400"/>
              <a:buNone/>
            </a:pPr>
            <a:r>
              <a:rPr lang="en-US" sz="3200">
                <a:latin typeface="Calibri"/>
                <a:ea typeface="Calibri"/>
                <a:cs typeface="Calibri"/>
                <a:sym typeface="Calibri"/>
              </a:rPr>
              <a:t>Choosing the right chunk granularity - Propositions</a:t>
            </a:r>
            <a:endParaRPr sz="3200">
              <a:latin typeface="Calibri"/>
              <a:ea typeface="Calibri"/>
              <a:cs typeface="Calibri"/>
              <a:sym typeface="Calibri"/>
            </a:endParaRPr>
          </a:p>
        </p:txBody>
      </p:sp>
      <p:sp>
        <p:nvSpPr>
          <p:cNvPr id="356" name="Google Shape;356;p38"/>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357" name="Google Shape;357;p38"/>
          <p:cNvSpPr txBox="1"/>
          <p:nvPr/>
        </p:nvSpPr>
        <p:spPr>
          <a:xfrm>
            <a:off x="593700" y="1310775"/>
            <a:ext cx="10884000" cy="46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In general:</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Char char="●"/>
            </a:pPr>
            <a:r>
              <a:rPr lang="en-US" sz="1800">
                <a:solidFill>
                  <a:srgbClr val="1C1C1C"/>
                </a:solidFill>
                <a:latin typeface="Helvetica Neue Light"/>
                <a:ea typeface="Helvetica Neue Light"/>
                <a:cs typeface="Helvetica Neue Light"/>
                <a:sym typeface="Helvetica Neue Light"/>
              </a:rPr>
              <a:t>small chunks</a:t>
            </a:r>
            <a:endParaRPr sz="1800">
              <a:solidFill>
                <a:srgbClr val="1C1C1C"/>
              </a:solidFill>
              <a:latin typeface="Helvetica Neue Light"/>
              <a:ea typeface="Helvetica Neue Light"/>
              <a:cs typeface="Helvetica Neue Light"/>
              <a:sym typeface="Helvetica Neue Light"/>
            </a:endParaRPr>
          </a:p>
          <a:p>
            <a:pPr indent="-342900" lvl="1" marL="914400" rtl="0" algn="l">
              <a:spcBef>
                <a:spcPts val="0"/>
              </a:spcBef>
              <a:spcAft>
                <a:spcPts val="0"/>
              </a:spcAft>
              <a:buClr>
                <a:srgbClr val="1C1C1C"/>
              </a:buClr>
              <a:buSzPts val="1800"/>
              <a:buFont typeface="Helvetica Neue Light"/>
              <a:buChar char="○"/>
            </a:pPr>
            <a:r>
              <a:rPr lang="en-US" sz="1800">
                <a:solidFill>
                  <a:srgbClr val="1C1C1C"/>
                </a:solidFill>
                <a:latin typeface="Helvetica Neue Light"/>
                <a:ea typeface="Helvetica Neue Light"/>
                <a:cs typeface="Helvetica Neue Light"/>
                <a:sym typeface="Helvetica Neue Light"/>
              </a:rPr>
              <a:t>retrieval performance improves as the embedding is less noisy</a:t>
            </a:r>
            <a:endParaRPr sz="1800">
              <a:solidFill>
                <a:srgbClr val="1C1C1C"/>
              </a:solidFill>
              <a:latin typeface="Helvetica Neue Light"/>
              <a:ea typeface="Helvetica Neue Light"/>
              <a:cs typeface="Helvetica Neue Light"/>
              <a:sym typeface="Helvetica Neue Light"/>
            </a:endParaRPr>
          </a:p>
          <a:p>
            <a:pPr indent="-342900" lvl="1" marL="914400" rtl="0" algn="l">
              <a:spcBef>
                <a:spcPts val="0"/>
              </a:spcBef>
              <a:spcAft>
                <a:spcPts val="0"/>
              </a:spcAft>
              <a:buClr>
                <a:srgbClr val="1C1C1C"/>
              </a:buClr>
              <a:buSzPts val="1800"/>
              <a:buFont typeface="Helvetica Neue Light"/>
              <a:buChar char="○"/>
            </a:pPr>
            <a:r>
              <a:rPr lang="en-US" sz="1800">
                <a:solidFill>
                  <a:srgbClr val="1C1C1C"/>
                </a:solidFill>
                <a:latin typeface="Helvetica Neue Light"/>
                <a:ea typeface="Helvetica Neue Light"/>
                <a:cs typeface="Helvetica Neue Light"/>
                <a:sym typeface="Helvetica Neue Light"/>
              </a:rPr>
              <a:t>increased memory usage -&gt; we store more embeddings</a:t>
            </a:r>
            <a:endParaRPr sz="1800">
              <a:solidFill>
                <a:srgbClr val="1C1C1C"/>
              </a:solidFill>
              <a:latin typeface="Helvetica Neue Light"/>
              <a:ea typeface="Helvetica Neue Light"/>
              <a:cs typeface="Helvetica Neue Light"/>
              <a:sym typeface="Helvetica Neue Light"/>
            </a:endParaRPr>
          </a:p>
          <a:p>
            <a:pPr indent="-342900" lvl="1" marL="914400" rtl="0" algn="l">
              <a:spcBef>
                <a:spcPts val="0"/>
              </a:spcBef>
              <a:spcAft>
                <a:spcPts val="0"/>
              </a:spcAft>
              <a:buClr>
                <a:srgbClr val="1C1C1C"/>
              </a:buClr>
              <a:buSzPts val="1800"/>
              <a:buFont typeface="Helvetica Neue Light"/>
              <a:buChar char="○"/>
            </a:pPr>
            <a:r>
              <a:rPr lang="en-US" sz="1800">
                <a:solidFill>
                  <a:srgbClr val="1C1C1C"/>
                </a:solidFill>
                <a:latin typeface="Helvetica Neue Light"/>
                <a:ea typeface="Helvetica Neue Light"/>
                <a:cs typeface="Helvetica Neue Light"/>
                <a:sym typeface="Helvetica Neue Light"/>
              </a:rPr>
              <a:t>may break coreference links and decrease performance if not handled correctly</a:t>
            </a:r>
            <a:endParaRPr sz="1800">
              <a:solidFill>
                <a:srgbClr val="1C1C1C"/>
              </a:solidFill>
              <a:latin typeface="Helvetica Neue Light"/>
              <a:ea typeface="Helvetica Neue Light"/>
              <a:cs typeface="Helvetica Neue Light"/>
              <a:sym typeface="Helvetica Neue Light"/>
            </a:endParaRPr>
          </a:p>
          <a:p>
            <a:pPr indent="-342900" lvl="1" marL="914400" rtl="0" algn="l">
              <a:spcBef>
                <a:spcPts val="0"/>
              </a:spcBef>
              <a:spcAft>
                <a:spcPts val="0"/>
              </a:spcAft>
              <a:buClr>
                <a:srgbClr val="1C1C1C"/>
              </a:buClr>
              <a:buSzPts val="1800"/>
              <a:buFont typeface="Helvetica Neue Light"/>
              <a:buChar char="○"/>
            </a:pPr>
            <a:r>
              <a:rPr lang="en-US" sz="1800">
                <a:solidFill>
                  <a:srgbClr val="1C1C1C"/>
                </a:solidFill>
                <a:latin typeface="Helvetica Neue Light"/>
                <a:ea typeface="Helvetica Neue Light"/>
                <a:cs typeface="Helvetica Neue Light"/>
                <a:sym typeface="Helvetica Neue Light"/>
              </a:rPr>
              <a:t>propositions are the shortest “coherent” sentences, and greatly improve performance</a:t>
            </a:r>
            <a:endParaRPr sz="1800">
              <a:solidFill>
                <a:srgbClr val="1C1C1C"/>
              </a:solidFill>
              <a:latin typeface="Helvetica Neue Light"/>
              <a:ea typeface="Helvetica Neue Light"/>
              <a:cs typeface="Helvetica Neue Light"/>
              <a:sym typeface="Helvetica Neue Light"/>
            </a:endParaRPr>
          </a:p>
          <a:p>
            <a:pPr indent="0" lvl="0" marL="91440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Char char="●"/>
            </a:pPr>
            <a:r>
              <a:rPr lang="en-US" sz="1800">
                <a:solidFill>
                  <a:srgbClr val="1C1C1C"/>
                </a:solidFill>
                <a:latin typeface="Helvetica Neue Light"/>
                <a:ea typeface="Helvetica Neue Light"/>
                <a:cs typeface="Helvetica Neue Light"/>
                <a:sym typeface="Helvetica Neue Light"/>
              </a:rPr>
              <a:t>larger chunks</a:t>
            </a:r>
            <a:endParaRPr sz="1800">
              <a:solidFill>
                <a:srgbClr val="1C1C1C"/>
              </a:solidFill>
              <a:latin typeface="Helvetica Neue Light"/>
              <a:ea typeface="Helvetica Neue Light"/>
              <a:cs typeface="Helvetica Neue Light"/>
              <a:sym typeface="Helvetica Neue Light"/>
            </a:endParaRPr>
          </a:p>
          <a:p>
            <a:pPr indent="-342900" lvl="1" marL="914400" rtl="0" algn="l">
              <a:spcBef>
                <a:spcPts val="0"/>
              </a:spcBef>
              <a:spcAft>
                <a:spcPts val="0"/>
              </a:spcAft>
              <a:buClr>
                <a:srgbClr val="1C1C1C"/>
              </a:buClr>
              <a:buSzPts val="1800"/>
              <a:buFont typeface="Helvetica Neue Light"/>
              <a:buChar char="○"/>
            </a:pPr>
            <a:r>
              <a:rPr lang="en-US" sz="1800">
                <a:solidFill>
                  <a:srgbClr val="1C1C1C"/>
                </a:solidFill>
                <a:latin typeface="Helvetica Neue Light"/>
                <a:ea typeface="Helvetica Neue Light"/>
                <a:cs typeface="Helvetica Neue Light"/>
                <a:sym typeface="Helvetica Neue Light"/>
              </a:rPr>
              <a:t>opposite of small chunks</a:t>
            </a:r>
            <a:endParaRPr sz="1800">
              <a:solidFill>
                <a:srgbClr val="1C1C1C"/>
              </a:solidFill>
              <a:latin typeface="Helvetica Neue Light"/>
              <a:ea typeface="Helvetica Neue Light"/>
              <a:cs typeface="Helvetica Neue Light"/>
              <a:sym typeface="Helvetica Neue 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9"/>
          <p:cNvSpPr txBox="1"/>
          <p:nvPr>
            <p:ph type="title"/>
          </p:nvPr>
        </p:nvSpPr>
        <p:spPr>
          <a:xfrm>
            <a:off x="406400" y="425800"/>
            <a:ext cx="11090400" cy="535500"/>
          </a:xfrm>
          <a:prstGeom prst="rect">
            <a:avLst/>
          </a:prstGeom>
          <a:noFill/>
          <a:ln>
            <a:noFill/>
          </a:ln>
        </p:spPr>
        <p:txBody>
          <a:bodyPr anchorCtr="0" anchor="b" bIns="45700" lIns="91425" spcFirstLastPara="1" rIns="91425" wrap="square" tIns="45700">
            <a:spAutoFit/>
          </a:bodyPr>
          <a:lstStyle/>
          <a:p>
            <a:pPr indent="0" lvl="0" marL="0" rtl="0" algn="l">
              <a:spcBef>
                <a:spcPts val="0"/>
              </a:spcBef>
              <a:spcAft>
                <a:spcPts val="0"/>
              </a:spcAft>
              <a:buSzPts val="1400"/>
              <a:buNone/>
            </a:pPr>
            <a:r>
              <a:rPr lang="en-US" sz="3200">
                <a:latin typeface="Calibri"/>
                <a:ea typeface="Calibri"/>
                <a:cs typeface="Calibri"/>
                <a:sym typeface="Calibri"/>
              </a:rPr>
              <a:t>Choosing the right chunk granularity - doc2query</a:t>
            </a:r>
            <a:endParaRPr sz="3200">
              <a:latin typeface="Calibri"/>
              <a:ea typeface="Calibri"/>
              <a:cs typeface="Calibri"/>
              <a:sym typeface="Calibri"/>
            </a:endParaRPr>
          </a:p>
        </p:txBody>
      </p:sp>
      <p:sp>
        <p:nvSpPr>
          <p:cNvPr id="364" name="Google Shape;364;p39"/>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365" name="Google Shape;365;p39"/>
          <p:cNvSpPr txBox="1"/>
          <p:nvPr/>
        </p:nvSpPr>
        <p:spPr>
          <a:xfrm>
            <a:off x="593700" y="1310775"/>
            <a:ext cx="10884000" cy="46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One technique to improve the retrieval effectiveness of a search engine is to expand the chunks (or create new chunks) with terms that are related or representative of the chunks’ content</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Char char="●"/>
            </a:pPr>
            <a:r>
              <a:rPr lang="en-US" sz="1800">
                <a:solidFill>
                  <a:srgbClr val="1C1C1C"/>
                </a:solidFill>
                <a:latin typeface="Helvetica Neue Light"/>
                <a:ea typeface="Helvetica Neue Light"/>
                <a:cs typeface="Helvetica Neue Light"/>
                <a:sym typeface="Helvetica Neue Light"/>
              </a:rPr>
              <a:t>from the perspective of a question answering system, this might comprise questions the document can potentially answer</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Char char="●"/>
            </a:pPr>
            <a:r>
              <a:rPr lang="en-US" sz="1800">
                <a:solidFill>
                  <a:srgbClr val="1C1C1C"/>
                </a:solidFill>
                <a:latin typeface="Helvetica Neue Light"/>
                <a:ea typeface="Helvetica Neue Light"/>
                <a:cs typeface="Helvetica Neue Light"/>
                <a:sym typeface="Helvetica Neue Light"/>
              </a:rPr>
              <a:t>consider that a RAG system is often queried with questions</a:t>
            </a:r>
            <a:endParaRPr sz="1800">
              <a:solidFill>
                <a:srgbClr val="1C1C1C"/>
              </a:solidFill>
              <a:latin typeface="Helvetica Neue Light"/>
              <a:ea typeface="Helvetica Neue Light"/>
              <a:cs typeface="Helvetica Neue Light"/>
              <a:sym typeface="Helvetica Neue Light"/>
            </a:endParaRPr>
          </a:p>
          <a:p>
            <a:pPr indent="-342900" lvl="1" marL="914400" rtl="0" algn="l">
              <a:spcBef>
                <a:spcPts val="0"/>
              </a:spcBef>
              <a:spcAft>
                <a:spcPts val="0"/>
              </a:spcAft>
              <a:buClr>
                <a:srgbClr val="1C1C1C"/>
              </a:buClr>
              <a:buSzPts val="1800"/>
              <a:buFont typeface="Helvetica Neue Light"/>
              <a:buChar char="○"/>
            </a:pPr>
            <a:r>
              <a:rPr lang="en-US" sz="1800">
                <a:solidFill>
                  <a:srgbClr val="1C1C1C"/>
                </a:solidFill>
                <a:latin typeface="Helvetica Neue Light"/>
                <a:ea typeface="Helvetica Neue Light"/>
                <a:cs typeface="Helvetica Neue Light"/>
                <a:sym typeface="Helvetica Neue Light"/>
              </a:rPr>
              <a:t>then, by indexing in our RAG system the questions that each chunk can answer, there should potentially be a larger lexical / grammatical / semantic overlap between the query and the chunks (in question form)</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Solution: use a sequence-to-sequence model or LLM to generate the questions from each textual chunk, and either (i) concatenate the question to the textual chunk before indexing in the database, or (ii) directly treat the generated questions as novel retrieval units (chunks)</a:t>
            </a:r>
            <a:endParaRPr sz="1800">
              <a:solidFill>
                <a:srgbClr val="1C1C1C"/>
              </a:solidFill>
              <a:latin typeface="Helvetica Neue Light"/>
              <a:ea typeface="Helvetica Neue Light"/>
              <a:cs typeface="Helvetica Neue Light"/>
              <a:sym typeface="Helvetica Neue 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40"/>
          <p:cNvSpPr txBox="1"/>
          <p:nvPr>
            <p:ph type="title"/>
          </p:nvPr>
        </p:nvSpPr>
        <p:spPr>
          <a:xfrm>
            <a:off x="406400" y="425800"/>
            <a:ext cx="11090400" cy="535500"/>
          </a:xfrm>
          <a:prstGeom prst="rect">
            <a:avLst/>
          </a:prstGeom>
          <a:noFill/>
          <a:ln>
            <a:noFill/>
          </a:ln>
        </p:spPr>
        <p:txBody>
          <a:bodyPr anchorCtr="0" anchor="b" bIns="45700" lIns="91425" spcFirstLastPara="1" rIns="91425" wrap="square" tIns="45700">
            <a:spAutoFit/>
          </a:bodyPr>
          <a:lstStyle/>
          <a:p>
            <a:pPr indent="0" lvl="0" marL="0" rtl="0" algn="l">
              <a:spcBef>
                <a:spcPts val="0"/>
              </a:spcBef>
              <a:spcAft>
                <a:spcPts val="0"/>
              </a:spcAft>
              <a:buSzPts val="1400"/>
              <a:buNone/>
            </a:pPr>
            <a:r>
              <a:rPr lang="en-US" sz="3200">
                <a:latin typeface="Calibri"/>
                <a:ea typeface="Calibri"/>
                <a:cs typeface="Calibri"/>
                <a:sym typeface="Calibri"/>
              </a:rPr>
              <a:t>Choosing the right chunk granularity - doc2query</a:t>
            </a:r>
            <a:endParaRPr sz="3200">
              <a:latin typeface="Calibri"/>
              <a:ea typeface="Calibri"/>
              <a:cs typeface="Calibri"/>
              <a:sym typeface="Calibri"/>
            </a:endParaRPr>
          </a:p>
        </p:txBody>
      </p:sp>
      <p:sp>
        <p:nvSpPr>
          <p:cNvPr id="372" name="Google Shape;372;p40"/>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pic>
        <p:nvPicPr>
          <p:cNvPr id="373" name="Google Shape;373;p40"/>
          <p:cNvPicPr preferRelativeResize="0"/>
          <p:nvPr/>
        </p:nvPicPr>
        <p:blipFill>
          <a:blip r:embed="rId3">
            <a:alphaModFix/>
          </a:blip>
          <a:stretch>
            <a:fillRect/>
          </a:stretch>
        </p:blipFill>
        <p:spPr>
          <a:xfrm>
            <a:off x="3083438" y="1084175"/>
            <a:ext cx="6025132" cy="55919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41"/>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Finding the optimal retrieval implementation</a:t>
            </a:r>
            <a:endParaRPr sz="3200">
              <a:latin typeface="Calibri"/>
              <a:ea typeface="Calibri"/>
              <a:cs typeface="Calibri"/>
              <a:sym typeface="Calibri"/>
            </a:endParaRPr>
          </a:p>
        </p:txBody>
      </p:sp>
      <p:sp>
        <p:nvSpPr>
          <p:cNvPr id="380" name="Google Shape;380;p41"/>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381" name="Google Shape;381;p41"/>
          <p:cNvSpPr txBox="1"/>
          <p:nvPr/>
        </p:nvSpPr>
        <p:spPr>
          <a:xfrm>
            <a:off x="593700" y="1310775"/>
            <a:ext cx="10884000" cy="46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Retriever pipelines can be substantially tuned to provide higher quality results via</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888888"/>
              </a:buClr>
              <a:buSzPts val="1800"/>
              <a:buFont typeface="Helvetica Neue Light"/>
              <a:buAutoNum type="arabicPeriod"/>
            </a:pPr>
            <a:r>
              <a:rPr lang="en-US" sz="1800">
                <a:solidFill>
                  <a:srgbClr val="888888"/>
                </a:solidFill>
                <a:latin typeface="Helvetica Neue Light"/>
                <a:ea typeface="Helvetica Neue Light"/>
                <a:cs typeface="Helvetica Neue Light"/>
                <a:sym typeface="Helvetica Neue Light"/>
              </a:rPr>
              <a:t>Choosing the right chunk granularity</a:t>
            </a:r>
            <a:endParaRPr sz="1800">
              <a:solidFill>
                <a:srgbClr val="888888"/>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a:buAutoNum type="arabicPeriod"/>
            </a:pPr>
            <a:r>
              <a:rPr b="1" lang="en-US" sz="1800">
                <a:solidFill>
                  <a:srgbClr val="1C1C1C"/>
                </a:solidFill>
                <a:latin typeface="Helvetica Neue"/>
                <a:ea typeface="Helvetica Neue"/>
                <a:cs typeface="Helvetica Neue"/>
                <a:sym typeface="Helvetica Neue"/>
              </a:rPr>
              <a:t>Query Classification</a:t>
            </a:r>
            <a:endParaRPr b="1" sz="1800">
              <a:solidFill>
                <a:srgbClr val="1C1C1C"/>
              </a:solidFill>
              <a:latin typeface="Helvetica Neue"/>
              <a:ea typeface="Helvetica Neue"/>
              <a:cs typeface="Helvetica Neue"/>
              <a:sym typeface="Helvetica Neue"/>
            </a:endParaRPr>
          </a:p>
          <a:p>
            <a:pPr indent="-342900" lvl="0" marL="457200" rtl="0" algn="l">
              <a:spcBef>
                <a:spcPts val="0"/>
              </a:spcBef>
              <a:spcAft>
                <a:spcPts val="0"/>
              </a:spcAft>
              <a:buClr>
                <a:srgbClr val="888888"/>
              </a:buClr>
              <a:buSzPts val="1800"/>
              <a:buFont typeface="Helvetica Neue Light"/>
              <a:buAutoNum type="arabicPeriod"/>
            </a:pPr>
            <a:r>
              <a:rPr lang="en-US" sz="1800">
                <a:solidFill>
                  <a:srgbClr val="888888"/>
                </a:solidFill>
                <a:latin typeface="Helvetica Neue Light"/>
                <a:ea typeface="Helvetica Neue Light"/>
                <a:cs typeface="Helvetica Neue Light"/>
                <a:sym typeface="Helvetica Neue Light"/>
              </a:rPr>
              <a:t>Query Transformations</a:t>
            </a:r>
            <a:endParaRPr sz="1800">
              <a:solidFill>
                <a:srgbClr val="888888"/>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888888"/>
              </a:buClr>
              <a:buSzPts val="1800"/>
              <a:buFont typeface="Helvetica Neue Light"/>
              <a:buAutoNum type="arabicPeriod"/>
            </a:pPr>
            <a:r>
              <a:rPr lang="en-US" sz="1800">
                <a:solidFill>
                  <a:srgbClr val="888888"/>
                </a:solidFill>
                <a:latin typeface="Helvetica Neue Light"/>
                <a:ea typeface="Helvetica Neue Light"/>
                <a:cs typeface="Helvetica Neue Light"/>
                <a:sym typeface="Helvetica Neue Light"/>
              </a:rPr>
              <a:t>Document Repacking</a:t>
            </a:r>
            <a:endParaRPr sz="1800">
              <a:solidFill>
                <a:srgbClr val="888888"/>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888888"/>
              </a:buClr>
              <a:buSzPts val="1800"/>
              <a:buFont typeface="Helvetica Neue Light"/>
              <a:buAutoNum type="arabicPeriod"/>
            </a:pPr>
            <a:r>
              <a:rPr lang="en-US" sz="1800">
                <a:solidFill>
                  <a:srgbClr val="888888"/>
                </a:solidFill>
                <a:latin typeface="Helvetica Neue Light"/>
                <a:ea typeface="Helvetica Neue Light"/>
                <a:cs typeface="Helvetica Neue Light"/>
                <a:sym typeface="Helvetica Neue Light"/>
              </a:rPr>
              <a:t>Document Summarization</a:t>
            </a:r>
            <a:endParaRPr sz="1800">
              <a:solidFill>
                <a:srgbClr val="888888"/>
              </a:solidFill>
              <a:latin typeface="Helvetica Neue Light"/>
              <a:ea typeface="Helvetica Neue Light"/>
              <a:cs typeface="Helvetica Neue Light"/>
              <a:sym typeface="Helvetica Neue Light"/>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42"/>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Query Classification</a:t>
            </a:r>
            <a:endParaRPr sz="3200">
              <a:latin typeface="Calibri"/>
              <a:ea typeface="Calibri"/>
              <a:cs typeface="Calibri"/>
              <a:sym typeface="Calibri"/>
            </a:endParaRPr>
          </a:p>
        </p:txBody>
      </p:sp>
      <p:sp>
        <p:nvSpPr>
          <p:cNvPr id="388" name="Google Shape;388;p42"/>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389" name="Google Shape;389;p42"/>
          <p:cNvSpPr txBox="1"/>
          <p:nvPr/>
        </p:nvSpPr>
        <p:spPr>
          <a:xfrm>
            <a:off x="593700" y="1310775"/>
            <a:ext cx="10884000" cy="46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Not all queries require to be retrieval-augmented due to the inherent capabilities of LLMs</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Char char="●"/>
            </a:pPr>
            <a:r>
              <a:rPr lang="en-US" sz="1800">
                <a:solidFill>
                  <a:srgbClr val="1C1C1C"/>
                </a:solidFill>
                <a:latin typeface="Helvetica Neue Light"/>
                <a:ea typeface="Helvetica Neue Light"/>
                <a:cs typeface="Helvetica Neue Light"/>
                <a:sym typeface="Helvetica Neue Light"/>
              </a:rPr>
              <a:t>while RAG can enhance information accuracy and reduce hallucinations, frequent retrieval costs longer response time</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Char char="●"/>
            </a:pPr>
            <a:r>
              <a:rPr lang="en-US" sz="1800">
                <a:solidFill>
                  <a:srgbClr val="1C1C1C"/>
                </a:solidFill>
                <a:latin typeface="Helvetica Neue Light"/>
                <a:ea typeface="Helvetica Neue Light"/>
                <a:cs typeface="Helvetica Neue Light"/>
                <a:sym typeface="Helvetica Neue Light"/>
              </a:rPr>
              <a:t>some interactions with RAG systems are simple follow-ups of previous interactions in which documents were retrieved -&gt; no need to search again</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Char char="●"/>
            </a:pPr>
            <a:r>
              <a:rPr lang="en-US" sz="1800">
                <a:solidFill>
                  <a:srgbClr val="1C1C1C"/>
                </a:solidFill>
                <a:latin typeface="Helvetica Neue Light"/>
                <a:ea typeface="Helvetica Neue Light"/>
                <a:cs typeface="Helvetica Neue Light"/>
                <a:sym typeface="Helvetica Neue Light"/>
              </a:rPr>
              <a:t>some queries are already well-known by the LLM’s internal weights, and using external retrieved context may just confuse the model</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Solution: use the LLM to classify whether the available </a:t>
            </a:r>
            <a:r>
              <a:rPr lang="en-US" sz="1800">
                <a:solidFill>
                  <a:srgbClr val="1C1C1C"/>
                </a:solidFill>
                <a:latin typeface="Helvetica Neue Light"/>
                <a:ea typeface="Helvetica Neue Light"/>
                <a:cs typeface="Helvetica Neue Light"/>
                <a:sym typeface="Helvetica Neue Light"/>
              </a:rPr>
              <a:t>knowledge</a:t>
            </a:r>
            <a:r>
              <a:rPr lang="en-US" sz="1800">
                <a:solidFill>
                  <a:srgbClr val="1C1C1C"/>
                </a:solidFill>
                <a:latin typeface="Helvetica Neue Light"/>
                <a:ea typeface="Helvetica Neue Light"/>
                <a:cs typeface="Helvetica Neue Light"/>
                <a:sym typeface="Helvetica Neue Light"/>
              </a:rPr>
              <a:t> is already </a:t>
            </a:r>
            <a:r>
              <a:rPr b="1" lang="en-US" sz="1800">
                <a:solidFill>
                  <a:srgbClr val="1C1C1C"/>
                </a:solidFill>
                <a:latin typeface="Helvetica Neue"/>
                <a:ea typeface="Helvetica Neue"/>
                <a:cs typeface="Helvetica Neue"/>
                <a:sym typeface="Helvetica Neue"/>
              </a:rPr>
              <a:t>“sufficient”</a:t>
            </a:r>
            <a:r>
              <a:rPr lang="en-US" sz="1800">
                <a:solidFill>
                  <a:srgbClr val="1C1C1C"/>
                </a:solidFill>
                <a:latin typeface="Helvetica Neue Light"/>
                <a:ea typeface="Helvetica Neue Light"/>
                <a:cs typeface="Helvetica Neue Light"/>
                <a:sym typeface="Helvetica Neue Light"/>
              </a:rPr>
              <a:t>, which need not retrieval, or </a:t>
            </a:r>
            <a:r>
              <a:rPr b="1" lang="en-US" sz="1800">
                <a:solidFill>
                  <a:srgbClr val="1C1C1C"/>
                </a:solidFill>
                <a:latin typeface="Helvetica Neue"/>
                <a:ea typeface="Helvetica Neue"/>
                <a:cs typeface="Helvetica Neue"/>
                <a:sym typeface="Helvetica Neue"/>
              </a:rPr>
              <a:t>“insufficient”</a:t>
            </a:r>
            <a:r>
              <a:rPr lang="en-US" sz="1800">
                <a:solidFill>
                  <a:srgbClr val="1C1C1C"/>
                </a:solidFill>
                <a:latin typeface="Helvetica Neue Light"/>
                <a:ea typeface="Helvetica Neue Light"/>
                <a:cs typeface="Helvetica Neue Light"/>
                <a:sym typeface="Helvetica Neue Light"/>
              </a:rPr>
              <a:t>, where retrieval is necessary</a:t>
            </a:r>
            <a:endParaRPr sz="1800">
              <a:solidFill>
                <a:srgbClr val="1C1C1C"/>
              </a:solidFill>
              <a:latin typeface="Helvetica Neue Light"/>
              <a:ea typeface="Helvetica Neue Light"/>
              <a:cs typeface="Helvetica Neue Light"/>
              <a:sym typeface="Helvetica Neue Ligh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43"/>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Finding the optimal retrieval implementation</a:t>
            </a:r>
            <a:endParaRPr sz="3200">
              <a:latin typeface="Calibri"/>
              <a:ea typeface="Calibri"/>
              <a:cs typeface="Calibri"/>
              <a:sym typeface="Calibri"/>
            </a:endParaRPr>
          </a:p>
        </p:txBody>
      </p:sp>
      <p:sp>
        <p:nvSpPr>
          <p:cNvPr id="396" name="Google Shape;396;p43"/>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397" name="Google Shape;397;p43"/>
          <p:cNvSpPr txBox="1"/>
          <p:nvPr/>
        </p:nvSpPr>
        <p:spPr>
          <a:xfrm>
            <a:off x="593700" y="1310775"/>
            <a:ext cx="10884000" cy="46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Retriever pipelines can be substantially tuned to provide higher quality results via</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888888"/>
              </a:buClr>
              <a:buSzPts val="1800"/>
              <a:buFont typeface="Helvetica Neue Light"/>
              <a:buAutoNum type="arabicPeriod"/>
            </a:pPr>
            <a:r>
              <a:rPr lang="en-US" sz="1800">
                <a:solidFill>
                  <a:srgbClr val="888888"/>
                </a:solidFill>
                <a:latin typeface="Helvetica Neue Light"/>
                <a:ea typeface="Helvetica Neue Light"/>
                <a:cs typeface="Helvetica Neue Light"/>
                <a:sym typeface="Helvetica Neue Light"/>
              </a:rPr>
              <a:t>Choosing the right chunk granularity</a:t>
            </a:r>
            <a:endParaRPr sz="1800">
              <a:solidFill>
                <a:srgbClr val="888888"/>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888888"/>
              </a:buClr>
              <a:buSzPts val="1800"/>
              <a:buFont typeface="Helvetica Neue Light"/>
              <a:buAutoNum type="arabicPeriod"/>
            </a:pPr>
            <a:r>
              <a:rPr lang="en-US" sz="1800">
                <a:solidFill>
                  <a:srgbClr val="888888"/>
                </a:solidFill>
                <a:latin typeface="Helvetica Neue Light"/>
                <a:ea typeface="Helvetica Neue Light"/>
                <a:cs typeface="Helvetica Neue Light"/>
                <a:sym typeface="Helvetica Neue Light"/>
              </a:rPr>
              <a:t>Query Classification</a:t>
            </a:r>
            <a:endParaRPr sz="1800">
              <a:solidFill>
                <a:srgbClr val="888888"/>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a:buAutoNum type="arabicPeriod"/>
            </a:pPr>
            <a:r>
              <a:rPr b="1" lang="en-US" sz="1800">
                <a:solidFill>
                  <a:srgbClr val="1C1C1C"/>
                </a:solidFill>
                <a:latin typeface="Helvetica Neue"/>
                <a:ea typeface="Helvetica Neue"/>
                <a:cs typeface="Helvetica Neue"/>
                <a:sym typeface="Helvetica Neue"/>
              </a:rPr>
              <a:t>Query Transformations</a:t>
            </a:r>
            <a:endParaRPr sz="1800">
              <a:solidFill>
                <a:srgbClr val="888888"/>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888888"/>
              </a:buClr>
              <a:buSzPts val="1800"/>
              <a:buFont typeface="Helvetica Neue Light"/>
              <a:buAutoNum type="arabicPeriod"/>
            </a:pPr>
            <a:r>
              <a:rPr lang="en-US" sz="1800">
                <a:solidFill>
                  <a:srgbClr val="888888"/>
                </a:solidFill>
                <a:latin typeface="Helvetica Neue Light"/>
                <a:ea typeface="Helvetica Neue Light"/>
                <a:cs typeface="Helvetica Neue Light"/>
                <a:sym typeface="Helvetica Neue Light"/>
              </a:rPr>
              <a:t>Document Repacking</a:t>
            </a:r>
            <a:endParaRPr sz="1800">
              <a:solidFill>
                <a:srgbClr val="888888"/>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888888"/>
              </a:buClr>
              <a:buSzPts val="1800"/>
              <a:buFont typeface="Helvetica Neue Light"/>
              <a:buAutoNum type="arabicPeriod"/>
            </a:pPr>
            <a:r>
              <a:rPr lang="en-US" sz="1800">
                <a:solidFill>
                  <a:srgbClr val="888888"/>
                </a:solidFill>
                <a:latin typeface="Helvetica Neue Light"/>
                <a:ea typeface="Helvetica Neue Light"/>
                <a:cs typeface="Helvetica Neue Light"/>
                <a:sym typeface="Helvetica Neue Light"/>
              </a:rPr>
              <a:t>Document Summarization</a:t>
            </a:r>
            <a:endParaRPr sz="1800">
              <a:solidFill>
                <a:srgbClr val="888888"/>
              </a:solidFill>
              <a:latin typeface="Helvetica Neue Light"/>
              <a:ea typeface="Helvetica Neue Light"/>
              <a:cs typeface="Helvetica Neue Light"/>
              <a:sym typeface="Helvetica Neue Ligh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44"/>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Query Transformations - Query Rewriting</a:t>
            </a:r>
            <a:endParaRPr sz="3200">
              <a:latin typeface="Calibri"/>
              <a:ea typeface="Calibri"/>
              <a:cs typeface="Calibri"/>
              <a:sym typeface="Calibri"/>
            </a:endParaRPr>
          </a:p>
        </p:txBody>
      </p:sp>
      <p:sp>
        <p:nvSpPr>
          <p:cNvPr id="404" name="Google Shape;404;p44"/>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405" name="Google Shape;405;p44"/>
          <p:cNvSpPr txBox="1"/>
          <p:nvPr/>
        </p:nvSpPr>
        <p:spPr>
          <a:xfrm>
            <a:off x="593700" y="1310775"/>
            <a:ext cx="10884000" cy="46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Retrievers perform better when the queries explicitly indicate, in a short manner, what are the information needs</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Char char="●"/>
            </a:pPr>
            <a:r>
              <a:rPr lang="en-US" sz="1800">
                <a:solidFill>
                  <a:srgbClr val="1C1C1C"/>
                </a:solidFill>
                <a:latin typeface="Helvetica Neue Light"/>
                <a:ea typeface="Helvetica Neue Light"/>
                <a:cs typeface="Helvetica Neue Light"/>
                <a:sym typeface="Helvetica Neue Light"/>
              </a:rPr>
              <a:t>queries may be composed of multiple “hops”, where multiple operations must be performed to obtain the answer</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Char char="●"/>
            </a:pPr>
            <a:r>
              <a:rPr lang="en-US" sz="1800">
                <a:solidFill>
                  <a:srgbClr val="1C1C1C"/>
                </a:solidFill>
                <a:latin typeface="Helvetica Neue Light"/>
                <a:ea typeface="Helvetica Neue Light"/>
                <a:cs typeface="Helvetica Neue Light"/>
                <a:sym typeface="Helvetica Neue Light"/>
              </a:rPr>
              <a:t>lengthy / multi-hop queries may be too noisy to be correctly understood by retrievers</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Solution: train a “query rewriter” (or use an existing LLM) to (i) decompose the question into multiple subquestions; (ii) turn each subquestion into information needs (iii) run each rewritten query, retrieve the documents and aggregate them</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Char char="●"/>
            </a:pPr>
            <a:r>
              <a:rPr lang="en-US" sz="1800">
                <a:solidFill>
                  <a:srgbClr val="1C1C1C"/>
                </a:solidFill>
                <a:latin typeface="Helvetica Neue Light"/>
                <a:ea typeface="Helvetica Neue Light"/>
                <a:cs typeface="Helvetica Neue Light"/>
                <a:sym typeface="Helvetica Neue Light"/>
              </a:rPr>
              <a:t>for example, instead of the query “</a:t>
            </a:r>
            <a:r>
              <a:rPr i="1" lang="en-US" sz="1800">
                <a:solidFill>
                  <a:srgbClr val="1C1C1C"/>
                </a:solidFill>
                <a:latin typeface="Helvetica Neue Light"/>
                <a:ea typeface="Helvetica Neue Light"/>
                <a:cs typeface="Helvetica Neue Light"/>
                <a:sym typeface="Helvetica Neue Light"/>
              </a:rPr>
              <a:t>What profession does Nicholas Ray and Elia Kazan have in common?</a:t>
            </a:r>
            <a:r>
              <a:rPr lang="en-US" sz="1800">
                <a:solidFill>
                  <a:srgbClr val="1C1C1C"/>
                </a:solidFill>
                <a:latin typeface="Helvetica Neue Light"/>
                <a:ea typeface="Helvetica Neue Light"/>
                <a:cs typeface="Helvetica Neue Light"/>
                <a:sym typeface="Helvetica Neue Light"/>
              </a:rPr>
              <a:t>”, better information needs could be “</a:t>
            </a:r>
            <a:r>
              <a:rPr i="1" lang="en-US" sz="1800">
                <a:solidFill>
                  <a:srgbClr val="1C1C1C"/>
                </a:solidFill>
                <a:latin typeface="Helvetica Neue Light"/>
                <a:ea typeface="Helvetica Neue Light"/>
                <a:cs typeface="Helvetica Neue Light"/>
                <a:sym typeface="Helvetica Neue Light"/>
              </a:rPr>
              <a:t>Nicholas Ray profession</a:t>
            </a:r>
            <a:r>
              <a:rPr lang="en-US" sz="1800">
                <a:solidFill>
                  <a:srgbClr val="1C1C1C"/>
                </a:solidFill>
                <a:latin typeface="Helvetica Neue Light"/>
                <a:ea typeface="Helvetica Neue Light"/>
                <a:cs typeface="Helvetica Neue Light"/>
                <a:sym typeface="Helvetica Neue Light"/>
              </a:rPr>
              <a:t>” and “</a:t>
            </a:r>
            <a:r>
              <a:rPr i="1" lang="en-US" sz="1800">
                <a:solidFill>
                  <a:srgbClr val="1C1C1C"/>
                </a:solidFill>
                <a:latin typeface="Helvetica Neue Light"/>
                <a:ea typeface="Helvetica Neue Light"/>
                <a:cs typeface="Helvetica Neue Light"/>
                <a:sym typeface="Helvetica Neue Light"/>
              </a:rPr>
              <a:t>Elia Kazan profession</a:t>
            </a:r>
            <a:r>
              <a:rPr lang="en-US" sz="1800">
                <a:solidFill>
                  <a:srgbClr val="1C1C1C"/>
                </a:solidFill>
                <a:latin typeface="Helvetica Neue Light"/>
                <a:ea typeface="Helvetica Neue Light"/>
                <a:cs typeface="Helvetica Neue Light"/>
                <a:sym typeface="Helvetica Neue Light"/>
              </a:rPr>
              <a:t>”</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45"/>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Query Transformations - Query Rewriting</a:t>
            </a:r>
            <a:endParaRPr sz="3200">
              <a:latin typeface="Calibri"/>
              <a:ea typeface="Calibri"/>
              <a:cs typeface="Calibri"/>
              <a:sym typeface="Calibri"/>
            </a:endParaRPr>
          </a:p>
        </p:txBody>
      </p:sp>
      <p:sp>
        <p:nvSpPr>
          <p:cNvPr id="412" name="Google Shape;412;p45"/>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pic>
        <p:nvPicPr>
          <p:cNvPr id="413" name="Google Shape;413;p45"/>
          <p:cNvPicPr preferRelativeResize="0"/>
          <p:nvPr/>
        </p:nvPicPr>
        <p:blipFill>
          <a:blip r:embed="rId3">
            <a:alphaModFix/>
          </a:blip>
          <a:stretch>
            <a:fillRect/>
          </a:stretch>
        </p:blipFill>
        <p:spPr>
          <a:xfrm>
            <a:off x="1067975" y="1084175"/>
            <a:ext cx="9688208" cy="5225601"/>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46"/>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Finding the optimal retrieval implementation</a:t>
            </a:r>
            <a:endParaRPr sz="3200">
              <a:latin typeface="Calibri"/>
              <a:ea typeface="Calibri"/>
              <a:cs typeface="Calibri"/>
              <a:sym typeface="Calibri"/>
            </a:endParaRPr>
          </a:p>
        </p:txBody>
      </p:sp>
      <p:sp>
        <p:nvSpPr>
          <p:cNvPr id="420" name="Google Shape;420;p46"/>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421" name="Google Shape;421;p46"/>
          <p:cNvSpPr txBox="1"/>
          <p:nvPr/>
        </p:nvSpPr>
        <p:spPr>
          <a:xfrm>
            <a:off x="593700" y="1310775"/>
            <a:ext cx="10884000" cy="46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Retriever pipelines can be substantially tuned to provide higher quality results via</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888888"/>
              </a:buClr>
              <a:buSzPts val="1800"/>
              <a:buFont typeface="Helvetica Neue Light"/>
              <a:buAutoNum type="arabicPeriod"/>
            </a:pPr>
            <a:r>
              <a:rPr lang="en-US" sz="1800">
                <a:solidFill>
                  <a:srgbClr val="888888"/>
                </a:solidFill>
                <a:latin typeface="Helvetica Neue Light"/>
                <a:ea typeface="Helvetica Neue Light"/>
                <a:cs typeface="Helvetica Neue Light"/>
                <a:sym typeface="Helvetica Neue Light"/>
              </a:rPr>
              <a:t>Choosing the right chunk granularity</a:t>
            </a:r>
            <a:endParaRPr sz="1800">
              <a:solidFill>
                <a:srgbClr val="888888"/>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888888"/>
              </a:buClr>
              <a:buSzPts val="1800"/>
              <a:buFont typeface="Helvetica Neue Light"/>
              <a:buAutoNum type="arabicPeriod"/>
            </a:pPr>
            <a:r>
              <a:rPr lang="en-US" sz="1800">
                <a:solidFill>
                  <a:srgbClr val="888888"/>
                </a:solidFill>
                <a:latin typeface="Helvetica Neue Light"/>
                <a:ea typeface="Helvetica Neue Light"/>
                <a:cs typeface="Helvetica Neue Light"/>
                <a:sym typeface="Helvetica Neue Light"/>
              </a:rPr>
              <a:t>Query Classification</a:t>
            </a:r>
            <a:endParaRPr sz="1800">
              <a:solidFill>
                <a:srgbClr val="888888"/>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888888"/>
              </a:buClr>
              <a:buSzPts val="1800"/>
              <a:buFont typeface="Helvetica Neue Light"/>
              <a:buAutoNum type="arabicPeriod"/>
            </a:pPr>
            <a:r>
              <a:rPr lang="en-US" sz="1800">
                <a:solidFill>
                  <a:srgbClr val="888888"/>
                </a:solidFill>
                <a:latin typeface="Helvetica Neue Light"/>
                <a:ea typeface="Helvetica Neue Light"/>
                <a:cs typeface="Helvetica Neue Light"/>
                <a:sym typeface="Helvetica Neue Light"/>
              </a:rPr>
              <a:t>Query Transformations</a:t>
            </a:r>
            <a:endParaRPr sz="1800">
              <a:solidFill>
                <a:srgbClr val="888888"/>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a:buAutoNum type="arabicPeriod"/>
            </a:pPr>
            <a:r>
              <a:rPr b="1" lang="en-US" sz="1800">
                <a:solidFill>
                  <a:srgbClr val="1C1C1C"/>
                </a:solidFill>
                <a:latin typeface="Helvetica Neue"/>
                <a:ea typeface="Helvetica Neue"/>
                <a:cs typeface="Helvetica Neue"/>
                <a:sym typeface="Helvetica Neue"/>
              </a:rPr>
              <a:t>Document Repacking</a:t>
            </a:r>
            <a:endParaRPr b="1" sz="1800">
              <a:solidFill>
                <a:srgbClr val="1C1C1C"/>
              </a:solidFill>
              <a:latin typeface="Helvetica Neue"/>
              <a:ea typeface="Helvetica Neue"/>
              <a:cs typeface="Helvetica Neue"/>
              <a:sym typeface="Helvetica Neue"/>
            </a:endParaRPr>
          </a:p>
          <a:p>
            <a:pPr indent="-342900" lvl="0" marL="457200" rtl="0" algn="l">
              <a:spcBef>
                <a:spcPts val="0"/>
              </a:spcBef>
              <a:spcAft>
                <a:spcPts val="0"/>
              </a:spcAft>
              <a:buClr>
                <a:srgbClr val="888888"/>
              </a:buClr>
              <a:buSzPts val="1800"/>
              <a:buFont typeface="Helvetica Neue Light"/>
              <a:buAutoNum type="arabicPeriod"/>
            </a:pPr>
            <a:r>
              <a:rPr lang="en-US" sz="1800">
                <a:solidFill>
                  <a:srgbClr val="888888"/>
                </a:solidFill>
                <a:latin typeface="Helvetica Neue Light"/>
                <a:ea typeface="Helvetica Neue Light"/>
                <a:cs typeface="Helvetica Neue Light"/>
                <a:sym typeface="Helvetica Neue Light"/>
              </a:rPr>
              <a:t>Document Summarization</a:t>
            </a:r>
            <a:endParaRPr sz="1800">
              <a:solidFill>
                <a:srgbClr val="888888"/>
              </a:solidFill>
              <a:latin typeface="Helvetica Neue Light"/>
              <a:ea typeface="Helvetica Neue Light"/>
              <a:cs typeface="Helvetica Neue Light"/>
              <a:sym typeface="Helvetica Neue Ligh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p47"/>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Document Repacking</a:t>
            </a:r>
            <a:endParaRPr sz="3200">
              <a:latin typeface="Calibri"/>
              <a:ea typeface="Calibri"/>
              <a:cs typeface="Calibri"/>
              <a:sym typeface="Calibri"/>
            </a:endParaRPr>
          </a:p>
        </p:txBody>
      </p:sp>
      <p:sp>
        <p:nvSpPr>
          <p:cNvPr id="428" name="Google Shape;428;p47"/>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429" name="Google Shape;429;p47"/>
          <p:cNvSpPr txBox="1"/>
          <p:nvPr/>
        </p:nvSpPr>
        <p:spPr>
          <a:xfrm>
            <a:off x="593700" y="1310775"/>
            <a:ext cx="5959500" cy="46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The performance of subsequent processes, such as LLM response generation, may be affected by the order documents are provided</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Char char="●"/>
            </a:pPr>
            <a:r>
              <a:rPr lang="en-US" sz="1800">
                <a:solidFill>
                  <a:srgbClr val="1C1C1C"/>
                </a:solidFill>
                <a:latin typeface="Helvetica Neue Light"/>
                <a:ea typeface="Helvetica Neue Light"/>
                <a:cs typeface="Helvetica Neue Light"/>
                <a:sym typeface="Helvetica Neue Light"/>
              </a:rPr>
              <a:t>LLM performance varies depending on the position of the correct data inside its context, usually following a V shape pattern</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There are three strategies based on how you position the documents:</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AutoNum type="arabicPeriod"/>
            </a:pPr>
            <a:r>
              <a:rPr lang="en-US" sz="1800">
                <a:solidFill>
                  <a:srgbClr val="1C1C1C"/>
                </a:solidFill>
                <a:latin typeface="Helvetica Neue Light"/>
                <a:ea typeface="Helvetica Neue Light"/>
                <a:cs typeface="Helvetica Neue Light"/>
                <a:sym typeface="Helvetica Neue Light"/>
              </a:rPr>
              <a:t>the </a:t>
            </a:r>
            <a:r>
              <a:rPr b="1" lang="en-US" sz="1800">
                <a:solidFill>
                  <a:srgbClr val="1C1C1C"/>
                </a:solidFill>
                <a:latin typeface="Helvetica Neue"/>
                <a:ea typeface="Helvetica Neue"/>
                <a:cs typeface="Helvetica Neue"/>
                <a:sym typeface="Helvetica Neue"/>
              </a:rPr>
              <a:t>“forward”</a:t>
            </a:r>
            <a:r>
              <a:rPr lang="en-US" sz="1800">
                <a:solidFill>
                  <a:srgbClr val="1C1C1C"/>
                </a:solidFill>
                <a:latin typeface="Helvetica Neue Light"/>
                <a:ea typeface="Helvetica Neue Light"/>
                <a:cs typeface="Helvetica Neue Light"/>
                <a:sym typeface="Helvetica Neue Light"/>
              </a:rPr>
              <a:t> strategy, i.e. documents positioned in descending importance order</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the </a:t>
            </a:r>
            <a:r>
              <a:rPr b="1" lang="en-US" sz="1800">
                <a:solidFill>
                  <a:srgbClr val="1C1C1C"/>
                </a:solidFill>
                <a:latin typeface="Helvetica Neue"/>
                <a:ea typeface="Helvetica Neue"/>
                <a:cs typeface="Helvetica Neue"/>
                <a:sym typeface="Helvetica Neue"/>
              </a:rPr>
              <a:t>“reverse”</a:t>
            </a:r>
            <a:r>
              <a:rPr lang="en-US" sz="1800">
                <a:solidFill>
                  <a:srgbClr val="1C1C1C"/>
                </a:solidFill>
                <a:latin typeface="Helvetica Neue Light"/>
                <a:ea typeface="Helvetica Neue Light"/>
                <a:cs typeface="Helvetica Neue Light"/>
                <a:sym typeface="Helvetica Neue Light"/>
              </a:rPr>
              <a:t> strategy, i.e. the opposite</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Light"/>
              <a:buAutoNum type="arabicPeriod"/>
            </a:pPr>
            <a:r>
              <a:rPr lang="en-US" sz="1800">
                <a:solidFill>
                  <a:srgbClr val="1C1C1C"/>
                </a:solidFill>
                <a:latin typeface="Helvetica Neue Light"/>
                <a:ea typeface="Helvetica Neue Light"/>
                <a:cs typeface="Helvetica Neue Light"/>
                <a:sym typeface="Helvetica Neue Light"/>
              </a:rPr>
              <a:t>the </a:t>
            </a:r>
            <a:r>
              <a:rPr b="1" lang="en-US" sz="1800">
                <a:solidFill>
                  <a:srgbClr val="1C1C1C"/>
                </a:solidFill>
                <a:latin typeface="Helvetica Neue"/>
                <a:ea typeface="Helvetica Neue"/>
                <a:cs typeface="Helvetica Neue"/>
                <a:sym typeface="Helvetica Neue"/>
              </a:rPr>
              <a:t>“sides” </a:t>
            </a:r>
            <a:r>
              <a:rPr lang="en-US" sz="1800">
                <a:solidFill>
                  <a:srgbClr val="1C1C1C"/>
                </a:solidFill>
                <a:latin typeface="Helvetica Neue Light"/>
                <a:ea typeface="Helvetica Neue Light"/>
                <a:cs typeface="Helvetica Neue Light"/>
                <a:sym typeface="Helvetica Neue Light"/>
              </a:rPr>
              <a:t>strategy, i.e. one at the beginning, then end, then second position, then second last etc.</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Note: the </a:t>
            </a:r>
            <a:r>
              <a:rPr b="1" lang="en-US" sz="1800">
                <a:solidFill>
                  <a:srgbClr val="1C1C1C"/>
                </a:solidFill>
                <a:latin typeface="Helvetica Neue"/>
                <a:ea typeface="Helvetica Neue"/>
                <a:cs typeface="Helvetica Neue"/>
                <a:sym typeface="Helvetica Neue"/>
              </a:rPr>
              <a:t>“forward”</a:t>
            </a:r>
            <a:r>
              <a:rPr lang="en-US" sz="1800">
                <a:solidFill>
                  <a:srgbClr val="1C1C1C"/>
                </a:solidFill>
                <a:latin typeface="Helvetica Neue Light"/>
                <a:ea typeface="Helvetica Neue Light"/>
                <a:cs typeface="Helvetica Neue Light"/>
                <a:sym typeface="Helvetica Neue Light"/>
              </a:rPr>
              <a:t> approach may work worse than expected due to the presence of the prompt instruction, which already usually covers the beginning of the prompt</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p:txBody>
      </p:sp>
      <p:pic>
        <p:nvPicPr>
          <p:cNvPr id="430" name="Google Shape;430;p47"/>
          <p:cNvPicPr preferRelativeResize="0"/>
          <p:nvPr/>
        </p:nvPicPr>
        <p:blipFill>
          <a:blip r:embed="rId3">
            <a:alphaModFix/>
          </a:blip>
          <a:stretch>
            <a:fillRect/>
          </a:stretch>
        </p:blipFill>
        <p:spPr>
          <a:xfrm>
            <a:off x="7082854" y="66675"/>
            <a:ext cx="4674741" cy="68580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48"/>
          <p:cNvSpPr txBox="1"/>
          <p:nvPr>
            <p:ph type="title"/>
          </p:nvPr>
        </p:nvSpPr>
        <p:spPr>
          <a:xfrm>
            <a:off x="406400" y="425805"/>
            <a:ext cx="85344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Finding the optimal retrieval implementation</a:t>
            </a:r>
            <a:endParaRPr sz="3200">
              <a:latin typeface="Calibri"/>
              <a:ea typeface="Calibri"/>
              <a:cs typeface="Calibri"/>
              <a:sym typeface="Calibri"/>
            </a:endParaRPr>
          </a:p>
        </p:txBody>
      </p:sp>
      <p:sp>
        <p:nvSpPr>
          <p:cNvPr id="437" name="Google Shape;437;p48"/>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438" name="Google Shape;438;p48"/>
          <p:cNvSpPr txBox="1"/>
          <p:nvPr/>
        </p:nvSpPr>
        <p:spPr>
          <a:xfrm>
            <a:off x="593700" y="1310775"/>
            <a:ext cx="10884000" cy="467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1800">
                <a:solidFill>
                  <a:srgbClr val="1C1C1C"/>
                </a:solidFill>
                <a:latin typeface="Helvetica Neue Light"/>
                <a:ea typeface="Helvetica Neue Light"/>
                <a:cs typeface="Helvetica Neue Light"/>
                <a:sym typeface="Helvetica Neue Light"/>
              </a:rPr>
              <a:t>Retriever pipelines can be substantially tuned to provide higher quality results via</a:t>
            </a:r>
            <a:endParaRPr sz="1800">
              <a:solidFill>
                <a:srgbClr val="1C1C1C"/>
              </a:solidFill>
              <a:latin typeface="Helvetica Neue Light"/>
              <a:ea typeface="Helvetica Neue Light"/>
              <a:cs typeface="Helvetica Neue Light"/>
              <a:sym typeface="Helvetica Neue Light"/>
            </a:endParaRPr>
          </a:p>
          <a:p>
            <a:pPr indent="0" lvl="0" marL="0" rtl="0" algn="l">
              <a:spcBef>
                <a:spcPts val="0"/>
              </a:spcBef>
              <a:spcAft>
                <a:spcPts val="0"/>
              </a:spcAft>
              <a:buNone/>
            </a:pPr>
            <a:r>
              <a:t/>
            </a:r>
            <a:endParaRPr sz="1800">
              <a:solidFill>
                <a:srgbClr val="1C1C1C"/>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888888"/>
              </a:buClr>
              <a:buSzPts val="1800"/>
              <a:buFont typeface="Helvetica Neue Light"/>
              <a:buAutoNum type="arabicPeriod"/>
            </a:pPr>
            <a:r>
              <a:rPr lang="en-US" sz="1800">
                <a:solidFill>
                  <a:srgbClr val="888888"/>
                </a:solidFill>
                <a:latin typeface="Helvetica Neue Light"/>
                <a:ea typeface="Helvetica Neue Light"/>
                <a:cs typeface="Helvetica Neue Light"/>
                <a:sym typeface="Helvetica Neue Light"/>
              </a:rPr>
              <a:t>Choosing the right chunk granularity</a:t>
            </a:r>
            <a:endParaRPr sz="1800">
              <a:solidFill>
                <a:srgbClr val="888888"/>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888888"/>
              </a:buClr>
              <a:buSzPts val="1800"/>
              <a:buFont typeface="Helvetica Neue Light"/>
              <a:buAutoNum type="arabicPeriod"/>
            </a:pPr>
            <a:r>
              <a:rPr lang="en-US" sz="1800">
                <a:solidFill>
                  <a:srgbClr val="888888"/>
                </a:solidFill>
                <a:latin typeface="Helvetica Neue Light"/>
                <a:ea typeface="Helvetica Neue Light"/>
                <a:cs typeface="Helvetica Neue Light"/>
                <a:sym typeface="Helvetica Neue Light"/>
              </a:rPr>
              <a:t>Query Classification</a:t>
            </a:r>
            <a:endParaRPr sz="1800">
              <a:solidFill>
                <a:srgbClr val="888888"/>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888888"/>
              </a:buClr>
              <a:buSzPts val="1800"/>
              <a:buFont typeface="Helvetica Neue Light"/>
              <a:buAutoNum type="arabicPeriod"/>
            </a:pPr>
            <a:r>
              <a:rPr lang="en-US" sz="1800">
                <a:solidFill>
                  <a:srgbClr val="888888"/>
                </a:solidFill>
                <a:latin typeface="Helvetica Neue Light"/>
                <a:ea typeface="Helvetica Neue Light"/>
                <a:cs typeface="Helvetica Neue Light"/>
                <a:sym typeface="Helvetica Neue Light"/>
              </a:rPr>
              <a:t>Query Transformations</a:t>
            </a:r>
            <a:endParaRPr sz="1800">
              <a:solidFill>
                <a:srgbClr val="888888"/>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888888"/>
              </a:buClr>
              <a:buSzPts val="1800"/>
              <a:buFont typeface="Helvetica Neue Light"/>
              <a:buAutoNum type="arabicPeriod"/>
            </a:pPr>
            <a:r>
              <a:rPr lang="en-US" sz="1800">
                <a:solidFill>
                  <a:srgbClr val="888888"/>
                </a:solidFill>
                <a:latin typeface="Helvetica Neue Light"/>
                <a:ea typeface="Helvetica Neue Light"/>
                <a:cs typeface="Helvetica Neue Light"/>
                <a:sym typeface="Helvetica Neue Light"/>
              </a:rPr>
              <a:t>Document Repacking</a:t>
            </a:r>
            <a:endParaRPr sz="1800">
              <a:solidFill>
                <a:srgbClr val="888888"/>
              </a:solidFill>
              <a:latin typeface="Helvetica Neue Light"/>
              <a:ea typeface="Helvetica Neue Light"/>
              <a:cs typeface="Helvetica Neue Light"/>
              <a:sym typeface="Helvetica Neue Light"/>
            </a:endParaRPr>
          </a:p>
          <a:p>
            <a:pPr indent="-342900" lvl="0" marL="457200" rtl="0" algn="l">
              <a:spcBef>
                <a:spcPts val="0"/>
              </a:spcBef>
              <a:spcAft>
                <a:spcPts val="0"/>
              </a:spcAft>
              <a:buClr>
                <a:srgbClr val="1C1C1C"/>
              </a:buClr>
              <a:buSzPts val="1800"/>
              <a:buFont typeface="Helvetica Neue"/>
              <a:buAutoNum type="arabicPeriod"/>
            </a:pPr>
            <a:r>
              <a:rPr b="1" lang="en-US" sz="1800">
                <a:solidFill>
                  <a:srgbClr val="1C1C1C"/>
                </a:solidFill>
                <a:latin typeface="Helvetica Neue"/>
                <a:ea typeface="Helvetica Neue"/>
                <a:cs typeface="Helvetica Neue"/>
                <a:sym typeface="Helvetica Neue"/>
              </a:rPr>
              <a:t>Document Summarization</a:t>
            </a:r>
            <a:r>
              <a:rPr lang="en-US" sz="1800">
                <a:solidFill>
                  <a:srgbClr val="1C1C1C"/>
                </a:solidFill>
                <a:latin typeface="Helvetica Neue Light"/>
                <a:ea typeface="Helvetica Neue Light"/>
                <a:cs typeface="Helvetica Neue Light"/>
                <a:sym typeface="Helvetica Neue Light"/>
              </a:rPr>
              <a:t>: not too much to say… when the retrieved content is huge, summarize it</a:t>
            </a:r>
            <a:endParaRPr sz="1800">
              <a:solidFill>
                <a:srgbClr val="1C1C1C"/>
              </a:solidFill>
              <a:latin typeface="Helvetica Neue Light"/>
              <a:ea typeface="Helvetica Neue Light"/>
              <a:cs typeface="Helvetica Neue Light"/>
              <a:sym typeface="Helvetica Neue Light"/>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9"/>
          <p:cNvSpPr txBox="1"/>
          <p:nvPr>
            <p:ph type="title"/>
          </p:nvPr>
        </p:nvSpPr>
        <p:spPr>
          <a:xfrm>
            <a:off x="406400" y="425800"/>
            <a:ext cx="11231100" cy="535500"/>
          </a:xfrm>
          <a:prstGeom prst="rect">
            <a:avLst/>
          </a:prstGeom>
          <a:noFill/>
          <a:ln>
            <a:noFill/>
          </a:ln>
        </p:spPr>
        <p:txBody>
          <a:bodyPr anchorCtr="0" anchor="b" bIns="45700" lIns="91425" spcFirstLastPara="1" rIns="91425" wrap="square" tIns="45700">
            <a:spAutoFit/>
          </a:bodyPr>
          <a:lstStyle/>
          <a:p>
            <a:pPr indent="0" lvl="0" marL="0" rtl="0" algn="l">
              <a:lnSpc>
                <a:spcPct val="90000"/>
              </a:lnSpc>
              <a:spcBef>
                <a:spcPts val="0"/>
              </a:spcBef>
              <a:spcAft>
                <a:spcPts val="0"/>
              </a:spcAft>
              <a:buSzPts val="1400"/>
              <a:buNone/>
            </a:pPr>
            <a:r>
              <a:rPr lang="en-US" sz="3200">
                <a:latin typeface="Calibri"/>
                <a:ea typeface="Calibri"/>
                <a:cs typeface="Calibri"/>
                <a:sym typeface="Calibri"/>
              </a:rPr>
              <a:t>Lecture Plan</a:t>
            </a:r>
            <a:endParaRPr sz="3200">
              <a:latin typeface="Calibri"/>
              <a:ea typeface="Calibri"/>
              <a:cs typeface="Calibri"/>
              <a:sym typeface="Calibri"/>
            </a:endParaRPr>
          </a:p>
        </p:txBody>
      </p:sp>
      <p:sp>
        <p:nvSpPr>
          <p:cNvPr id="445" name="Google Shape;445;p49"/>
          <p:cNvSpPr txBox="1"/>
          <p:nvPr>
            <p:ph idx="12" type="sldNum"/>
          </p:nvPr>
        </p:nvSpPr>
        <p:spPr>
          <a:xfrm>
            <a:off x="406401" y="6309785"/>
            <a:ext cx="937800" cy="366300"/>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Clr>
                <a:srgbClr val="000000"/>
              </a:buClr>
              <a:buSzPts val="1400"/>
              <a:buFont typeface="Arial"/>
              <a:buNone/>
            </a:pPr>
            <a:fld id="{00000000-1234-1234-1234-123412341234}" type="slidenum">
              <a:rPr lang="en-US"/>
              <a:t>‹#›</a:t>
            </a:fld>
            <a:endParaRPr>
              <a:solidFill>
                <a:srgbClr val="898989"/>
              </a:solidFill>
              <a:latin typeface="Times New Roman"/>
              <a:ea typeface="Times New Roman"/>
              <a:cs typeface="Times New Roman"/>
              <a:sym typeface="Times New Roman"/>
            </a:endParaRPr>
          </a:p>
        </p:txBody>
      </p:sp>
      <p:sp>
        <p:nvSpPr>
          <p:cNvPr id="446" name="Google Shape;446;p49"/>
          <p:cNvSpPr txBox="1"/>
          <p:nvPr/>
        </p:nvSpPr>
        <p:spPr>
          <a:xfrm>
            <a:off x="567950" y="1608550"/>
            <a:ext cx="11004600" cy="4038300"/>
          </a:xfrm>
          <a:prstGeom prst="rect">
            <a:avLst/>
          </a:prstGeom>
          <a:noFill/>
          <a:ln>
            <a:noFill/>
          </a:ln>
        </p:spPr>
        <p:txBody>
          <a:bodyPr anchorCtr="0" anchor="t" bIns="91425" lIns="91425" spcFirstLastPara="1" rIns="91425" wrap="square" tIns="91425">
            <a:noAutofit/>
          </a:bodyPr>
          <a:lstStyle/>
          <a:p>
            <a:pPr indent="-355600" lvl="0" marL="457200" rtl="0" algn="l">
              <a:spcBef>
                <a:spcPts val="0"/>
              </a:spcBef>
              <a:spcAft>
                <a:spcPts val="0"/>
              </a:spcAft>
              <a:buClr>
                <a:srgbClr val="888888"/>
              </a:buClr>
              <a:buSzPts val="2000"/>
              <a:buFont typeface="Helvetica Neue"/>
              <a:buChar char="●"/>
            </a:pPr>
            <a:r>
              <a:rPr b="1" lang="en-US" sz="2000">
                <a:solidFill>
                  <a:srgbClr val="888888"/>
                </a:solidFill>
                <a:latin typeface="Helvetica Neue"/>
                <a:ea typeface="Helvetica Neue"/>
                <a:cs typeface="Helvetica Neue"/>
                <a:sym typeface="Helvetica Neue"/>
              </a:rPr>
              <a:t>Retrieve &amp; Rerank pipeline and RAG</a:t>
            </a:r>
            <a:endParaRPr b="1" sz="2000">
              <a:solidFill>
                <a:srgbClr val="888888"/>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262626"/>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262626"/>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262626"/>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262626"/>
              </a:solidFill>
              <a:latin typeface="Helvetica Neue"/>
              <a:ea typeface="Helvetica Neue"/>
              <a:cs typeface="Helvetica Neue"/>
              <a:sym typeface="Helvetica Neue"/>
            </a:endParaRPr>
          </a:p>
          <a:p>
            <a:pPr indent="-355600" lvl="0" marL="457200" rtl="0" algn="l">
              <a:spcBef>
                <a:spcPts val="0"/>
              </a:spcBef>
              <a:spcAft>
                <a:spcPts val="0"/>
              </a:spcAft>
              <a:buClr>
                <a:srgbClr val="888888"/>
              </a:buClr>
              <a:buSzPts val="2000"/>
              <a:buFont typeface="Helvetica Neue"/>
              <a:buChar char="●"/>
            </a:pPr>
            <a:r>
              <a:rPr b="1" lang="en-US" sz="2000">
                <a:solidFill>
                  <a:srgbClr val="888888"/>
                </a:solidFill>
                <a:latin typeface="Helvetica Neue"/>
                <a:ea typeface="Helvetica Neue"/>
                <a:cs typeface="Helvetica Neue"/>
                <a:sym typeface="Helvetica Neue"/>
              </a:rPr>
              <a:t>Optimizing the performance of RAG</a:t>
            </a:r>
            <a:endParaRPr b="1" sz="2000">
              <a:solidFill>
                <a:srgbClr val="888888"/>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888888"/>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888888"/>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888888"/>
              </a:solidFill>
              <a:latin typeface="Helvetica Neue"/>
              <a:ea typeface="Helvetica Neue"/>
              <a:cs typeface="Helvetica Neue"/>
              <a:sym typeface="Helvetica Neue"/>
            </a:endParaRPr>
          </a:p>
          <a:p>
            <a:pPr indent="0" lvl="0" marL="0" rtl="0" algn="l">
              <a:spcBef>
                <a:spcPts val="0"/>
              </a:spcBef>
              <a:spcAft>
                <a:spcPts val="0"/>
              </a:spcAft>
              <a:buNone/>
            </a:pPr>
            <a:r>
              <a:t/>
            </a:r>
            <a:endParaRPr b="1" sz="2000">
              <a:solidFill>
                <a:srgbClr val="888888"/>
              </a:solidFill>
              <a:latin typeface="Helvetica Neue"/>
              <a:ea typeface="Helvetica Neue"/>
              <a:cs typeface="Helvetica Neue"/>
              <a:sym typeface="Helvetica Neue"/>
            </a:endParaRPr>
          </a:p>
          <a:p>
            <a:pPr indent="-355600" lvl="0" marL="457200" rtl="0" algn="l">
              <a:spcBef>
                <a:spcPts val="0"/>
              </a:spcBef>
              <a:spcAft>
                <a:spcPts val="0"/>
              </a:spcAft>
              <a:buClr>
                <a:srgbClr val="262626"/>
              </a:buClr>
              <a:buSzPts val="2000"/>
              <a:buFont typeface="Helvetica Neue"/>
              <a:buChar char="●"/>
            </a:pPr>
            <a:r>
              <a:rPr b="1" lang="en-US" sz="2000">
                <a:solidFill>
                  <a:srgbClr val="262626"/>
                </a:solidFill>
                <a:latin typeface="Helvetica Neue"/>
                <a:ea typeface="Helvetica Neue"/>
                <a:cs typeface="Helvetica Neue"/>
                <a:sym typeface="Helvetica Neue"/>
              </a:rPr>
              <a:t>Use case: Fact Checking </a:t>
            </a:r>
            <a:r>
              <a:rPr b="1" lang="en-US" sz="2000">
                <a:solidFill>
                  <a:srgbClr val="BF9000"/>
                </a:solidFill>
                <a:latin typeface="Helvetica Neue"/>
                <a:ea typeface="Helvetica Neue"/>
                <a:cs typeface="Helvetica Neue"/>
                <a:sym typeface="Helvetica Neue"/>
              </a:rPr>
              <a:t>(Google Colab)</a:t>
            </a:r>
            <a:endParaRPr b="1" sz="2000">
              <a:solidFill>
                <a:srgbClr val="BF9000"/>
              </a:solidFill>
              <a:latin typeface="Helvetica Neue"/>
              <a:ea typeface="Helvetica Neue"/>
              <a:cs typeface="Helvetica Neue"/>
              <a:sym typeface="Helvetica Neue"/>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50"/>
          <p:cNvSpPr txBox="1"/>
          <p:nvPr/>
        </p:nvSpPr>
        <p:spPr>
          <a:xfrm>
            <a:off x="3238650" y="5719825"/>
            <a:ext cx="5714700" cy="4038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0000"/>
              </a:buClr>
              <a:buSzPts val="2400"/>
              <a:buFont typeface="Arial"/>
              <a:buNone/>
            </a:pPr>
            <a:r>
              <a:rPr b="0" i="1" lang="en-US" sz="2400" u="none" cap="none" strike="noStrike">
                <a:solidFill>
                  <a:srgbClr val="0070C0"/>
                </a:solidFill>
                <a:latin typeface="Calibri"/>
                <a:ea typeface="Calibri"/>
                <a:cs typeface="Calibri"/>
                <a:sym typeface="Calibri"/>
              </a:rPr>
              <a:t>micheleluca.contalbo@unimore.it</a:t>
            </a:r>
            <a:endParaRPr b="0" i="1" sz="2400" u="none" cap="none" strike="noStrike">
              <a:solidFill>
                <a:srgbClr val="0070C0"/>
              </a:solidFill>
              <a:latin typeface="Calibri"/>
              <a:ea typeface="Calibri"/>
              <a:cs typeface="Calibri"/>
              <a:sym typeface="Calibri"/>
            </a:endParaRPr>
          </a:p>
        </p:txBody>
      </p:sp>
      <p:sp>
        <p:nvSpPr>
          <p:cNvPr id="453" name="Google Shape;453;p50"/>
          <p:cNvSpPr txBox="1"/>
          <p:nvPr/>
        </p:nvSpPr>
        <p:spPr>
          <a:xfrm>
            <a:off x="411016" y="384241"/>
            <a:ext cx="11369964" cy="683329"/>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0000"/>
              </a:buClr>
              <a:buSzPts val="4267"/>
              <a:buFont typeface="Arial"/>
              <a:buNone/>
            </a:pPr>
            <a:r>
              <a:rPr b="0" i="0" lang="en-US" sz="4267" u="none" cap="none" strike="noStrike">
                <a:solidFill>
                  <a:srgbClr val="F04A27"/>
                </a:solidFill>
                <a:latin typeface="Calibri"/>
                <a:ea typeface="Calibri"/>
                <a:cs typeface="Calibri"/>
                <a:sym typeface="Calibri"/>
              </a:rPr>
              <a:t>Thank you for the attention!</a:t>
            </a:r>
            <a:endParaRPr b="0" i="0" sz="1400" u="none" cap="none" strike="noStrike">
              <a:solidFill>
                <a:srgbClr val="000000"/>
              </a:solidFill>
              <a:latin typeface="Arial"/>
              <a:ea typeface="Arial"/>
              <a:cs typeface="Arial"/>
              <a:sym typeface="Arial"/>
            </a:endParaRPr>
          </a:p>
        </p:txBody>
      </p:sp>
      <p:sp>
        <p:nvSpPr>
          <p:cNvPr id="454" name="Google Shape;454;p50"/>
          <p:cNvSpPr txBox="1"/>
          <p:nvPr>
            <p:ph idx="12" type="sldNum"/>
          </p:nvPr>
        </p:nvSpPr>
        <p:spPr>
          <a:xfrm>
            <a:off x="11409045" y="6333134"/>
            <a:ext cx="731700" cy="525000"/>
          </a:xfrm>
          <a:prstGeom prst="rect">
            <a:avLst/>
          </a:prstGeom>
          <a:noFill/>
          <a:ln>
            <a:noFill/>
          </a:ln>
        </p:spPr>
        <p:txBody>
          <a:bodyPr anchorCtr="0" anchor="t" bIns="45700" lIns="91425" spcFirstLastPara="1" rIns="91425" wrap="square" tIns="45700">
            <a:noAutofit/>
          </a:bodyPr>
          <a:lstStyle/>
          <a:p>
            <a:pPr indent="0" lvl="0" marL="0" rtl="0" algn="r">
              <a:lnSpc>
                <a:spcPct val="100000"/>
              </a:lnSpc>
              <a:spcBef>
                <a:spcPts val="0"/>
              </a:spcBef>
              <a:spcAft>
                <a:spcPts val="0"/>
              </a:spcAft>
              <a:buSzPts val="1300"/>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Unimore">
  <a:themeElements>
    <a:clrScheme name="Stanford Medicine">
      <a:dk1>
        <a:srgbClr val="000000"/>
      </a:dk1>
      <a:lt1>
        <a:srgbClr val="FFFFFF"/>
      </a:lt1>
      <a:dk2>
        <a:srgbClr val="696253"/>
      </a:dk2>
      <a:lt2>
        <a:srgbClr val="B9AE98"/>
      </a:lt2>
      <a:accent1>
        <a:srgbClr val="C1C1C1"/>
      </a:accent1>
      <a:accent2>
        <a:srgbClr val="780811"/>
      </a:accent2>
      <a:accent3>
        <a:srgbClr val="0B3248"/>
      </a:accent3>
      <a:accent4>
        <a:srgbClr val="0D697F"/>
      </a:accent4>
      <a:accent5>
        <a:srgbClr val="6E8920"/>
      </a:accent5>
      <a:accent6>
        <a:srgbClr val="435119"/>
      </a:accent6>
      <a:hlink>
        <a:srgbClr val="1188AD"/>
      </a:hlink>
      <a:folHlink>
        <a:srgbClr val="1188A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