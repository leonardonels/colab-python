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deaacde2c9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deaacde2c9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deaacde2c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deaacde2c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deaacde2c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deaacde2c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deaacde2c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deaacde2c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deaacde2c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deaacde2c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deaacde2c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deaacde2c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deaacde2c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deaacde2c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deaacde2c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deaacde2c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deaacde2c9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deaacde2c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deaacde2c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deaacde2c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deaacde2c9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deaacde2c9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deaacde2c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deaacde2c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a466d57b10_0_0:notes"/>
          <p:cNvSpPr/>
          <p:nvPr>
            <p:ph idx="2" type="sldImg"/>
          </p:nvPr>
        </p:nvSpPr>
        <p:spPr>
          <a:xfrm>
            <a:off x="89689" y="684375"/>
            <a:ext cx="6678600" cy="34305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a466d57b10_0_0:notes"/>
          <p:cNvSpPr txBox="1"/>
          <p:nvPr>
            <p:ph idx="1" type="body"/>
          </p:nvPr>
        </p:nvSpPr>
        <p:spPr>
          <a:xfrm>
            <a:off x="685801" y="434340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2a466d57b10_0_0:notes"/>
          <p:cNvSpPr txBox="1"/>
          <p:nvPr>
            <p:ph idx="12" type="sldNum"/>
          </p:nvPr>
        </p:nvSpPr>
        <p:spPr>
          <a:xfrm>
            <a:off x="3884613" y="8685226"/>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300"/>
              <a:buFont typeface="Arial"/>
              <a:buNone/>
            </a:pPr>
            <a:fld id="{00000000-1234-1234-1234-123412341234}" type="slidenum">
              <a:rPr lang="it"/>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deaacde2c9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deaacde2c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deaacde2c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deaacde2c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deaacde2c9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deaacde2c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deaacde2c9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deaacde2c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deaacde2c9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deaacde2c9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deaacde2c9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deaacde2c9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deaacde2c9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deaacde2c9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e05d7b85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e05d7b85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deaacde2c9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deaacde2c9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deaacde2c9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deaacde2c9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deaacde2c9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deaacde2c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deaacde2c9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deaacde2c9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deaacde2c9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deaacde2c9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deaacde2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deaacde2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e02638cd0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e02638cd0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e02638cd0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e02638cd0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p:cSld name="Agenda Slide">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b="0" l="0" r="0" t="0"/>
          <a:stretch/>
        </p:blipFill>
        <p:spPr>
          <a:xfrm>
            <a:off x="8408838" y="195075"/>
            <a:ext cx="540000" cy="540000"/>
          </a:xfrm>
          <a:prstGeom prst="rect">
            <a:avLst/>
          </a:prstGeom>
          <a:noFill/>
          <a:ln>
            <a:noFill/>
          </a:ln>
        </p:spPr>
      </p:pic>
      <p:sp>
        <p:nvSpPr>
          <p:cNvPr id="52" name="Google Shape;52;p13"/>
          <p:cNvSpPr txBox="1"/>
          <p:nvPr>
            <p:ph type="title"/>
          </p:nvPr>
        </p:nvSpPr>
        <p:spPr>
          <a:xfrm>
            <a:off x="337500" y="247702"/>
            <a:ext cx="7434000" cy="731100"/>
          </a:xfrm>
          <a:prstGeom prst="rect">
            <a:avLst/>
          </a:prstGeom>
          <a:noFill/>
          <a:ln>
            <a:noFill/>
          </a:ln>
        </p:spPr>
        <p:txBody>
          <a:bodyPr anchorCtr="0" anchor="t" bIns="0" lIns="0" spcFirstLastPara="1" rIns="0" wrap="square" tIns="0">
            <a:noAutofit/>
          </a:bodyPr>
          <a:lstStyle>
            <a:lvl1pPr lvl="0" rtl="0" algn="l">
              <a:lnSpc>
                <a:spcPct val="150000"/>
              </a:lnSpc>
              <a:spcBef>
                <a:spcPts val="0"/>
              </a:spcBef>
              <a:spcAft>
                <a:spcPts val="0"/>
              </a:spcAft>
              <a:buClr>
                <a:schemeClr val="dk2"/>
              </a:buClr>
              <a:buSzPts val="1800"/>
              <a:buFont typeface="Verdana"/>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 name="Google Shape;53;p13"/>
          <p:cNvSpPr txBox="1"/>
          <p:nvPr>
            <p:ph idx="10" type="dt"/>
          </p:nvPr>
        </p:nvSpPr>
        <p:spPr>
          <a:xfrm>
            <a:off x="167318" y="4824987"/>
            <a:ext cx="735900" cy="273900"/>
          </a:xfrm>
          <a:prstGeom prst="rect">
            <a:avLst/>
          </a:prstGeom>
          <a:noFill/>
          <a:ln>
            <a:noFill/>
          </a:ln>
        </p:spPr>
        <p:txBody>
          <a:bodyPr anchorCtr="0" anchor="ctr" bIns="0" lIns="0" spcFirstLastPara="1" rIns="0" wrap="square" tIns="0">
            <a:noAutofit/>
          </a:bodyPr>
          <a:lstStyle>
            <a:lvl1pPr lvl="0" rtl="0" algn="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4" name="Google Shape;54;p13"/>
          <p:cNvSpPr txBox="1"/>
          <p:nvPr>
            <p:ph idx="11" type="ftr"/>
          </p:nvPr>
        </p:nvSpPr>
        <p:spPr>
          <a:xfrm>
            <a:off x="1153116" y="4824987"/>
            <a:ext cx="6605100" cy="273900"/>
          </a:xfrm>
          <a:prstGeom prst="rect">
            <a:avLst/>
          </a:prstGeom>
          <a:noFill/>
          <a:ln>
            <a:noFill/>
          </a:ln>
        </p:spPr>
        <p:txBody>
          <a:bodyPr anchorCtr="0" anchor="ctr" bIns="0" lIns="0" spcFirstLastPara="1" rIns="0" wrap="square" tIns="0">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5" name="Google Shape;55;p13"/>
          <p:cNvSpPr txBox="1"/>
          <p:nvPr>
            <p:ph idx="12" type="sldNum"/>
          </p:nvPr>
        </p:nvSpPr>
        <p:spPr>
          <a:xfrm>
            <a:off x="8648309" y="4812378"/>
            <a:ext cx="366000" cy="299100"/>
          </a:xfrm>
          <a:prstGeom prst="rect">
            <a:avLst/>
          </a:prstGeom>
          <a:noFill/>
          <a:ln>
            <a:noFill/>
          </a:ln>
        </p:spPr>
        <p:txBody>
          <a:bodyPr anchorCtr="0" anchor="ctr" bIns="0" lIns="0" spcFirstLastPara="1" rIns="0" wrap="square" tIns="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
        <p:nvSpPr>
          <p:cNvPr id="56" name="Google Shape;56;p13"/>
          <p:cNvSpPr txBox="1"/>
          <p:nvPr>
            <p:ph idx="1" type="body"/>
          </p:nvPr>
        </p:nvSpPr>
        <p:spPr>
          <a:xfrm>
            <a:off x="337500" y="1296829"/>
            <a:ext cx="7434300" cy="3485400"/>
          </a:xfrm>
          <a:prstGeom prst="rect">
            <a:avLst/>
          </a:prstGeom>
          <a:noFill/>
          <a:ln>
            <a:noFill/>
          </a:ln>
        </p:spPr>
        <p:txBody>
          <a:bodyPr anchorCtr="0" anchor="t" bIns="0" lIns="0" spcFirstLastPara="1" rIns="0" wrap="square" tIns="0">
            <a:noAutofit/>
          </a:bodyPr>
          <a:lstStyle>
            <a:lvl1pPr indent="-317500" lvl="0" marL="457200" rtl="0" algn="l">
              <a:lnSpc>
                <a:spcPct val="150000"/>
              </a:lnSpc>
              <a:spcBef>
                <a:spcPts val="0"/>
              </a:spcBef>
              <a:spcAft>
                <a:spcPts val="0"/>
              </a:spcAft>
              <a:buClr>
                <a:schemeClr val="accent1"/>
              </a:buClr>
              <a:buSzPts val="1400"/>
              <a:buFont typeface="Verdana"/>
              <a:buAutoNum type="arabicPeriod"/>
              <a:defRPr/>
            </a:lvl1pPr>
            <a:lvl2pPr indent="-317500" lvl="1" marL="914400" rtl="0" algn="l">
              <a:lnSpc>
                <a:spcPct val="150000"/>
              </a:lnSpc>
              <a:spcBef>
                <a:spcPts val="0"/>
              </a:spcBef>
              <a:spcAft>
                <a:spcPts val="0"/>
              </a:spcAft>
              <a:buClr>
                <a:schemeClr val="accent1"/>
              </a:buClr>
              <a:buSzPts val="1400"/>
              <a:buFont typeface="Verdana"/>
              <a:buChar char="●"/>
              <a:defRPr/>
            </a:lvl2pPr>
            <a:lvl3pPr indent="-317500" lvl="2" marL="1371600" rtl="0" algn="l">
              <a:lnSpc>
                <a:spcPct val="150000"/>
              </a:lnSpc>
              <a:spcBef>
                <a:spcPts val="0"/>
              </a:spcBef>
              <a:spcAft>
                <a:spcPts val="0"/>
              </a:spcAft>
              <a:buClr>
                <a:schemeClr val="accent1"/>
              </a:buClr>
              <a:buSzPts val="1400"/>
              <a:buFont typeface="Verdana"/>
              <a:buAutoNum type="alphaLcParenR"/>
              <a:defRPr/>
            </a:lvl3pPr>
            <a:lvl4pPr indent="-317500" lvl="3" marL="1828800" rtl="0" algn="l">
              <a:lnSpc>
                <a:spcPct val="150000"/>
              </a:lnSpc>
              <a:spcBef>
                <a:spcPts val="0"/>
              </a:spcBef>
              <a:spcAft>
                <a:spcPts val="0"/>
              </a:spcAft>
              <a:buClr>
                <a:schemeClr val="accent1"/>
              </a:buClr>
              <a:buSzPts val="1400"/>
              <a:buFont typeface="Noto Sans Symbols"/>
              <a:buChar char="−"/>
              <a:defRPr/>
            </a:lvl4pPr>
            <a:lvl5pPr indent="-317500" lvl="4" marL="2286000" rtl="0" algn="l">
              <a:lnSpc>
                <a:spcPct val="150000"/>
              </a:lnSpc>
              <a:spcBef>
                <a:spcPts val="0"/>
              </a:spcBef>
              <a:spcAft>
                <a:spcPts val="0"/>
              </a:spcAft>
              <a:buClr>
                <a:schemeClr val="accent1"/>
              </a:buClr>
              <a:buSzPts val="1400"/>
              <a:buFont typeface="Noto Sans Symbols"/>
              <a:buChar char="−"/>
              <a:defRPr/>
            </a:lvl5pPr>
            <a:lvl6pPr indent="-317500" lvl="5" marL="2743200" rtl="0" algn="l">
              <a:lnSpc>
                <a:spcPct val="150000"/>
              </a:lnSpc>
              <a:spcBef>
                <a:spcPts val="0"/>
              </a:spcBef>
              <a:spcAft>
                <a:spcPts val="0"/>
              </a:spcAft>
              <a:buClr>
                <a:schemeClr val="accent1"/>
              </a:buClr>
              <a:buSzPts val="1400"/>
              <a:buFont typeface="Noto Sans Symbols"/>
              <a:buChar char="−"/>
              <a:defRPr/>
            </a:lvl6pPr>
            <a:lvl7pPr indent="-317500" lvl="6" marL="3200400" rtl="0" algn="l">
              <a:lnSpc>
                <a:spcPct val="150000"/>
              </a:lnSpc>
              <a:spcBef>
                <a:spcPts val="0"/>
              </a:spcBef>
              <a:spcAft>
                <a:spcPts val="0"/>
              </a:spcAft>
              <a:buClr>
                <a:schemeClr val="accent1"/>
              </a:buClr>
              <a:buSzPts val="1400"/>
              <a:buFont typeface="Noto Sans Symbols"/>
              <a:buChar char="−"/>
              <a:defRPr/>
            </a:lvl7pPr>
            <a:lvl8pPr indent="-317500" lvl="7" marL="3657600" rtl="0" algn="l">
              <a:lnSpc>
                <a:spcPct val="150000"/>
              </a:lnSpc>
              <a:spcBef>
                <a:spcPts val="0"/>
              </a:spcBef>
              <a:spcAft>
                <a:spcPts val="0"/>
              </a:spcAft>
              <a:buClr>
                <a:schemeClr val="accent1"/>
              </a:buClr>
              <a:buSzPts val="1400"/>
              <a:buFont typeface="Noto Sans Symbols"/>
              <a:buChar char="−"/>
              <a:defRPr/>
            </a:lvl8pPr>
            <a:lvl9pPr indent="-317500" lvl="8" marL="4114800" rtl="0" algn="l">
              <a:lnSpc>
                <a:spcPct val="150000"/>
              </a:lnSpc>
              <a:spcBef>
                <a:spcPts val="0"/>
              </a:spcBef>
              <a:spcAft>
                <a:spcPts val="0"/>
              </a:spcAft>
              <a:buSzPts val="1400"/>
              <a:buFont typeface="Noto Sans Symbols"/>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4">
  <p:cSld name="OBJECT_5">
    <p:spTree>
      <p:nvGrpSpPr>
        <p:cNvPr id="57" name="Shape 57"/>
        <p:cNvGrpSpPr/>
        <p:nvPr/>
      </p:nvGrpSpPr>
      <p:grpSpPr>
        <a:xfrm>
          <a:off x="0" y="0"/>
          <a:ext cx="0" cy="0"/>
          <a:chOff x="0" y="0"/>
          <a:chExt cx="0" cy="0"/>
        </a:xfrm>
      </p:grpSpPr>
      <p:sp>
        <p:nvSpPr>
          <p:cNvPr id="58" name="Google Shape;58;p14"/>
          <p:cNvSpPr txBox="1"/>
          <p:nvPr>
            <p:ph type="title"/>
          </p:nvPr>
        </p:nvSpPr>
        <p:spPr>
          <a:xfrm>
            <a:off x="467544" y="114300"/>
            <a:ext cx="8208900" cy="743100"/>
          </a:xfrm>
          <a:prstGeom prst="rect">
            <a:avLst/>
          </a:prstGeom>
          <a:noFill/>
          <a:ln>
            <a:noFill/>
          </a:ln>
        </p:spPr>
        <p:txBody>
          <a:bodyPr anchorCtr="0" anchor="b" bIns="34275" lIns="68575" spcFirstLastPara="1" rIns="68575" wrap="square" tIns="34275">
            <a:noAutofit/>
          </a:bodyPr>
          <a:lstStyle>
            <a:lvl1pPr lvl="0" algn="r">
              <a:lnSpc>
                <a:spcPct val="100000"/>
              </a:lnSpc>
              <a:spcBef>
                <a:spcPts val="0"/>
              </a:spcBef>
              <a:spcAft>
                <a:spcPts val="0"/>
              </a:spcAft>
              <a:buClr>
                <a:schemeClr val="dk2"/>
              </a:buClr>
              <a:buSzPts val="2100"/>
              <a:buFont typeface="Trebuchet MS"/>
              <a:buNone/>
              <a:defRPr sz="2100">
                <a:latin typeface="Trebuchet MS"/>
                <a:ea typeface="Trebuchet MS"/>
                <a:cs typeface="Trebuchet MS"/>
                <a:sym typeface="Trebuchet M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14"/>
          <p:cNvSpPr txBox="1"/>
          <p:nvPr>
            <p:ph idx="11" type="ftr"/>
          </p:nvPr>
        </p:nvSpPr>
        <p:spPr>
          <a:xfrm>
            <a:off x="683568" y="4774566"/>
            <a:ext cx="5720100" cy="255600"/>
          </a:xfrm>
          <a:prstGeom prst="rect">
            <a:avLst/>
          </a:prstGeom>
          <a:noFill/>
          <a:ln>
            <a:noFill/>
          </a:ln>
        </p:spPr>
        <p:txBody>
          <a:bodyPr anchorCtr="0" anchor="t" bIns="34275" lIns="68575" spcFirstLastPara="1" rIns="68575" wrap="square" tIns="34275">
            <a:noAutofit/>
          </a:bodyPr>
          <a:lstStyle>
            <a:lvl1pPr lvl="0" algn="r">
              <a:lnSpc>
                <a:spcPct val="100000"/>
              </a:lnSpc>
              <a:spcBef>
                <a:spcPts val="0"/>
              </a:spcBef>
              <a:spcAft>
                <a:spcPts val="0"/>
              </a:spcAft>
              <a:buSzPts val="1100"/>
              <a:buNone/>
              <a:defRPr sz="1100">
                <a:latin typeface="Trebuchet MS"/>
                <a:ea typeface="Trebuchet MS"/>
                <a:cs typeface="Trebuchet MS"/>
                <a:sym typeface="Trebuchet MS"/>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60" name="Google Shape;60;p14"/>
          <p:cNvSpPr txBox="1"/>
          <p:nvPr>
            <p:ph idx="12" type="sldNum"/>
          </p:nvPr>
        </p:nvSpPr>
        <p:spPr>
          <a:xfrm>
            <a:off x="6695256" y="4777710"/>
            <a:ext cx="1981200" cy="2742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
        <p:nvSpPr>
          <p:cNvPr id="61" name="Google Shape;61;p14"/>
          <p:cNvSpPr txBox="1"/>
          <p:nvPr>
            <p:ph idx="1" type="body"/>
          </p:nvPr>
        </p:nvSpPr>
        <p:spPr>
          <a:xfrm>
            <a:off x="467544" y="914400"/>
            <a:ext cx="8229600" cy="370320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900"/>
              </a:spcBef>
              <a:spcAft>
                <a:spcPts val="0"/>
              </a:spcAft>
              <a:buSzPts val="1400"/>
              <a:buChar char="?"/>
              <a:defRPr sz="1800">
                <a:latin typeface="Trebuchet MS"/>
                <a:ea typeface="Trebuchet MS"/>
                <a:cs typeface="Trebuchet MS"/>
                <a:sym typeface="Trebuchet MS"/>
              </a:defRPr>
            </a:lvl1pPr>
            <a:lvl2pPr indent="-298450" lvl="1" marL="914400" algn="l">
              <a:lnSpc>
                <a:spcPct val="100000"/>
              </a:lnSpc>
              <a:spcBef>
                <a:spcPts val="500"/>
              </a:spcBef>
              <a:spcAft>
                <a:spcPts val="0"/>
              </a:spcAft>
              <a:buSzPts val="1100"/>
              <a:buChar char="?"/>
              <a:defRPr sz="1500">
                <a:latin typeface="Trebuchet MS"/>
                <a:ea typeface="Trebuchet MS"/>
                <a:cs typeface="Trebuchet MS"/>
                <a:sym typeface="Trebuchet MS"/>
              </a:defRPr>
            </a:lvl2pPr>
            <a:lvl3pPr indent="-292100" lvl="2" marL="1371600" algn="l">
              <a:lnSpc>
                <a:spcPct val="100000"/>
              </a:lnSpc>
              <a:spcBef>
                <a:spcPts val="500"/>
              </a:spcBef>
              <a:spcAft>
                <a:spcPts val="0"/>
              </a:spcAft>
              <a:buSzPts val="1000"/>
              <a:buChar char="?"/>
              <a:defRPr sz="1400">
                <a:latin typeface="Trebuchet MS"/>
                <a:ea typeface="Trebuchet MS"/>
                <a:cs typeface="Trebuchet MS"/>
                <a:sym typeface="Trebuchet MS"/>
              </a:defRPr>
            </a:lvl3pPr>
            <a:lvl4pPr indent="-285750" lvl="3" marL="1828800" algn="l">
              <a:lnSpc>
                <a:spcPct val="100000"/>
              </a:lnSpc>
              <a:spcBef>
                <a:spcPts val="500"/>
              </a:spcBef>
              <a:spcAft>
                <a:spcPts val="0"/>
              </a:spcAft>
              <a:buSzPts val="900"/>
              <a:buChar char="◻"/>
              <a:defRPr sz="1400">
                <a:latin typeface="Trebuchet MS"/>
                <a:ea typeface="Trebuchet MS"/>
                <a:cs typeface="Trebuchet MS"/>
                <a:sym typeface="Trebuchet MS"/>
              </a:defRPr>
            </a:lvl4pPr>
            <a:lvl5pPr indent="-279400" lvl="4" marL="2286000" algn="l">
              <a:lnSpc>
                <a:spcPct val="100000"/>
              </a:lnSpc>
              <a:spcBef>
                <a:spcPts val="500"/>
              </a:spcBef>
              <a:spcAft>
                <a:spcPts val="0"/>
              </a:spcAft>
              <a:buSzPts val="800"/>
              <a:buChar char="◻"/>
              <a:defRPr sz="1200">
                <a:latin typeface="Trebuchet MS"/>
                <a:ea typeface="Trebuchet MS"/>
                <a:cs typeface="Trebuchet MS"/>
                <a:sym typeface="Trebuchet MS"/>
              </a:defRPr>
            </a:lvl5pPr>
            <a:lvl6pPr indent="-292100" lvl="5" marL="2743200" algn="l">
              <a:lnSpc>
                <a:spcPct val="100000"/>
              </a:lnSpc>
              <a:spcBef>
                <a:spcPts val="500"/>
              </a:spcBef>
              <a:spcAft>
                <a:spcPts val="0"/>
              </a:spcAft>
              <a:buSzPts val="1000"/>
              <a:buChar char="?"/>
              <a:defRPr/>
            </a:lvl6pPr>
            <a:lvl7pPr indent="-292100" lvl="6" marL="3200400" algn="l">
              <a:lnSpc>
                <a:spcPct val="100000"/>
              </a:lnSpc>
              <a:spcBef>
                <a:spcPts val="200"/>
              </a:spcBef>
              <a:spcAft>
                <a:spcPts val="0"/>
              </a:spcAft>
              <a:buSzPts val="1000"/>
              <a:buChar char="?"/>
              <a:defRPr/>
            </a:lvl7pPr>
            <a:lvl8pPr indent="-292100" lvl="7" marL="3657600" algn="l">
              <a:lnSpc>
                <a:spcPct val="100000"/>
              </a:lnSpc>
              <a:spcBef>
                <a:spcPts val="200"/>
              </a:spcBef>
              <a:spcAft>
                <a:spcPts val="0"/>
              </a:spcAft>
              <a:buSzPts val="1000"/>
              <a:buChar char="?"/>
              <a:defRPr/>
            </a:lvl8pPr>
            <a:lvl9pPr indent="-292100" lvl="8" marL="4114800" algn="l">
              <a:lnSpc>
                <a:spcPct val="100000"/>
              </a:lnSpc>
              <a:spcBef>
                <a:spcPts val="200"/>
              </a:spcBef>
              <a:spcAft>
                <a:spcPts val="0"/>
              </a:spcAft>
              <a:buSzPts val="1000"/>
              <a:buChar char="?"/>
              <a:defRPr/>
            </a:lvl9pPr>
          </a:lstStyle>
          <a:p/>
        </p:txBody>
      </p:sp>
      <p:sp>
        <p:nvSpPr>
          <p:cNvPr id="62" name="Google Shape;62;p14"/>
          <p:cNvSpPr/>
          <p:nvPr/>
        </p:nvSpPr>
        <p:spPr>
          <a:xfrm>
            <a:off x="0" y="0"/>
            <a:ext cx="381000" cy="5143500"/>
          </a:xfrm>
          <a:prstGeom prst="rect">
            <a:avLst/>
          </a:prstGeom>
          <a:solidFill>
            <a:srgbClr val="FF33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 name="Google Shape;63;p14"/>
          <p:cNvSpPr txBox="1"/>
          <p:nvPr/>
        </p:nvSpPr>
        <p:spPr>
          <a:xfrm rot="-5400000">
            <a:off x="-1027487" y="1089590"/>
            <a:ext cx="2463600" cy="284700"/>
          </a:xfrm>
          <a:prstGeom prst="rect">
            <a:avLst/>
          </a:prstGeom>
          <a:noFill/>
          <a:ln>
            <a:noFill/>
          </a:ln>
        </p:spPr>
        <p:txBody>
          <a:bodyPr anchorCtr="0" anchor="ctr" bIns="34275" lIns="68575" spcFirstLastPara="1" rIns="68575" wrap="square" tIns="34275">
            <a:spAutoFit/>
          </a:bodyPr>
          <a:lstStyle/>
          <a:p>
            <a:pPr indent="0" lvl="0" marL="0" rtl="0" algn="r">
              <a:spcBef>
                <a:spcPts val="0"/>
              </a:spcBef>
              <a:spcAft>
                <a:spcPts val="0"/>
              </a:spcAft>
              <a:buClr>
                <a:schemeClr val="dk1"/>
              </a:buClr>
              <a:buSzPts val="1400"/>
              <a:buFont typeface="Arial"/>
              <a:buNone/>
            </a:pPr>
            <a:r>
              <a:rPr lang="it" sz="1400">
                <a:solidFill>
                  <a:schemeClr val="lt1"/>
                </a:solidFill>
                <a:latin typeface="Trebuchet MS"/>
                <a:ea typeface="Trebuchet MS"/>
                <a:cs typeface="Trebuchet MS"/>
                <a:sym typeface="Trebuchet MS"/>
              </a:rPr>
              <a:t>Transformers</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huggingface.co/docs/transformers/main_classes/pipeline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huggingface.co/models" TargetMode="External"/><Relationship Id="rId4" Type="http://schemas.openxmlformats.org/officeDocument/2006/relationships/hyperlink" Target="https://huggingface.co/datasets" TargetMode="External"/><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huggingface.co/course" TargetMode="External"/><Relationship Id="rId4" Type="http://schemas.openxmlformats.org/officeDocument/2006/relationships/hyperlink" Target="https://github.com/aladdinpersson/Machine-Learning-Collection/blob/master/ML/Pytorch/more_advanced/transformer_from_scratch/transformer_from_scratch.py" TargetMode="External"/><Relationship Id="rId5" Type="http://schemas.openxmlformats.org/officeDocument/2006/relationships/hyperlink" Target="https://jalammar.github.io/illustrated-transformer/" TargetMode="External"/><Relationship Id="rId6" Type="http://schemas.openxmlformats.org/officeDocument/2006/relationships/hyperlink" Target="https://jalammar.github.io/illustrated-gpt2/"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11.jpg"/><Relationship Id="rId5" Type="http://schemas.openxmlformats.org/officeDocument/2006/relationships/image" Target="../media/image6.png"/><Relationship Id="rId6" Type="http://schemas.openxmlformats.org/officeDocument/2006/relationships/hyperlink" Target="https://www.vldb.org/pvldb/vol14/p50-li.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ctrTitle"/>
          </p:nvPr>
        </p:nvSpPr>
        <p:spPr>
          <a:xfrm>
            <a:off x="311708" y="12221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HuggingFace’s Transformers library</a:t>
            </a:r>
            <a:endParaRPr/>
          </a:p>
        </p:txBody>
      </p:sp>
      <p:sp>
        <p:nvSpPr>
          <p:cNvPr id="69" name="Google Shape;69;p15"/>
          <p:cNvSpPr txBox="1"/>
          <p:nvPr>
            <p:ph idx="1" type="subTitle"/>
          </p:nvPr>
        </p:nvSpPr>
        <p:spPr>
          <a:xfrm>
            <a:off x="341100" y="3510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it"/>
              <a:t>Matteo Paganelli</a:t>
            </a:r>
            <a:endParaRPr/>
          </a:p>
          <a:p>
            <a:pPr indent="0" lvl="0" marL="0" rtl="0" algn="ctr">
              <a:spcBef>
                <a:spcPts val="0"/>
              </a:spcBef>
              <a:spcAft>
                <a:spcPts val="0"/>
              </a:spcAft>
              <a:buNone/>
            </a:pPr>
            <a:r>
              <a:rPr lang="it"/>
              <a:t>matteo.paganelli@unimore.it</a:t>
            </a:r>
            <a:endParaRPr/>
          </a:p>
        </p:txBody>
      </p:sp>
      <p:pic>
        <p:nvPicPr>
          <p:cNvPr id="70" name="Google Shape;70;p15"/>
          <p:cNvPicPr preferRelativeResize="0"/>
          <p:nvPr/>
        </p:nvPicPr>
        <p:blipFill>
          <a:blip r:embed="rId3">
            <a:alphaModFix/>
          </a:blip>
          <a:stretch>
            <a:fillRect/>
          </a:stretch>
        </p:blipFill>
        <p:spPr>
          <a:xfrm>
            <a:off x="2954077" y="115225"/>
            <a:ext cx="3235851" cy="943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696775"/>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it" sz="2040"/>
              <a:t>The goal of 🤗 Transformers library is to provide a single API through which any Transformer model can be loaded, trained, and saved.</a:t>
            </a:r>
            <a:endParaRPr sz="2040"/>
          </a:p>
        </p:txBody>
      </p:sp>
      <p:pic>
        <p:nvPicPr>
          <p:cNvPr id="76" name="Google Shape;76;p16"/>
          <p:cNvPicPr preferRelativeResize="0"/>
          <p:nvPr/>
        </p:nvPicPr>
        <p:blipFill>
          <a:blip r:embed="rId3">
            <a:alphaModFix/>
          </a:blip>
          <a:stretch>
            <a:fillRect/>
          </a:stretch>
        </p:blipFill>
        <p:spPr>
          <a:xfrm>
            <a:off x="942563" y="1538575"/>
            <a:ext cx="7258876" cy="3469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NLP Tasks</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b="1" lang="it"/>
              <a:t>Classifying whole sentences</a:t>
            </a:r>
            <a:r>
              <a:rPr lang="it"/>
              <a:t>: Getting the sentiment of a review, detecting if an email is spam, determining if a sentence is grammatically correct or whether two sentences are logically related or not</a:t>
            </a:r>
            <a:endParaRPr/>
          </a:p>
          <a:p>
            <a:pPr indent="-325755" lvl="0" marL="457200" rtl="0" algn="l">
              <a:spcBef>
                <a:spcPts val="0"/>
              </a:spcBef>
              <a:spcAft>
                <a:spcPts val="0"/>
              </a:spcAft>
              <a:buSzPct val="100000"/>
              <a:buChar char="●"/>
            </a:pPr>
            <a:r>
              <a:rPr b="1" lang="it"/>
              <a:t>Classifying each word in a sentence</a:t>
            </a:r>
            <a:r>
              <a:rPr lang="it"/>
              <a:t>: Identifying the grammatical components of a sentence (noun, verb, adjective), or the named entities (person, location, organization)</a:t>
            </a:r>
            <a:endParaRPr/>
          </a:p>
          <a:p>
            <a:pPr indent="-325755" lvl="0" marL="457200" rtl="0" algn="l">
              <a:spcBef>
                <a:spcPts val="0"/>
              </a:spcBef>
              <a:spcAft>
                <a:spcPts val="0"/>
              </a:spcAft>
              <a:buSzPct val="100000"/>
              <a:buChar char="●"/>
            </a:pPr>
            <a:r>
              <a:rPr b="1" lang="it"/>
              <a:t>Generating text content</a:t>
            </a:r>
            <a:r>
              <a:rPr lang="it"/>
              <a:t>: Completing a prompt with auto-generated text, filling in the blanks in a text with masked words</a:t>
            </a:r>
            <a:endParaRPr/>
          </a:p>
          <a:p>
            <a:pPr indent="-325755" lvl="0" marL="457200" rtl="0" algn="l">
              <a:spcBef>
                <a:spcPts val="0"/>
              </a:spcBef>
              <a:spcAft>
                <a:spcPts val="0"/>
              </a:spcAft>
              <a:buSzPct val="100000"/>
              <a:buChar char="●"/>
            </a:pPr>
            <a:r>
              <a:rPr b="1" lang="it"/>
              <a:t>Extracting an answer from a text</a:t>
            </a:r>
            <a:r>
              <a:rPr lang="it"/>
              <a:t>: Given a question and a context, extracting the answer to the question based on the information provided in the context</a:t>
            </a:r>
            <a:endParaRPr/>
          </a:p>
          <a:p>
            <a:pPr indent="-325755" lvl="0" marL="457200" rtl="0" algn="l">
              <a:spcBef>
                <a:spcPts val="0"/>
              </a:spcBef>
              <a:spcAft>
                <a:spcPts val="0"/>
              </a:spcAft>
              <a:buSzPct val="100000"/>
              <a:buChar char="●"/>
            </a:pPr>
            <a:r>
              <a:rPr b="1" lang="it"/>
              <a:t>Generating a new sentence from an input text</a:t>
            </a:r>
            <a:r>
              <a:rPr lang="it"/>
              <a:t>: Translating a text into another language, summarizing a text</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Pipelines</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it"/>
              <a:t>It connects a model with its necessary preprocessing and postprocessing steps, allowing us to directly input any text and get an intelligible answer</a:t>
            </a:r>
            <a:endParaRPr/>
          </a:p>
          <a:p>
            <a:pPr indent="-334327" lvl="0" marL="457200" rtl="0" algn="l">
              <a:spcBef>
                <a:spcPts val="1200"/>
              </a:spcBef>
              <a:spcAft>
                <a:spcPts val="0"/>
              </a:spcAft>
              <a:buSzPct val="100000"/>
              <a:buChar char="●"/>
            </a:pPr>
            <a:r>
              <a:rPr lang="it"/>
              <a:t>feature-extraction (get the vector representation of a text)</a:t>
            </a:r>
            <a:endParaRPr/>
          </a:p>
          <a:p>
            <a:pPr indent="-334327" lvl="0" marL="457200" rtl="0" algn="l">
              <a:spcBef>
                <a:spcPts val="0"/>
              </a:spcBef>
              <a:spcAft>
                <a:spcPts val="0"/>
              </a:spcAft>
              <a:buSzPct val="100000"/>
              <a:buChar char="●"/>
            </a:pPr>
            <a:r>
              <a:rPr lang="it"/>
              <a:t>fill-mask</a:t>
            </a:r>
            <a:endParaRPr/>
          </a:p>
          <a:p>
            <a:pPr indent="-334327" lvl="0" marL="457200" rtl="0" algn="l">
              <a:spcBef>
                <a:spcPts val="0"/>
              </a:spcBef>
              <a:spcAft>
                <a:spcPts val="0"/>
              </a:spcAft>
              <a:buSzPct val="100000"/>
              <a:buChar char="●"/>
            </a:pPr>
            <a:r>
              <a:rPr lang="it"/>
              <a:t>ner (named entity recognition)</a:t>
            </a:r>
            <a:endParaRPr/>
          </a:p>
          <a:p>
            <a:pPr indent="-334327" lvl="0" marL="457200" rtl="0" algn="l">
              <a:spcBef>
                <a:spcPts val="0"/>
              </a:spcBef>
              <a:spcAft>
                <a:spcPts val="0"/>
              </a:spcAft>
              <a:buSzPct val="100000"/>
              <a:buChar char="●"/>
            </a:pPr>
            <a:r>
              <a:rPr lang="it"/>
              <a:t>question-answering</a:t>
            </a:r>
            <a:endParaRPr/>
          </a:p>
          <a:p>
            <a:pPr indent="-334327" lvl="0" marL="457200" rtl="0" algn="l">
              <a:spcBef>
                <a:spcPts val="0"/>
              </a:spcBef>
              <a:spcAft>
                <a:spcPts val="0"/>
              </a:spcAft>
              <a:buSzPct val="100000"/>
              <a:buChar char="●"/>
            </a:pPr>
            <a:r>
              <a:rPr lang="it"/>
              <a:t>sentiment-analysis</a:t>
            </a:r>
            <a:endParaRPr/>
          </a:p>
          <a:p>
            <a:pPr indent="-334327" lvl="0" marL="457200" rtl="0" algn="l">
              <a:spcBef>
                <a:spcPts val="0"/>
              </a:spcBef>
              <a:spcAft>
                <a:spcPts val="0"/>
              </a:spcAft>
              <a:buSzPct val="100000"/>
              <a:buChar char="●"/>
            </a:pPr>
            <a:r>
              <a:rPr lang="it"/>
              <a:t>summarization</a:t>
            </a:r>
            <a:endParaRPr/>
          </a:p>
          <a:p>
            <a:pPr indent="-334327" lvl="0" marL="457200" rtl="0" algn="l">
              <a:spcBef>
                <a:spcPts val="0"/>
              </a:spcBef>
              <a:spcAft>
                <a:spcPts val="0"/>
              </a:spcAft>
              <a:buSzPct val="100000"/>
              <a:buChar char="●"/>
            </a:pPr>
            <a:r>
              <a:rPr lang="it"/>
              <a:t>text-generation</a:t>
            </a:r>
            <a:endParaRPr/>
          </a:p>
          <a:p>
            <a:pPr indent="-334327" lvl="0" marL="457200" rtl="0" algn="l">
              <a:spcBef>
                <a:spcPts val="0"/>
              </a:spcBef>
              <a:spcAft>
                <a:spcPts val="0"/>
              </a:spcAft>
              <a:buSzPct val="100000"/>
              <a:buChar char="●"/>
            </a:pPr>
            <a:r>
              <a:rPr lang="it"/>
              <a:t>translation</a:t>
            </a:r>
            <a:endParaRPr/>
          </a:p>
          <a:p>
            <a:pPr indent="-334327" lvl="0" marL="457200" rtl="0" algn="l">
              <a:spcBef>
                <a:spcPts val="0"/>
              </a:spcBef>
              <a:spcAft>
                <a:spcPts val="0"/>
              </a:spcAft>
              <a:buSzPct val="100000"/>
              <a:buChar char="●"/>
            </a:pPr>
            <a:r>
              <a:rPr lang="it"/>
              <a:t>zero-shot-classification</a:t>
            </a:r>
            <a:endParaRPr/>
          </a:p>
          <a:p>
            <a:pPr indent="-334327" lvl="0" marL="457200" rtl="0" algn="l">
              <a:spcBef>
                <a:spcPts val="0"/>
              </a:spcBef>
              <a:spcAft>
                <a:spcPts val="0"/>
              </a:spcAft>
              <a:buSzPct val="100000"/>
              <a:buChar char="●"/>
            </a:pPr>
            <a:r>
              <a:rPr lang="it" u="sng">
                <a:solidFill>
                  <a:schemeClr val="hlink"/>
                </a:solidFill>
                <a:hlinkClick r:id="rId3"/>
              </a:rPr>
              <a:t>https://huggingface.co/docs/transformers/main_classes/pipelines</a:t>
            </a:r>
            <a:r>
              <a:rPr lang="it"/>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Sentiment Analysis</a:t>
            </a:r>
            <a:endParaRPr/>
          </a:p>
        </p:txBody>
      </p:sp>
      <p:sp>
        <p:nvSpPr>
          <p:cNvPr id="94" name="Google Shape;94;p19"/>
          <p:cNvSpPr txBox="1"/>
          <p:nvPr>
            <p:ph idx="1" type="body"/>
          </p:nvPr>
        </p:nvSpPr>
        <p:spPr>
          <a:xfrm>
            <a:off x="311700" y="1335750"/>
            <a:ext cx="8520600" cy="247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1450">
                <a:solidFill>
                  <a:srgbClr val="A626A4"/>
                </a:solidFill>
                <a:latin typeface="Courier New"/>
                <a:ea typeface="Courier New"/>
                <a:cs typeface="Courier New"/>
                <a:sym typeface="Courier New"/>
              </a:rPr>
              <a:t>from</a:t>
            </a:r>
            <a:r>
              <a:rPr b="1" lang="it" sz="1450">
                <a:solidFill>
                  <a:srgbClr val="4B5563"/>
                </a:solidFill>
                <a:latin typeface="Courier New"/>
                <a:ea typeface="Courier New"/>
                <a:cs typeface="Courier New"/>
                <a:sym typeface="Courier New"/>
              </a:rPr>
              <a:t> transformers </a:t>
            </a:r>
            <a:r>
              <a:rPr b="1" lang="it" sz="1450">
                <a:solidFill>
                  <a:srgbClr val="A626A4"/>
                </a:solidFill>
                <a:latin typeface="Courier New"/>
                <a:ea typeface="Courier New"/>
                <a:cs typeface="Courier New"/>
                <a:sym typeface="Courier New"/>
              </a:rPr>
              <a:t>import</a:t>
            </a:r>
            <a:r>
              <a:rPr b="1" lang="it" sz="1450">
                <a:solidFill>
                  <a:srgbClr val="4B5563"/>
                </a:solidFill>
                <a:latin typeface="Courier New"/>
                <a:ea typeface="Courier New"/>
                <a:cs typeface="Courier New"/>
                <a:sym typeface="Courier New"/>
              </a:rPr>
              <a:t> pipeline</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classifier = pipeline(</a:t>
            </a:r>
            <a:r>
              <a:rPr b="1" lang="it" sz="1450">
                <a:solidFill>
                  <a:srgbClr val="50A14F"/>
                </a:solidFill>
                <a:latin typeface="Courier New"/>
                <a:ea typeface="Courier New"/>
                <a:cs typeface="Courier New"/>
                <a:sym typeface="Courier New"/>
              </a:rPr>
              <a:t>"sentiment-analysis"</a:t>
            </a:r>
            <a:r>
              <a:rPr b="1" lang="it" sz="1450">
                <a:solidFill>
                  <a:srgbClr val="4B5563"/>
                </a:solidFill>
                <a:latin typeface="Courier New"/>
                <a:ea typeface="Courier New"/>
                <a:cs typeface="Courier New"/>
                <a:sym typeface="Courier New"/>
              </a:rPr>
              <a:t>)</a:t>
            </a:r>
            <a:endParaRPr b="1" sz="14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Clr>
                <a:schemeClr val="dk1"/>
              </a:buClr>
              <a:buSzPts val="1100"/>
              <a:buFont typeface="Arial"/>
              <a:buNone/>
            </a:pPr>
            <a:r>
              <a:rPr b="1" lang="it" sz="1450">
                <a:solidFill>
                  <a:srgbClr val="4B5563"/>
                </a:solidFill>
                <a:latin typeface="Courier New"/>
                <a:ea typeface="Courier New"/>
                <a:cs typeface="Courier New"/>
                <a:sym typeface="Courier New"/>
              </a:rPr>
              <a:t>classifier(</a:t>
            </a:r>
            <a:r>
              <a:rPr b="1" lang="it" sz="1450">
                <a:solidFill>
                  <a:srgbClr val="50A14F"/>
                </a:solidFill>
                <a:latin typeface="Courier New"/>
                <a:ea typeface="Courier New"/>
                <a:cs typeface="Courier New"/>
                <a:sym typeface="Courier New"/>
              </a:rPr>
              <a:t>"I've been waiting for a HuggingFace course my whole life."</a:t>
            </a:r>
            <a:r>
              <a:rPr b="1" lang="it" sz="1450">
                <a:solidFill>
                  <a:srgbClr val="4B5563"/>
                </a:solidFill>
                <a:latin typeface="Courier New"/>
                <a:ea typeface="Courier New"/>
                <a:cs typeface="Courier New"/>
                <a:sym typeface="Courier New"/>
              </a:rPr>
              <a:t>)</a:t>
            </a:r>
            <a:endParaRPr b="1" sz="14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1600"/>
              </a:spcAft>
              <a:buNone/>
            </a:pPr>
            <a:r>
              <a:rPr b="1" lang="it" sz="1450">
                <a:solidFill>
                  <a:srgbClr val="4B5563"/>
                </a:solidFill>
                <a:latin typeface="Courier New"/>
                <a:ea typeface="Courier New"/>
                <a:cs typeface="Courier New"/>
                <a:sym typeface="Courier New"/>
              </a:rPr>
              <a:t>[{</a:t>
            </a:r>
            <a:r>
              <a:rPr b="1" lang="it" sz="1450">
                <a:solidFill>
                  <a:srgbClr val="50A14F"/>
                </a:solidFill>
                <a:latin typeface="Courier New"/>
                <a:ea typeface="Courier New"/>
                <a:cs typeface="Courier New"/>
                <a:sym typeface="Courier New"/>
              </a:rPr>
              <a:t>'label'</a:t>
            </a:r>
            <a:r>
              <a:rPr b="1" lang="it" sz="1450">
                <a:solidFill>
                  <a:srgbClr val="4B5563"/>
                </a:solidFill>
                <a:latin typeface="Courier New"/>
                <a:ea typeface="Courier New"/>
                <a:cs typeface="Courier New"/>
                <a:sym typeface="Courier New"/>
              </a:rPr>
              <a:t>: </a:t>
            </a:r>
            <a:r>
              <a:rPr b="1" lang="it" sz="1450">
                <a:solidFill>
                  <a:srgbClr val="50A14F"/>
                </a:solidFill>
                <a:latin typeface="Courier New"/>
                <a:ea typeface="Courier New"/>
                <a:cs typeface="Courier New"/>
                <a:sym typeface="Courier New"/>
              </a:rPr>
              <a:t>'POSITIVE'</a:t>
            </a:r>
            <a:r>
              <a:rPr b="1" lang="it" sz="1450">
                <a:solidFill>
                  <a:srgbClr val="4B5563"/>
                </a:solidFill>
                <a:latin typeface="Courier New"/>
                <a:ea typeface="Courier New"/>
                <a:cs typeface="Courier New"/>
                <a:sym typeface="Courier New"/>
              </a:rPr>
              <a:t>, </a:t>
            </a:r>
            <a:r>
              <a:rPr b="1" lang="it" sz="1450">
                <a:solidFill>
                  <a:srgbClr val="50A14F"/>
                </a:solidFill>
                <a:latin typeface="Courier New"/>
                <a:ea typeface="Courier New"/>
                <a:cs typeface="Courier New"/>
                <a:sym typeface="Courier New"/>
              </a:rPr>
              <a:t>'score'</a:t>
            </a:r>
            <a:r>
              <a:rPr b="1" lang="it" sz="1450">
                <a:solidFill>
                  <a:srgbClr val="4B5563"/>
                </a:solidFill>
                <a:latin typeface="Courier New"/>
                <a:ea typeface="Courier New"/>
                <a:cs typeface="Courier New"/>
                <a:sym typeface="Courier New"/>
              </a:rPr>
              <a:t>: </a:t>
            </a:r>
            <a:r>
              <a:rPr b="1" lang="it" sz="1450">
                <a:solidFill>
                  <a:srgbClr val="986801"/>
                </a:solidFill>
                <a:latin typeface="Courier New"/>
                <a:ea typeface="Courier New"/>
                <a:cs typeface="Courier New"/>
                <a:sym typeface="Courier New"/>
              </a:rPr>
              <a:t>0.9598047137260437</a:t>
            </a:r>
            <a:r>
              <a:rPr b="1" lang="it" sz="1450">
                <a:solidFill>
                  <a:srgbClr val="4B5563"/>
                </a:solidFill>
                <a:latin typeface="Courier New"/>
                <a:ea typeface="Courier New"/>
                <a:cs typeface="Courier New"/>
                <a:sym typeface="Courier New"/>
              </a:rPr>
              <a:t>}]</a:t>
            </a:r>
            <a:endParaRPr b="1" sz="2300">
              <a:solidFill>
                <a:srgbClr val="C27BA0"/>
              </a:solidFill>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Zero-shot classification</a:t>
            </a:r>
            <a:endParaRPr/>
          </a:p>
        </p:txBody>
      </p:sp>
      <p:sp>
        <p:nvSpPr>
          <p:cNvPr id="100" name="Google Shape;100;p20"/>
          <p:cNvSpPr txBox="1"/>
          <p:nvPr>
            <p:ph idx="1" type="body"/>
          </p:nvPr>
        </p:nvSpPr>
        <p:spPr>
          <a:xfrm>
            <a:off x="311700" y="1152475"/>
            <a:ext cx="8520600" cy="3885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it" sz="1800"/>
              <a:t>It allows you to specify which labels to use for the classification, so you don’t have to rely on the labels of the pretrained model.</a:t>
            </a:r>
            <a:endParaRPr sz="1800"/>
          </a:p>
          <a:p>
            <a:pPr indent="0" lvl="0" marL="0" rtl="0" algn="l">
              <a:spcBef>
                <a:spcPts val="1200"/>
              </a:spcBef>
              <a:spcAft>
                <a:spcPts val="0"/>
              </a:spcAft>
              <a:buNone/>
            </a:pPr>
            <a:r>
              <a:rPr b="1" lang="it" sz="1304">
                <a:solidFill>
                  <a:srgbClr val="A626A4"/>
                </a:solidFill>
                <a:latin typeface="Courier New"/>
                <a:ea typeface="Courier New"/>
                <a:cs typeface="Courier New"/>
                <a:sym typeface="Courier New"/>
              </a:rPr>
              <a:t>from</a:t>
            </a:r>
            <a:r>
              <a:rPr b="1" lang="it" sz="1304">
                <a:solidFill>
                  <a:srgbClr val="4B5563"/>
                </a:solidFill>
                <a:latin typeface="Courier New"/>
                <a:ea typeface="Courier New"/>
                <a:cs typeface="Courier New"/>
                <a:sym typeface="Courier New"/>
              </a:rPr>
              <a:t> transformers </a:t>
            </a:r>
            <a:r>
              <a:rPr b="1" lang="it" sz="1304">
                <a:solidFill>
                  <a:srgbClr val="A626A4"/>
                </a:solidFill>
                <a:latin typeface="Courier New"/>
                <a:ea typeface="Courier New"/>
                <a:cs typeface="Courier New"/>
                <a:sym typeface="Courier New"/>
              </a:rPr>
              <a:t>import</a:t>
            </a:r>
            <a:r>
              <a:rPr b="1" lang="it" sz="1304">
                <a:solidFill>
                  <a:srgbClr val="4B5563"/>
                </a:solidFill>
                <a:latin typeface="Courier New"/>
                <a:ea typeface="Courier New"/>
                <a:cs typeface="Courier New"/>
                <a:sym typeface="Courier New"/>
              </a:rPr>
              <a:t> pipeline</a:t>
            </a:r>
            <a:endParaRPr b="1" sz="1304">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304">
                <a:solidFill>
                  <a:srgbClr val="4B5563"/>
                </a:solidFill>
                <a:latin typeface="Courier New"/>
                <a:ea typeface="Courier New"/>
                <a:cs typeface="Courier New"/>
                <a:sym typeface="Courier New"/>
              </a:rPr>
              <a:t>classifier = pipeline(</a:t>
            </a:r>
            <a:r>
              <a:rPr b="1" lang="it" sz="1304">
                <a:solidFill>
                  <a:srgbClr val="50A14F"/>
                </a:solidFill>
                <a:latin typeface="Courier New"/>
                <a:ea typeface="Courier New"/>
                <a:cs typeface="Courier New"/>
                <a:sym typeface="Courier New"/>
              </a:rPr>
              <a:t>"zero-shot-classification"</a:t>
            </a:r>
            <a:r>
              <a:rPr b="1" lang="it" sz="1304">
                <a:solidFill>
                  <a:srgbClr val="4B5563"/>
                </a:solidFill>
                <a:latin typeface="Courier New"/>
                <a:ea typeface="Courier New"/>
                <a:cs typeface="Courier New"/>
                <a:sym typeface="Courier New"/>
              </a:rPr>
              <a:t>)</a:t>
            </a:r>
            <a:endParaRPr b="1" sz="1304">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304">
                <a:solidFill>
                  <a:srgbClr val="4B5563"/>
                </a:solidFill>
                <a:latin typeface="Courier New"/>
                <a:ea typeface="Courier New"/>
                <a:cs typeface="Courier New"/>
                <a:sym typeface="Courier New"/>
              </a:rPr>
              <a:t>classifier(</a:t>
            </a:r>
            <a:endParaRPr b="1" sz="1304">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304">
                <a:solidFill>
                  <a:srgbClr val="4B5563"/>
                </a:solidFill>
                <a:latin typeface="Courier New"/>
                <a:ea typeface="Courier New"/>
                <a:cs typeface="Courier New"/>
                <a:sym typeface="Courier New"/>
              </a:rPr>
              <a:t>    </a:t>
            </a:r>
            <a:r>
              <a:rPr b="1" lang="it" sz="1304">
                <a:solidFill>
                  <a:srgbClr val="50A14F"/>
                </a:solidFill>
                <a:latin typeface="Courier New"/>
                <a:ea typeface="Courier New"/>
                <a:cs typeface="Courier New"/>
                <a:sym typeface="Courier New"/>
              </a:rPr>
              <a:t>"This is a course about the Transformers library"</a:t>
            </a:r>
            <a:r>
              <a:rPr b="1" lang="it" sz="1304">
                <a:solidFill>
                  <a:srgbClr val="4B5563"/>
                </a:solidFill>
                <a:latin typeface="Courier New"/>
                <a:ea typeface="Courier New"/>
                <a:cs typeface="Courier New"/>
                <a:sym typeface="Courier New"/>
              </a:rPr>
              <a:t>,</a:t>
            </a:r>
            <a:endParaRPr b="1" sz="1304">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304">
                <a:solidFill>
                  <a:srgbClr val="4B5563"/>
                </a:solidFill>
                <a:latin typeface="Courier New"/>
                <a:ea typeface="Courier New"/>
                <a:cs typeface="Courier New"/>
                <a:sym typeface="Courier New"/>
              </a:rPr>
              <a:t>    candidate_labels=[</a:t>
            </a:r>
            <a:r>
              <a:rPr b="1" lang="it" sz="1304">
                <a:solidFill>
                  <a:srgbClr val="50A14F"/>
                </a:solidFill>
                <a:latin typeface="Courier New"/>
                <a:ea typeface="Courier New"/>
                <a:cs typeface="Courier New"/>
                <a:sym typeface="Courier New"/>
              </a:rPr>
              <a:t>"education"</a:t>
            </a:r>
            <a:r>
              <a:rPr b="1" lang="it" sz="1304">
                <a:solidFill>
                  <a:srgbClr val="4B5563"/>
                </a:solidFill>
                <a:latin typeface="Courier New"/>
                <a:ea typeface="Courier New"/>
                <a:cs typeface="Courier New"/>
                <a:sym typeface="Courier New"/>
              </a:rPr>
              <a:t>, </a:t>
            </a:r>
            <a:r>
              <a:rPr b="1" lang="it" sz="1304">
                <a:solidFill>
                  <a:srgbClr val="50A14F"/>
                </a:solidFill>
                <a:latin typeface="Courier New"/>
                <a:ea typeface="Courier New"/>
                <a:cs typeface="Courier New"/>
                <a:sym typeface="Courier New"/>
              </a:rPr>
              <a:t>"politics"</a:t>
            </a:r>
            <a:r>
              <a:rPr b="1" lang="it" sz="1304">
                <a:solidFill>
                  <a:srgbClr val="4B5563"/>
                </a:solidFill>
                <a:latin typeface="Courier New"/>
                <a:ea typeface="Courier New"/>
                <a:cs typeface="Courier New"/>
                <a:sym typeface="Courier New"/>
              </a:rPr>
              <a:t>, </a:t>
            </a:r>
            <a:r>
              <a:rPr b="1" lang="it" sz="1304">
                <a:solidFill>
                  <a:srgbClr val="50A14F"/>
                </a:solidFill>
                <a:latin typeface="Courier New"/>
                <a:ea typeface="Courier New"/>
                <a:cs typeface="Courier New"/>
                <a:sym typeface="Courier New"/>
              </a:rPr>
              <a:t>"business"</a:t>
            </a:r>
            <a:r>
              <a:rPr b="1" lang="it" sz="1304">
                <a:solidFill>
                  <a:srgbClr val="4B5563"/>
                </a:solidFill>
                <a:latin typeface="Courier New"/>
                <a:ea typeface="Courier New"/>
                <a:cs typeface="Courier New"/>
                <a:sym typeface="Courier New"/>
              </a:rPr>
              <a:t>],</a:t>
            </a:r>
            <a:endParaRPr b="1" sz="1304">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Clr>
                <a:schemeClr val="dk1"/>
              </a:buClr>
              <a:buSzPts val="1100"/>
              <a:buFont typeface="Arial"/>
              <a:buNone/>
            </a:pPr>
            <a:r>
              <a:rPr b="1" lang="it" sz="1304">
                <a:solidFill>
                  <a:srgbClr val="4B5563"/>
                </a:solidFill>
                <a:latin typeface="Courier New"/>
                <a:ea typeface="Courier New"/>
                <a:cs typeface="Courier New"/>
                <a:sym typeface="Courier New"/>
              </a:rPr>
              <a:t>)</a:t>
            </a:r>
            <a:endParaRPr b="1" sz="1304">
              <a:solidFill>
                <a:srgbClr val="4B5563"/>
              </a:solidFill>
              <a:latin typeface="Courier New"/>
              <a:ea typeface="Courier New"/>
              <a:cs typeface="Courier New"/>
              <a:sym typeface="Courier New"/>
            </a:endParaRPr>
          </a:p>
          <a:p>
            <a:pPr indent="0" lvl="0" marL="0" rtl="0" algn="l">
              <a:spcBef>
                <a:spcPts val="1600"/>
              </a:spcBef>
              <a:spcAft>
                <a:spcPts val="0"/>
              </a:spcAft>
              <a:buNone/>
            </a:pPr>
            <a:r>
              <a:rPr b="1" lang="it" sz="1304">
                <a:solidFill>
                  <a:srgbClr val="4B5563"/>
                </a:solidFill>
                <a:latin typeface="Courier New"/>
                <a:ea typeface="Courier New"/>
                <a:cs typeface="Courier New"/>
                <a:sym typeface="Courier New"/>
              </a:rPr>
              <a:t>{</a:t>
            </a:r>
            <a:r>
              <a:rPr b="1" lang="it" sz="1304">
                <a:solidFill>
                  <a:srgbClr val="50A14F"/>
                </a:solidFill>
                <a:latin typeface="Courier New"/>
                <a:ea typeface="Courier New"/>
                <a:cs typeface="Courier New"/>
                <a:sym typeface="Courier New"/>
              </a:rPr>
              <a:t>'sequence'</a:t>
            </a:r>
            <a:r>
              <a:rPr b="1" lang="it" sz="1304">
                <a:solidFill>
                  <a:srgbClr val="4B5563"/>
                </a:solidFill>
                <a:latin typeface="Courier New"/>
                <a:ea typeface="Courier New"/>
                <a:cs typeface="Courier New"/>
                <a:sym typeface="Courier New"/>
              </a:rPr>
              <a:t>: </a:t>
            </a:r>
            <a:r>
              <a:rPr b="1" lang="it" sz="1304">
                <a:solidFill>
                  <a:srgbClr val="50A14F"/>
                </a:solidFill>
                <a:latin typeface="Courier New"/>
                <a:ea typeface="Courier New"/>
                <a:cs typeface="Courier New"/>
                <a:sym typeface="Courier New"/>
              </a:rPr>
              <a:t>'This is a course about the Transformers library'</a:t>
            </a:r>
            <a:r>
              <a:rPr b="1" lang="it" sz="1304">
                <a:solidFill>
                  <a:srgbClr val="4B5563"/>
                </a:solidFill>
                <a:latin typeface="Courier New"/>
                <a:ea typeface="Courier New"/>
                <a:cs typeface="Courier New"/>
                <a:sym typeface="Courier New"/>
              </a:rPr>
              <a:t>,</a:t>
            </a:r>
            <a:endParaRPr b="1" sz="1304">
              <a:solidFill>
                <a:srgbClr val="4B5563"/>
              </a:solidFill>
              <a:latin typeface="Courier New"/>
              <a:ea typeface="Courier New"/>
              <a:cs typeface="Courier New"/>
              <a:sym typeface="Courier New"/>
            </a:endParaRPr>
          </a:p>
          <a:p>
            <a:pPr indent="0" lvl="0" marL="0" rtl="0" algn="l">
              <a:spcBef>
                <a:spcPts val="1200"/>
              </a:spcBef>
              <a:spcAft>
                <a:spcPts val="1200"/>
              </a:spcAft>
              <a:buNone/>
            </a:pPr>
            <a:r>
              <a:rPr b="1" lang="it" sz="1304">
                <a:solidFill>
                  <a:srgbClr val="4B5563"/>
                </a:solidFill>
                <a:latin typeface="Courier New"/>
                <a:ea typeface="Courier New"/>
                <a:cs typeface="Courier New"/>
                <a:sym typeface="Courier New"/>
              </a:rPr>
              <a:t> </a:t>
            </a:r>
            <a:r>
              <a:rPr b="1" lang="it" sz="1304">
                <a:solidFill>
                  <a:srgbClr val="50A14F"/>
                </a:solidFill>
                <a:latin typeface="Courier New"/>
                <a:ea typeface="Courier New"/>
                <a:cs typeface="Courier New"/>
                <a:sym typeface="Courier New"/>
              </a:rPr>
              <a:t>'labels'</a:t>
            </a:r>
            <a:r>
              <a:rPr b="1" lang="it" sz="1304">
                <a:solidFill>
                  <a:srgbClr val="4B5563"/>
                </a:solidFill>
                <a:latin typeface="Courier New"/>
                <a:ea typeface="Courier New"/>
                <a:cs typeface="Courier New"/>
                <a:sym typeface="Courier New"/>
              </a:rPr>
              <a:t>: [</a:t>
            </a:r>
            <a:r>
              <a:rPr b="1" lang="it" sz="1304">
                <a:solidFill>
                  <a:srgbClr val="50A14F"/>
                </a:solidFill>
                <a:latin typeface="Courier New"/>
                <a:ea typeface="Courier New"/>
                <a:cs typeface="Courier New"/>
                <a:sym typeface="Courier New"/>
              </a:rPr>
              <a:t>'education'</a:t>
            </a:r>
            <a:r>
              <a:rPr b="1" lang="it" sz="1304">
                <a:solidFill>
                  <a:srgbClr val="4B5563"/>
                </a:solidFill>
                <a:latin typeface="Courier New"/>
                <a:ea typeface="Courier New"/>
                <a:cs typeface="Courier New"/>
                <a:sym typeface="Courier New"/>
              </a:rPr>
              <a:t>, </a:t>
            </a:r>
            <a:r>
              <a:rPr b="1" lang="it" sz="1304">
                <a:solidFill>
                  <a:srgbClr val="50A14F"/>
                </a:solidFill>
                <a:latin typeface="Courier New"/>
                <a:ea typeface="Courier New"/>
                <a:cs typeface="Courier New"/>
                <a:sym typeface="Courier New"/>
              </a:rPr>
              <a:t>'business'</a:t>
            </a:r>
            <a:r>
              <a:rPr b="1" lang="it" sz="1304">
                <a:solidFill>
                  <a:srgbClr val="4B5563"/>
                </a:solidFill>
                <a:latin typeface="Courier New"/>
                <a:ea typeface="Courier New"/>
                <a:cs typeface="Courier New"/>
                <a:sym typeface="Courier New"/>
              </a:rPr>
              <a:t>, </a:t>
            </a:r>
            <a:r>
              <a:rPr b="1" lang="it" sz="1304">
                <a:solidFill>
                  <a:srgbClr val="50A14F"/>
                </a:solidFill>
                <a:latin typeface="Courier New"/>
                <a:ea typeface="Courier New"/>
                <a:cs typeface="Courier New"/>
                <a:sym typeface="Courier New"/>
              </a:rPr>
              <a:t>'politics'</a:t>
            </a:r>
            <a:r>
              <a:rPr b="1" lang="it" sz="1304">
                <a:solidFill>
                  <a:srgbClr val="4B5563"/>
                </a:solidFill>
                <a:latin typeface="Courier New"/>
                <a:ea typeface="Courier New"/>
                <a:cs typeface="Courier New"/>
                <a:sym typeface="Courier New"/>
              </a:rPr>
              <a:t>], </a:t>
            </a:r>
            <a:r>
              <a:rPr b="1" lang="it" sz="1304">
                <a:solidFill>
                  <a:srgbClr val="50A14F"/>
                </a:solidFill>
                <a:latin typeface="Courier New"/>
                <a:ea typeface="Courier New"/>
                <a:cs typeface="Courier New"/>
                <a:sym typeface="Courier New"/>
              </a:rPr>
              <a:t>'scores'</a:t>
            </a:r>
            <a:r>
              <a:rPr b="1" lang="it" sz="1304">
                <a:solidFill>
                  <a:srgbClr val="4B5563"/>
                </a:solidFill>
                <a:latin typeface="Courier New"/>
                <a:ea typeface="Courier New"/>
                <a:cs typeface="Courier New"/>
                <a:sym typeface="Courier New"/>
              </a:rPr>
              <a:t>: [</a:t>
            </a:r>
            <a:r>
              <a:rPr b="1" lang="it" sz="1304">
                <a:solidFill>
                  <a:srgbClr val="986801"/>
                </a:solidFill>
                <a:latin typeface="Courier New"/>
                <a:ea typeface="Courier New"/>
                <a:cs typeface="Courier New"/>
                <a:sym typeface="Courier New"/>
              </a:rPr>
              <a:t>0.844</a:t>
            </a:r>
            <a:r>
              <a:rPr b="1" lang="it" sz="1304">
                <a:solidFill>
                  <a:srgbClr val="4B5563"/>
                </a:solidFill>
                <a:latin typeface="Courier New"/>
                <a:ea typeface="Courier New"/>
                <a:cs typeface="Courier New"/>
                <a:sym typeface="Courier New"/>
              </a:rPr>
              <a:t>, </a:t>
            </a:r>
            <a:r>
              <a:rPr b="1" lang="it" sz="1304">
                <a:solidFill>
                  <a:srgbClr val="986801"/>
                </a:solidFill>
                <a:latin typeface="Courier New"/>
                <a:ea typeface="Courier New"/>
                <a:cs typeface="Courier New"/>
                <a:sym typeface="Courier New"/>
              </a:rPr>
              <a:t>0.112</a:t>
            </a:r>
            <a:r>
              <a:rPr b="1" lang="it" sz="1304">
                <a:solidFill>
                  <a:srgbClr val="4B5563"/>
                </a:solidFill>
                <a:latin typeface="Courier New"/>
                <a:ea typeface="Courier New"/>
                <a:cs typeface="Courier New"/>
                <a:sym typeface="Courier New"/>
              </a:rPr>
              <a:t>, </a:t>
            </a:r>
            <a:r>
              <a:rPr b="1" lang="it" sz="1304">
                <a:solidFill>
                  <a:srgbClr val="986801"/>
                </a:solidFill>
                <a:latin typeface="Courier New"/>
                <a:ea typeface="Courier New"/>
                <a:cs typeface="Courier New"/>
                <a:sym typeface="Courier New"/>
              </a:rPr>
              <a:t>0.0434</a:t>
            </a:r>
            <a:r>
              <a:rPr b="1" lang="it" sz="1304">
                <a:solidFill>
                  <a:srgbClr val="4B5563"/>
                </a:solidFill>
                <a:latin typeface="Courier New"/>
                <a:ea typeface="Courier New"/>
                <a:cs typeface="Courier New"/>
                <a:sym typeface="Courier New"/>
              </a:rPr>
              <a:t>]}</a:t>
            </a:r>
            <a:endParaRPr b="1" sz="2154"/>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Text generation</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Y</a:t>
            </a:r>
            <a:r>
              <a:rPr lang="it"/>
              <a:t>ou provide a prompt and the model will auto-complete it by generating the remaining text</a:t>
            </a:r>
            <a:endParaRPr/>
          </a:p>
          <a:p>
            <a:pPr indent="0" lvl="0" marL="0" rtl="0" algn="l">
              <a:spcBef>
                <a:spcPts val="1200"/>
              </a:spcBef>
              <a:spcAft>
                <a:spcPts val="0"/>
              </a:spcAft>
              <a:buNone/>
            </a:pPr>
            <a:r>
              <a:rPr b="1" lang="it" sz="1450">
                <a:solidFill>
                  <a:srgbClr val="A626A4"/>
                </a:solidFill>
                <a:latin typeface="Courier New"/>
                <a:ea typeface="Courier New"/>
                <a:cs typeface="Courier New"/>
                <a:sym typeface="Courier New"/>
              </a:rPr>
              <a:t>from</a:t>
            </a:r>
            <a:r>
              <a:rPr b="1" lang="it" sz="1450">
                <a:solidFill>
                  <a:srgbClr val="4B5563"/>
                </a:solidFill>
                <a:latin typeface="Courier New"/>
                <a:ea typeface="Courier New"/>
                <a:cs typeface="Courier New"/>
                <a:sym typeface="Courier New"/>
              </a:rPr>
              <a:t> transformers </a:t>
            </a:r>
            <a:r>
              <a:rPr b="1" lang="it" sz="1450">
                <a:solidFill>
                  <a:srgbClr val="A626A4"/>
                </a:solidFill>
                <a:latin typeface="Courier New"/>
                <a:ea typeface="Courier New"/>
                <a:cs typeface="Courier New"/>
                <a:sym typeface="Courier New"/>
              </a:rPr>
              <a:t>import</a:t>
            </a:r>
            <a:r>
              <a:rPr b="1" lang="it" sz="1450">
                <a:solidFill>
                  <a:srgbClr val="4B5563"/>
                </a:solidFill>
                <a:latin typeface="Courier New"/>
                <a:ea typeface="Courier New"/>
                <a:cs typeface="Courier New"/>
                <a:sym typeface="Courier New"/>
              </a:rPr>
              <a:t> pipeline</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generator = pipeline(</a:t>
            </a:r>
            <a:r>
              <a:rPr b="1" lang="it" sz="1450">
                <a:solidFill>
                  <a:srgbClr val="50A14F"/>
                </a:solidFill>
                <a:latin typeface="Courier New"/>
                <a:ea typeface="Courier New"/>
                <a:cs typeface="Courier New"/>
                <a:sym typeface="Courier New"/>
              </a:rPr>
              <a:t>"text-generation"</a:t>
            </a:r>
            <a:r>
              <a:rPr b="1" lang="it" sz="1450">
                <a:solidFill>
                  <a:srgbClr val="4B5563"/>
                </a:solidFill>
                <a:latin typeface="Courier New"/>
                <a:ea typeface="Courier New"/>
                <a:cs typeface="Courier New"/>
                <a:sym typeface="Courier New"/>
              </a:rPr>
              <a:t>)</a:t>
            </a:r>
            <a:endParaRPr b="1" sz="14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Clr>
                <a:schemeClr val="dk1"/>
              </a:buClr>
              <a:buSzPts val="1100"/>
              <a:buFont typeface="Arial"/>
              <a:buNone/>
            </a:pPr>
            <a:r>
              <a:rPr b="1" lang="it" sz="1450">
                <a:solidFill>
                  <a:srgbClr val="4B5563"/>
                </a:solidFill>
                <a:latin typeface="Courier New"/>
                <a:ea typeface="Courier New"/>
                <a:cs typeface="Courier New"/>
                <a:sym typeface="Courier New"/>
              </a:rPr>
              <a:t>generator(</a:t>
            </a:r>
            <a:r>
              <a:rPr b="1" lang="it" sz="1450">
                <a:solidFill>
                  <a:srgbClr val="50A14F"/>
                </a:solidFill>
                <a:latin typeface="Courier New"/>
                <a:ea typeface="Courier New"/>
                <a:cs typeface="Courier New"/>
                <a:sym typeface="Courier New"/>
              </a:rPr>
              <a:t>"In this course, we will teach you how to"</a:t>
            </a:r>
            <a:r>
              <a:rPr b="1" lang="it" sz="1450">
                <a:solidFill>
                  <a:srgbClr val="4B5563"/>
                </a:solidFill>
                <a:latin typeface="Courier New"/>
                <a:ea typeface="Courier New"/>
                <a:cs typeface="Courier New"/>
                <a:sym typeface="Courier New"/>
              </a:rPr>
              <a:t>)</a:t>
            </a:r>
            <a:endParaRPr b="1" sz="1450">
              <a:solidFill>
                <a:srgbClr val="4B5563"/>
              </a:solidFill>
              <a:latin typeface="Courier New"/>
              <a:ea typeface="Courier New"/>
              <a:cs typeface="Courier New"/>
              <a:sym typeface="Courier New"/>
            </a:endParaRPr>
          </a:p>
          <a:p>
            <a:pPr indent="0" lvl="0" marL="0" rtl="0" algn="l">
              <a:spcBef>
                <a:spcPts val="1600"/>
              </a:spcBef>
              <a:spcAft>
                <a:spcPts val="1200"/>
              </a:spcAft>
              <a:buNone/>
            </a:pPr>
            <a:r>
              <a:rPr b="1" lang="it" sz="1450">
                <a:solidFill>
                  <a:srgbClr val="4B5563"/>
                </a:solidFill>
                <a:latin typeface="Courier New"/>
                <a:ea typeface="Courier New"/>
                <a:cs typeface="Courier New"/>
                <a:sym typeface="Courier New"/>
              </a:rPr>
              <a:t>[{</a:t>
            </a:r>
            <a:r>
              <a:rPr b="1" lang="it" sz="1450">
                <a:solidFill>
                  <a:srgbClr val="50A14F"/>
                </a:solidFill>
                <a:latin typeface="Courier New"/>
                <a:ea typeface="Courier New"/>
                <a:cs typeface="Courier New"/>
                <a:sym typeface="Courier New"/>
              </a:rPr>
              <a:t>'generated_text'</a:t>
            </a:r>
            <a:r>
              <a:rPr b="1" lang="it" sz="1450">
                <a:solidFill>
                  <a:srgbClr val="4B5563"/>
                </a:solidFill>
                <a:latin typeface="Courier New"/>
                <a:ea typeface="Courier New"/>
                <a:cs typeface="Courier New"/>
                <a:sym typeface="Courier New"/>
              </a:rPr>
              <a:t>: </a:t>
            </a:r>
            <a:r>
              <a:rPr b="1" lang="it" sz="1450">
                <a:solidFill>
                  <a:srgbClr val="50A14F"/>
                </a:solidFill>
                <a:latin typeface="Courier New"/>
                <a:ea typeface="Courier New"/>
                <a:cs typeface="Courier New"/>
                <a:sym typeface="Courier New"/>
              </a:rPr>
              <a:t>'In this course, we will teach you how to understand and use data flow and data interchange when handling user data. We will be working with one or more of the most commonly used data flows — data flows of various types, as seen by the 'HTTP'</a:t>
            </a:r>
            <a:r>
              <a:rPr b="1" lang="it" sz="1450">
                <a:solidFill>
                  <a:srgbClr val="4B5563"/>
                </a:solidFill>
                <a:latin typeface="Courier New"/>
                <a:ea typeface="Courier New"/>
                <a:cs typeface="Courier New"/>
                <a:sym typeface="Courier New"/>
              </a:rPr>
              <a:t>}]</a:t>
            </a:r>
            <a:endParaRPr b="1" sz="2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Using any model from the Hub in a pipeline</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The previous examples used the default model for the task at hand, but you can also choose a particular model from the Model Hub</a:t>
            </a:r>
            <a:endParaRPr/>
          </a:p>
          <a:p>
            <a:pPr indent="0" lvl="0" marL="0" rtl="0" algn="l">
              <a:spcBef>
                <a:spcPts val="1200"/>
              </a:spcBef>
              <a:spcAft>
                <a:spcPts val="0"/>
              </a:spcAft>
              <a:buNone/>
            </a:pPr>
            <a:r>
              <a:rPr b="1" lang="it" sz="1450">
                <a:solidFill>
                  <a:srgbClr val="A626A4"/>
                </a:solidFill>
                <a:latin typeface="Courier New"/>
                <a:ea typeface="Courier New"/>
                <a:cs typeface="Courier New"/>
                <a:sym typeface="Courier New"/>
              </a:rPr>
              <a:t>from</a:t>
            </a:r>
            <a:r>
              <a:rPr b="1" lang="it" sz="1450">
                <a:solidFill>
                  <a:srgbClr val="4B5563"/>
                </a:solidFill>
                <a:latin typeface="Courier New"/>
                <a:ea typeface="Courier New"/>
                <a:cs typeface="Courier New"/>
                <a:sym typeface="Courier New"/>
              </a:rPr>
              <a:t> transformers </a:t>
            </a:r>
            <a:r>
              <a:rPr b="1" lang="it" sz="1450">
                <a:solidFill>
                  <a:srgbClr val="A626A4"/>
                </a:solidFill>
                <a:latin typeface="Courier New"/>
                <a:ea typeface="Courier New"/>
                <a:cs typeface="Courier New"/>
                <a:sym typeface="Courier New"/>
              </a:rPr>
              <a:t>import</a:t>
            </a:r>
            <a:r>
              <a:rPr b="1" lang="it" sz="1450">
                <a:solidFill>
                  <a:srgbClr val="4B5563"/>
                </a:solidFill>
                <a:latin typeface="Courier New"/>
                <a:ea typeface="Courier New"/>
                <a:cs typeface="Courier New"/>
                <a:sym typeface="Courier New"/>
              </a:rPr>
              <a:t> pipeline</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generator = pipeline(</a:t>
            </a:r>
            <a:r>
              <a:rPr b="1" lang="it" sz="1450">
                <a:solidFill>
                  <a:srgbClr val="50A14F"/>
                </a:solidFill>
                <a:latin typeface="Courier New"/>
                <a:ea typeface="Courier New"/>
                <a:cs typeface="Courier New"/>
                <a:sym typeface="Courier New"/>
              </a:rPr>
              <a:t>"text-generation"</a:t>
            </a:r>
            <a:r>
              <a:rPr b="1" lang="it" sz="1450">
                <a:solidFill>
                  <a:srgbClr val="4B5563"/>
                </a:solidFill>
                <a:latin typeface="Courier New"/>
                <a:ea typeface="Courier New"/>
                <a:cs typeface="Courier New"/>
                <a:sym typeface="Courier New"/>
              </a:rPr>
              <a:t>, model=</a:t>
            </a:r>
            <a:r>
              <a:rPr b="1" lang="it" sz="1450">
                <a:solidFill>
                  <a:srgbClr val="50A14F"/>
                </a:solidFill>
                <a:latin typeface="Courier New"/>
                <a:ea typeface="Courier New"/>
                <a:cs typeface="Courier New"/>
                <a:sym typeface="Courier New"/>
              </a:rPr>
              <a:t>"distilgpt2"</a:t>
            </a:r>
            <a:r>
              <a:rPr b="1" lang="it" sz="1450">
                <a:solidFill>
                  <a:srgbClr val="4B5563"/>
                </a:solidFill>
                <a:latin typeface="Courier New"/>
                <a:ea typeface="Courier New"/>
                <a:cs typeface="Courier New"/>
                <a:sym typeface="Courier New"/>
              </a:rPr>
              <a:t>)</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generator(</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    </a:t>
            </a:r>
            <a:r>
              <a:rPr b="1" lang="it" sz="1450">
                <a:solidFill>
                  <a:srgbClr val="50A14F"/>
                </a:solidFill>
                <a:latin typeface="Courier New"/>
                <a:ea typeface="Courier New"/>
                <a:cs typeface="Courier New"/>
                <a:sym typeface="Courier New"/>
              </a:rPr>
              <a:t>"In this course, we will teach you how to"</a:t>
            </a:r>
            <a:r>
              <a:rPr b="1" lang="it" sz="1450">
                <a:solidFill>
                  <a:srgbClr val="4B5563"/>
                </a:solidFill>
                <a:latin typeface="Courier New"/>
                <a:ea typeface="Courier New"/>
                <a:cs typeface="Courier New"/>
                <a:sym typeface="Courier New"/>
              </a:rPr>
              <a:t>,</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    max_length=</a:t>
            </a:r>
            <a:r>
              <a:rPr b="1" lang="it" sz="1450">
                <a:solidFill>
                  <a:srgbClr val="986801"/>
                </a:solidFill>
                <a:latin typeface="Courier New"/>
                <a:ea typeface="Courier New"/>
                <a:cs typeface="Courier New"/>
                <a:sym typeface="Courier New"/>
              </a:rPr>
              <a:t>30</a:t>
            </a:r>
            <a:r>
              <a:rPr b="1" lang="it" sz="1450">
                <a:solidFill>
                  <a:srgbClr val="4B5563"/>
                </a:solidFill>
                <a:latin typeface="Courier New"/>
                <a:ea typeface="Courier New"/>
                <a:cs typeface="Courier New"/>
                <a:sym typeface="Courier New"/>
              </a:rPr>
              <a:t>, num_return_sequences=</a:t>
            </a:r>
            <a:r>
              <a:rPr b="1" lang="it" sz="1450">
                <a:solidFill>
                  <a:srgbClr val="986801"/>
                </a:solidFill>
                <a:latin typeface="Courier New"/>
                <a:ea typeface="Courier New"/>
                <a:cs typeface="Courier New"/>
                <a:sym typeface="Courier New"/>
              </a:rPr>
              <a:t>2</a:t>
            </a:r>
            <a:r>
              <a:rPr b="1" lang="it" sz="1450">
                <a:solidFill>
                  <a:srgbClr val="4B5563"/>
                </a:solidFill>
                <a:latin typeface="Courier New"/>
                <a:ea typeface="Courier New"/>
                <a:cs typeface="Courier New"/>
                <a:sym typeface="Courier New"/>
              </a:rPr>
              <a:t>,</a:t>
            </a:r>
            <a:endParaRPr b="1" sz="14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1600"/>
              </a:spcAft>
              <a:buNone/>
            </a:pPr>
            <a:r>
              <a:rPr b="1" lang="it" sz="1450">
                <a:solidFill>
                  <a:srgbClr val="4B5563"/>
                </a:solidFill>
                <a:latin typeface="Courier New"/>
                <a:ea typeface="Courier New"/>
                <a:cs typeface="Courier New"/>
                <a:sym typeface="Courier New"/>
              </a:rPr>
              <a:t>)</a:t>
            </a:r>
            <a:endParaRPr b="1" sz="2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Mask filling</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The idea of this task is to fill in the blanks in a given text</a:t>
            </a:r>
            <a:endParaRPr/>
          </a:p>
          <a:p>
            <a:pPr indent="0" lvl="0" marL="0" rtl="0" algn="l">
              <a:spcBef>
                <a:spcPts val="1200"/>
              </a:spcBef>
              <a:spcAft>
                <a:spcPts val="0"/>
              </a:spcAft>
              <a:buNone/>
            </a:pPr>
            <a:r>
              <a:rPr b="1" lang="it" sz="1350">
                <a:solidFill>
                  <a:srgbClr val="A626A4"/>
                </a:solidFill>
                <a:latin typeface="Courier New"/>
                <a:ea typeface="Courier New"/>
                <a:cs typeface="Courier New"/>
                <a:sym typeface="Courier New"/>
              </a:rPr>
              <a:t>from</a:t>
            </a:r>
            <a:r>
              <a:rPr b="1" lang="it" sz="1350">
                <a:solidFill>
                  <a:srgbClr val="4B5563"/>
                </a:solidFill>
                <a:latin typeface="Courier New"/>
                <a:ea typeface="Courier New"/>
                <a:cs typeface="Courier New"/>
                <a:sym typeface="Courier New"/>
              </a:rPr>
              <a:t> transformers </a:t>
            </a:r>
            <a:r>
              <a:rPr b="1" lang="it" sz="1350">
                <a:solidFill>
                  <a:srgbClr val="A626A4"/>
                </a:solidFill>
                <a:latin typeface="Courier New"/>
                <a:ea typeface="Courier New"/>
                <a:cs typeface="Courier New"/>
                <a:sym typeface="Courier New"/>
              </a:rPr>
              <a:t>import</a:t>
            </a:r>
            <a:r>
              <a:rPr b="1" lang="it" sz="1350">
                <a:solidFill>
                  <a:srgbClr val="4B5563"/>
                </a:solidFill>
                <a:latin typeface="Courier New"/>
                <a:ea typeface="Courier New"/>
                <a:cs typeface="Courier New"/>
                <a:sym typeface="Courier New"/>
              </a:rPr>
              <a:t> pipeline</a:t>
            </a:r>
            <a:endParaRPr b="1" sz="13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350">
                <a:solidFill>
                  <a:srgbClr val="4B5563"/>
                </a:solidFill>
                <a:latin typeface="Courier New"/>
                <a:ea typeface="Courier New"/>
                <a:cs typeface="Courier New"/>
                <a:sym typeface="Courier New"/>
              </a:rPr>
              <a:t>unmasker = pipeline(</a:t>
            </a:r>
            <a:r>
              <a:rPr b="1" lang="it" sz="1350">
                <a:solidFill>
                  <a:srgbClr val="50A14F"/>
                </a:solidFill>
                <a:latin typeface="Courier New"/>
                <a:ea typeface="Courier New"/>
                <a:cs typeface="Courier New"/>
                <a:sym typeface="Courier New"/>
              </a:rPr>
              <a:t>"fill-mask"</a:t>
            </a:r>
            <a:r>
              <a:rPr b="1" lang="it" sz="1350">
                <a:solidFill>
                  <a:srgbClr val="4B5563"/>
                </a:solidFill>
                <a:latin typeface="Courier New"/>
                <a:ea typeface="Courier New"/>
                <a:cs typeface="Courier New"/>
                <a:sym typeface="Courier New"/>
              </a:rPr>
              <a:t>)</a:t>
            </a:r>
            <a:endParaRPr b="1" sz="13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None/>
            </a:pPr>
            <a:r>
              <a:rPr b="1" lang="it" sz="1350">
                <a:solidFill>
                  <a:srgbClr val="4B5563"/>
                </a:solidFill>
                <a:latin typeface="Courier New"/>
                <a:ea typeface="Courier New"/>
                <a:cs typeface="Courier New"/>
                <a:sym typeface="Courier New"/>
              </a:rPr>
              <a:t>unmasker(</a:t>
            </a:r>
            <a:r>
              <a:rPr b="1" lang="it" sz="1350">
                <a:solidFill>
                  <a:srgbClr val="50A14F"/>
                </a:solidFill>
                <a:latin typeface="Courier New"/>
                <a:ea typeface="Courier New"/>
                <a:cs typeface="Courier New"/>
                <a:sym typeface="Courier New"/>
              </a:rPr>
              <a:t>"This course will teach you all about &lt;mask&gt; models."</a:t>
            </a:r>
            <a:r>
              <a:rPr b="1" lang="it" sz="1350">
                <a:solidFill>
                  <a:srgbClr val="4B5563"/>
                </a:solidFill>
                <a:latin typeface="Courier New"/>
                <a:ea typeface="Courier New"/>
                <a:cs typeface="Courier New"/>
                <a:sym typeface="Courier New"/>
              </a:rPr>
              <a:t>, top_k=</a:t>
            </a:r>
            <a:r>
              <a:rPr b="1" lang="it" sz="1350">
                <a:solidFill>
                  <a:srgbClr val="986801"/>
                </a:solidFill>
                <a:latin typeface="Courier New"/>
                <a:ea typeface="Courier New"/>
                <a:cs typeface="Courier New"/>
                <a:sym typeface="Courier New"/>
              </a:rPr>
              <a:t>2</a:t>
            </a:r>
            <a:r>
              <a:rPr b="1" lang="it" sz="1350">
                <a:solidFill>
                  <a:srgbClr val="4B5563"/>
                </a:solidFill>
                <a:latin typeface="Courier New"/>
                <a:ea typeface="Courier New"/>
                <a:cs typeface="Courier New"/>
                <a:sym typeface="Courier New"/>
              </a:rPr>
              <a:t>)</a:t>
            </a:r>
            <a:endParaRPr b="1" sz="13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1600"/>
              </a:spcAft>
              <a:buNone/>
            </a:pPr>
            <a:r>
              <a:rPr b="1" lang="it" sz="1350">
                <a:solidFill>
                  <a:srgbClr val="4B5563"/>
                </a:solidFill>
                <a:latin typeface="Courier New"/>
                <a:ea typeface="Courier New"/>
                <a:cs typeface="Courier New"/>
                <a:sym typeface="Courier New"/>
              </a:rPr>
              <a:t>[{</a:t>
            </a:r>
            <a:r>
              <a:rPr b="1" lang="it" sz="1350">
                <a:solidFill>
                  <a:srgbClr val="50A14F"/>
                </a:solidFill>
                <a:latin typeface="Courier New"/>
                <a:ea typeface="Courier New"/>
                <a:cs typeface="Courier New"/>
                <a:sym typeface="Courier New"/>
              </a:rPr>
              <a:t>'sequence'</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'This course will teach you all about mathematical models.'</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'score'</a:t>
            </a:r>
            <a:r>
              <a:rPr b="1" lang="it" sz="1350">
                <a:solidFill>
                  <a:srgbClr val="4B5563"/>
                </a:solidFill>
                <a:latin typeface="Courier New"/>
                <a:ea typeface="Courier New"/>
                <a:cs typeface="Courier New"/>
                <a:sym typeface="Courier New"/>
              </a:rPr>
              <a:t>: </a:t>
            </a:r>
            <a:r>
              <a:rPr b="1" lang="it" sz="1350">
                <a:solidFill>
                  <a:srgbClr val="986801"/>
                </a:solidFill>
                <a:latin typeface="Courier New"/>
                <a:ea typeface="Courier New"/>
                <a:cs typeface="Courier New"/>
                <a:sym typeface="Courier New"/>
              </a:rPr>
              <a:t>0.19619831442832947</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'token'</a:t>
            </a:r>
            <a:r>
              <a:rPr b="1" lang="it" sz="1350">
                <a:solidFill>
                  <a:srgbClr val="4B5563"/>
                </a:solidFill>
                <a:latin typeface="Courier New"/>
                <a:ea typeface="Courier New"/>
                <a:cs typeface="Courier New"/>
                <a:sym typeface="Courier New"/>
              </a:rPr>
              <a:t>: </a:t>
            </a:r>
            <a:r>
              <a:rPr b="1" lang="it" sz="1350">
                <a:solidFill>
                  <a:srgbClr val="986801"/>
                </a:solidFill>
                <a:latin typeface="Courier New"/>
                <a:ea typeface="Courier New"/>
                <a:cs typeface="Courier New"/>
                <a:sym typeface="Courier New"/>
              </a:rPr>
              <a:t>30412</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'token_str'</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 mathematical'</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'sequence'</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'This course will teach you all about computational models.'</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'score'</a:t>
            </a:r>
            <a:r>
              <a:rPr b="1" lang="it" sz="1350">
                <a:solidFill>
                  <a:srgbClr val="4B5563"/>
                </a:solidFill>
                <a:latin typeface="Courier New"/>
                <a:ea typeface="Courier New"/>
                <a:cs typeface="Courier New"/>
                <a:sym typeface="Courier New"/>
              </a:rPr>
              <a:t>: </a:t>
            </a:r>
            <a:r>
              <a:rPr b="1" lang="it" sz="1350">
                <a:solidFill>
                  <a:srgbClr val="986801"/>
                </a:solidFill>
                <a:latin typeface="Courier New"/>
                <a:ea typeface="Courier New"/>
                <a:cs typeface="Courier New"/>
                <a:sym typeface="Courier New"/>
              </a:rPr>
              <a:t>0.04052725434303284</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'token'</a:t>
            </a:r>
            <a:r>
              <a:rPr b="1" lang="it" sz="1350">
                <a:solidFill>
                  <a:srgbClr val="4B5563"/>
                </a:solidFill>
                <a:latin typeface="Courier New"/>
                <a:ea typeface="Courier New"/>
                <a:cs typeface="Courier New"/>
                <a:sym typeface="Courier New"/>
              </a:rPr>
              <a:t>: </a:t>
            </a:r>
            <a:r>
              <a:rPr b="1" lang="it" sz="1350">
                <a:solidFill>
                  <a:srgbClr val="986801"/>
                </a:solidFill>
                <a:latin typeface="Courier New"/>
                <a:ea typeface="Courier New"/>
                <a:cs typeface="Courier New"/>
                <a:sym typeface="Courier New"/>
              </a:rPr>
              <a:t>38163</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'token_str'</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 computational'</a:t>
            </a:r>
            <a:r>
              <a:rPr b="1" lang="it" sz="1350">
                <a:solidFill>
                  <a:srgbClr val="4B5563"/>
                </a:solidFill>
                <a:latin typeface="Courier New"/>
                <a:ea typeface="Courier New"/>
                <a:cs typeface="Courier New"/>
                <a:sym typeface="Courier New"/>
              </a:rPr>
              <a:t>}</a:t>
            </a:r>
            <a:r>
              <a:rPr b="1" lang="it" sz="1350">
                <a:solidFill>
                  <a:srgbClr val="4B5563"/>
                </a:solidFill>
                <a:latin typeface="Courier New"/>
                <a:ea typeface="Courier New"/>
                <a:cs typeface="Courier New"/>
                <a:sym typeface="Courier New"/>
              </a:rPr>
              <a:t>]</a:t>
            </a:r>
            <a:endParaRPr b="1"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Named entity recognition</a:t>
            </a:r>
            <a:endParaRPr/>
          </a:p>
        </p:txBody>
      </p:sp>
      <p:sp>
        <p:nvSpPr>
          <p:cNvPr id="124" name="Google Shape;124;p24"/>
          <p:cNvSpPr txBox="1"/>
          <p:nvPr>
            <p:ph idx="1" type="body"/>
          </p:nvPr>
        </p:nvSpPr>
        <p:spPr>
          <a:xfrm>
            <a:off x="311700" y="1152475"/>
            <a:ext cx="8520600" cy="33579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it" sz="1900"/>
              <a:t>Named entity recognition (NER) is a task where the model has to find which parts of the input text correspond to entities such as persons, locations, or organizations. </a:t>
            </a:r>
            <a:endParaRPr sz="1900"/>
          </a:p>
          <a:p>
            <a:pPr indent="0" lvl="0" marL="0" rtl="0" algn="l">
              <a:spcBef>
                <a:spcPts val="1200"/>
              </a:spcBef>
              <a:spcAft>
                <a:spcPts val="0"/>
              </a:spcAft>
              <a:buNone/>
            </a:pPr>
            <a:r>
              <a:rPr b="1" lang="it" sz="1250">
                <a:solidFill>
                  <a:srgbClr val="A626A4"/>
                </a:solidFill>
                <a:latin typeface="Courier New"/>
                <a:ea typeface="Courier New"/>
                <a:cs typeface="Courier New"/>
                <a:sym typeface="Courier New"/>
              </a:rPr>
              <a:t>from</a:t>
            </a:r>
            <a:r>
              <a:rPr b="1" lang="it" sz="1250">
                <a:solidFill>
                  <a:srgbClr val="4B5563"/>
                </a:solidFill>
                <a:latin typeface="Courier New"/>
                <a:ea typeface="Courier New"/>
                <a:cs typeface="Courier New"/>
                <a:sym typeface="Courier New"/>
              </a:rPr>
              <a:t> transformers </a:t>
            </a:r>
            <a:r>
              <a:rPr b="1" lang="it" sz="1250">
                <a:solidFill>
                  <a:srgbClr val="A626A4"/>
                </a:solidFill>
                <a:latin typeface="Courier New"/>
                <a:ea typeface="Courier New"/>
                <a:cs typeface="Courier New"/>
                <a:sym typeface="Courier New"/>
              </a:rPr>
              <a:t>import</a:t>
            </a:r>
            <a:r>
              <a:rPr b="1" lang="it" sz="1250">
                <a:solidFill>
                  <a:srgbClr val="4B5563"/>
                </a:solidFill>
                <a:latin typeface="Courier New"/>
                <a:ea typeface="Courier New"/>
                <a:cs typeface="Courier New"/>
                <a:sym typeface="Courier New"/>
              </a:rPr>
              <a:t> pipeline</a:t>
            </a:r>
            <a:endParaRPr b="1" sz="12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250">
                <a:solidFill>
                  <a:srgbClr val="4B5563"/>
                </a:solidFill>
                <a:latin typeface="Courier New"/>
                <a:ea typeface="Courier New"/>
                <a:cs typeface="Courier New"/>
                <a:sym typeface="Courier New"/>
              </a:rPr>
              <a:t>ner = pipeline(</a:t>
            </a:r>
            <a:r>
              <a:rPr b="1" lang="it" sz="1250">
                <a:solidFill>
                  <a:srgbClr val="50A14F"/>
                </a:solidFill>
                <a:latin typeface="Courier New"/>
                <a:ea typeface="Courier New"/>
                <a:cs typeface="Courier New"/>
                <a:sym typeface="Courier New"/>
              </a:rPr>
              <a:t>"ner"</a:t>
            </a:r>
            <a:r>
              <a:rPr b="1" lang="it" sz="1250">
                <a:solidFill>
                  <a:srgbClr val="4B5563"/>
                </a:solidFill>
                <a:latin typeface="Courier New"/>
                <a:ea typeface="Courier New"/>
                <a:cs typeface="Courier New"/>
                <a:sym typeface="Courier New"/>
              </a:rPr>
              <a:t>, grouped_entities=</a:t>
            </a:r>
            <a:r>
              <a:rPr b="1" lang="it" sz="1250">
                <a:solidFill>
                  <a:srgbClr val="0184BB"/>
                </a:solidFill>
                <a:latin typeface="Courier New"/>
                <a:ea typeface="Courier New"/>
                <a:cs typeface="Courier New"/>
                <a:sym typeface="Courier New"/>
              </a:rPr>
              <a:t>True</a:t>
            </a:r>
            <a:r>
              <a:rPr b="1" lang="it" sz="1250">
                <a:solidFill>
                  <a:srgbClr val="4B5563"/>
                </a:solidFill>
                <a:latin typeface="Courier New"/>
                <a:ea typeface="Courier New"/>
                <a:cs typeface="Courier New"/>
                <a:sym typeface="Courier New"/>
              </a:rPr>
              <a:t>)</a:t>
            </a:r>
            <a:endParaRPr b="1" sz="12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None/>
            </a:pPr>
            <a:r>
              <a:rPr b="1" lang="it" sz="1250">
                <a:solidFill>
                  <a:srgbClr val="4B5563"/>
                </a:solidFill>
                <a:latin typeface="Courier New"/>
                <a:ea typeface="Courier New"/>
                <a:cs typeface="Courier New"/>
                <a:sym typeface="Courier New"/>
              </a:rPr>
              <a:t>ner(</a:t>
            </a:r>
            <a:r>
              <a:rPr b="1" lang="it" sz="1250">
                <a:solidFill>
                  <a:srgbClr val="50A14F"/>
                </a:solidFill>
                <a:latin typeface="Courier New"/>
                <a:ea typeface="Courier New"/>
                <a:cs typeface="Courier New"/>
                <a:sym typeface="Courier New"/>
              </a:rPr>
              <a:t>"My name is Sylvain and I work at Hugging Face in Brooklyn."</a:t>
            </a:r>
            <a:r>
              <a:rPr b="1" lang="it" sz="1250">
                <a:solidFill>
                  <a:srgbClr val="4B5563"/>
                </a:solidFill>
                <a:latin typeface="Courier New"/>
                <a:ea typeface="Courier New"/>
                <a:cs typeface="Courier New"/>
                <a:sym typeface="Courier New"/>
              </a:rPr>
              <a:t>)</a:t>
            </a:r>
            <a:endParaRPr b="1" sz="12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1600"/>
              </a:spcAft>
              <a:buNone/>
            </a:pPr>
            <a:r>
              <a:rPr b="1" lang="it" sz="1250">
                <a:solidFill>
                  <a:srgbClr val="4B5563"/>
                </a:solidFill>
                <a:latin typeface="Courier New"/>
                <a:ea typeface="Courier New"/>
                <a:cs typeface="Courier New"/>
                <a:sym typeface="Courier New"/>
              </a:rPr>
              <a:t>[{</a:t>
            </a:r>
            <a:r>
              <a:rPr b="1" lang="it" sz="1250">
                <a:solidFill>
                  <a:srgbClr val="50A14F"/>
                </a:solidFill>
                <a:latin typeface="Courier New"/>
                <a:ea typeface="Courier New"/>
                <a:cs typeface="Courier New"/>
                <a:sym typeface="Courier New"/>
              </a:rPr>
              <a:t>'entity_group'</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'PER'</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'score'</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0.99816</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'word'</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'Sylvain'</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'start'</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11</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'end'</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18</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'entity_group'</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'ORG'</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'score'</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0.97960</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'word'</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'Hugging Face'</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'start'</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33</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'end'</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45</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'entity_group'</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'LOC'</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'score'</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0.99321</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'word'</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'Brooklyn'</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'start'</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49</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'end'</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57</a:t>
            </a:r>
            <a:r>
              <a:rPr b="1" lang="it" sz="1250">
                <a:solidFill>
                  <a:srgbClr val="4B5563"/>
                </a:solidFill>
                <a:latin typeface="Courier New"/>
                <a:ea typeface="Courier New"/>
                <a:cs typeface="Courier New"/>
                <a:sym typeface="Courier New"/>
              </a:rPr>
              <a:t>}]</a:t>
            </a:r>
            <a:endParaRPr b="1" sz="2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Question answering</a:t>
            </a:r>
            <a:endParaRPr/>
          </a:p>
        </p:txBody>
      </p:sp>
      <p:sp>
        <p:nvSpPr>
          <p:cNvPr id="130" name="Google Shape;13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it"/>
              <a:t>The question-answering pipeline answers questions using information from a given context</a:t>
            </a:r>
            <a:endParaRPr/>
          </a:p>
          <a:p>
            <a:pPr indent="0" lvl="0" marL="0" rtl="0" algn="l">
              <a:spcBef>
                <a:spcPts val="1200"/>
              </a:spcBef>
              <a:spcAft>
                <a:spcPts val="0"/>
              </a:spcAft>
              <a:buNone/>
            </a:pPr>
            <a:r>
              <a:rPr b="1" lang="it" sz="1350">
                <a:solidFill>
                  <a:srgbClr val="A626A4"/>
                </a:solidFill>
                <a:latin typeface="Courier New"/>
                <a:ea typeface="Courier New"/>
                <a:cs typeface="Courier New"/>
                <a:sym typeface="Courier New"/>
              </a:rPr>
              <a:t>from</a:t>
            </a:r>
            <a:r>
              <a:rPr b="1" lang="it" sz="1350">
                <a:solidFill>
                  <a:srgbClr val="4B5563"/>
                </a:solidFill>
                <a:latin typeface="Courier New"/>
                <a:ea typeface="Courier New"/>
                <a:cs typeface="Courier New"/>
                <a:sym typeface="Courier New"/>
              </a:rPr>
              <a:t> transformers </a:t>
            </a:r>
            <a:r>
              <a:rPr b="1" lang="it" sz="1350">
                <a:solidFill>
                  <a:srgbClr val="A626A4"/>
                </a:solidFill>
                <a:latin typeface="Courier New"/>
                <a:ea typeface="Courier New"/>
                <a:cs typeface="Courier New"/>
                <a:sym typeface="Courier New"/>
              </a:rPr>
              <a:t>import</a:t>
            </a:r>
            <a:r>
              <a:rPr b="1" lang="it" sz="1350">
                <a:solidFill>
                  <a:srgbClr val="4B5563"/>
                </a:solidFill>
                <a:latin typeface="Courier New"/>
                <a:ea typeface="Courier New"/>
                <a:cs typeface="Courier New"/>
                <a:sym typeface="Courier New"/>
              </a:rPr>
              <a:t> pipeline</a:t>
            </a:r>
            <a:endParaRPr b="1" sz="13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350">
                <a:solidFill>
                  <a:srgbClr val="4B5563"/>
                </a:solidFill>
                <a:latin typeface="Courier New"/>
                <a:ea typeface="Courier New"/>
                <a:cs typeface="Courier New"/>
                <a:sym typeface="Courier New"/>
              </a:rPr>
              <a:t>question_answerer = pipeline(</a:t>
            </a:r>
            <a:r>
              <a:rPr b="1" lang="it" sz="1350">
                <a:solidFill>
                  <a:srgbClr val="50A14F"/>
                </a:solidFill>
                <a:latin typeface="Courier New"/>
                <a:ea typeface="Courier New"/>
                <a:cs typeface="Courier New"/>
                <a:sym typeface="Courier New"/>
              </a:rPr>
              <a:t>"question-answering"</a:t>
            </a:r>
            <a:r>
              <a:rPr b="1" lang="it" sz="1350">
                <a:solidFill>
                  <a:srgbClr val="4B5563"/>
                </a:solidFill>
                <a:latin typeface="Courier New"/>
                <a:ea typeface="Courier New"/>
                <a:cs typeface="Courier New"/>
                <a:sym typeface="Courier New"/>
              </a:rPr>
              <a:t>)</a:t>
            </a:r>
            <a:endParaRPr b="1" sz="13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350">
                <a:solidFill>
                  <a:srgbClr val="4B5563"/>
                </a:solidFill>
                <a:latin typeface="Courier New"/>
                <a:ea typeface="Courier New"/>
                <a:cs typeface="Courier New"/>
                <a:sym typeface="Courier New"/>
              </a:rPr>
              <a:t>question_answerer(</a:t>
            </a:r>
            <a:endParaRPr b="1" sz="13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350">
                <a:solidFill>
                  <a:srgbClr val="4B5563"/>
                </a:solidFill>
                <a:latin typeface="Courier New"/>
                <a:ea typeface="Courier New"/>
                <a:cs typeface="Courier New"/>
                <a:sym typeface="Courier New"/>
              </a:rPr>
              <a:t>    question=</a:t>
            </a:r>
            <a:r>
              <a:rPr b="1" lang="it" sz="1350">
                <a:solidFill>
                  <a:srgbClr val="50A14F"/>
                </a:solidFill>
                <a:latin typeface="Courier New"/>
                <a:ea typeface="Courier New"/>
                <a:cs typeface="Courier New"/>
                <a:sym typeface="Courier New"/>
              </a:rPr>
              <a:t>"Where do I work?"</a:t>
            </a:r>
            <a:r>
              <a:rPr b="1" lang="it" sz="1350">
                <a:solidFill>
                  <a:srgbClr val="4B5563"/>
                </a:solidFill>
                <a:latin typeface="Courier New"/>
                <a:ea typeface="Courier New"/>
                <a:cs typeface="Courier New"/>
                <a:sym typeface="Courier New"/>
              </a:rPr>
              <a:t>,</a:t>
            </a:r>
            <a:endParaRPr b="1" sz="13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350">
                <a:solidFill>
                  <a:srgbClr val="4B5563"/>
                </a:solidFill>
                <a:latin typeface="Courier New"/>
                <a:ea typeface="Courier New"/>
                <a:cs typeface="Courier New"/>
                <a:sym typeface="Courier New"/>
              </a:rPr>
              <a:t>    context=</a:t>
            </a:r>
            <a:r>
              <a:rPr b="1" lang="it" sz="1350">
                <a:solidFill>
                  <a:srgbClr val="50A14F"/>
                </a:solidFill>
                <a:latin typeface="Courier New"/>
                <a:ea typeface="Courier New"/>
                <a:cs typeface="Courier New"/>
                <a:sym typeface="Courier New"/>
              </a:rPr>
              <a:t>"My name is Sylvain and I work at Hugging Face in Brooklyn"</a:t>
            </a:r>
            <a:r>
              <a:rPr b="1" lang="it" sz="1350">
                <a:solidFill>
                  <a:srgbClr val="4B5563"/>
                </a:solidFill>
                <a:latin typeface="Courier New"/>
                <a:ea typeface="Courier New"/>
                <a:cs typeface="Courier New"/>
                <a:sym typeface="Courier New"/>
              </a:rPr>
              <a:t>,</a:t>
            </a:r>
            <a:endParaRPr b="1" sz="13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None/>
            </a:pPr>
            <a:r>
              <a:rPr b="1" lang="it" sz="1350">
                <a:solidFill>
                  <a:srgbClr val="4B5563"/>
                </a:solidFill>
                <a:latin typeface="Courier New"/>
                <a:ea typeface="Courier New"/>
                <a:cs typeface="Courier New"/>
                <a:sym typeface="Courier New"/>
              </a:rPr>
              <a:t>)</a:t>
            </a:r>
            <a:endParaRPr b="1" sz="13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1600"/>
              </a:spcAft>
              <a:buNone/>
            </a:pPr>
            <a:r>
              <a:rPr b="1" lang="it" sz="1350">
                <a:solidFill>
                  <a:srgbClr val="4B5563"/>
                </a:solidFill>
                <a:latin typeface="Courier New"/>
                <a:ea typeface="Courier New"/>
                <a:cs typeface="Courier New"/>
                <a:sym typeface="Courier New"/>
              </a:rPr>
              <a:t>{</a:t>
            </a:r>
            <a:r>
              <a:rPr b="1" lang="it" sz="1350">
                <a:solidFill>
                  <a:srgbClr val="50A14F"/>
                </a:solidFill>
                <a:latin typeface="Courier New"/>
                <a:ea typeface="Courier New"/>
                <a:cs typeface="Courier New"/>
                <a:sym typeface="Courier New"/>
              </a:rPr>
              <a:t>'score'</a:t>
            </a:r>
            <a:r>
              <a:rPr b="1" lang="it" sz="1350">
                <a:solidFill>
                  <a:srgbClr val="4B5563"/>
                </a:solidFill>
                <a:latin typeface="Courier New"/>
                <a:ea typeface="Courier New"/>
                <a:cs typeface="Courier New"/>
                <a:sym typeface="Courier New"/>
              </a:rPr>
              <a:t>: </a:t>
            </a:r>
            <a:r>
              <a:rPr b="1" lang="it" sz="1350">
                <a:solidFill>
                  <a:srgbClr val="986801"/>
                </a:solidFill>
                <a:latin typeface="Courier New"/>
                <a:ea typeface="Courier New"/>
                <a:cs typeface="Courier New"/>
                <a:sym typeface="Courier New"/>
              </a:rPr>
              <a:t>0.6385916471481323</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'start'</a:t>
            </a:r>
            <a:r>
              <a:rPr b="1" lang="it" sz="1350">
                <a:solidFill>
                  <a:srgbClr val="4B5563"/>
                </a:solidFill>
                <a:latin typeface="Courier New"/>
                <a:ea typeface="Courier New"/>
                <a:cs typeface="Courier New"/>
                <a:sym typeface="Courier New"/>
              </a:rPr>
              <a:t>: </a:t>
            </a:r>
            <a:r>
              <a:rPr b="1" lang="it" sz="1350">
                <a:solidFill>
                  <a:srgbClr val="986801"/>
                </a:solidFill>
                <a:latin typeface="Courier New"/>
                <a:ea typeface="Courier New"/>
                <a:cs typeface="Courier New"/>
                <a:sym typeface="Courier New"/>
              </a:rPr>
              <a:t>33</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'end'</a:t>
            </a:r>
            <a:r>
              <a:rPr b="1" lang="it" sz="1350">
                <a:solidFill>
                  <a:srgbClr val="4B5563"/>
                </a:solidFill>
                <a:latin typeface="Courier New"/>
                <a:ea typeface="Courier New"/>
                <a:cs typeface="Courier New"/>
                <a:sym typeface="Courier New"/>
              </a:rPr>
              <a:t>: </a:t>
            </a:r>
            <a:r>
              <a:rPr b="1" lang="it" sz="1350">
                <a:solidFill>
                  <a:srgbClr val="986801"/>
                </a:solidFill>
                <a:latin typeface="Courier New"/>
                <a:ea typeface="Courier New"/>
                <a:cs typeface="Courier New"/>
                <a:sym typeface="Courier New"/>
              </a:rPr>
              <a:t>45</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'answer'</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'Hugging Face'</a:t>
            </a:r>
            <a:r>
              <a:rPr b="1" lang="it" sz="1350">
                <a:solidFill>
                  <a:srgbClr val="4B5563"/>
                </a:solidFill>
                <a:latin typeface="Courier New"/>
                <a:ea typeface="Courier New"/>
                <a:cs typeface="Courier New"/>
                <a:sym typeface="Courier New"/>
              </a:rPr>
              <a:t>}</a:t>
            </a:r>
            <a:endParaRPr b="1"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Summarization</a:t>
            </a:r>
            <a:endParaRPr/>
          </a:p>
        </p:txBody>
      </p:sp>
      <p:sp>
        <p:nvSpPr>
          <p:cNvPr id="136" name="Google Shape;136;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it"/>
              <a:t>Summarization is the task of reducing a text into a shorter text while keeping all (or most) of the important aspects referenced in the text.</a:t>
            </a:r>
            <a:endParaRPr/>
          </a:p>
          <a:p>
            <a:pPr indent="0" lvl="0" marL="0" rtl="0" algn="l">
              <a:spcBef>
                <a:spcPts val="1200"/>
              </a:spcBef>
              <a:spcAft>
                <a:spcPts val="0"/>
              </a:spcAft>
              <a:buNone/>
            </a:pPr>
            <a:r>
              <a:rPr b="1" lang="it" sz="950">
                <a:solidFill>
                  <a:srgbClr val="A626A4"/>
                </a:solidFill>
                <a:latin typeface="Courier New"/>
                <a:ea typeface="Courier New"/>
                <a:cs typeface="Courier New"/>
                <a:sym typeface="Courier New"/>
              </a:rPr>
              <a:t>from</a:t>
            </a:r>
            <a:r>
              <a:rPr b="1" lang="it" sz="950">
                <a:solidFill>
                  <a:srgbClr val="4B5563"/>
                </a:solidFill>
                <a:latin typeface="Courier New"/>
                <a:ea typeface="Courier New"/>
                <a:cs typeface="Courier New"/>
                <a:sym typeface="Courier New"/>
              </a:rPr>
              <a:t> transformers </a:t>
            </a:r>
            <a:r>
              <a:rPr b="1" lang="it" sz="950">
                <a:solidFill>
                  <a:srgbClr val="A626A4"/>
                </a:solidFill>
                <a:latin typeface="Courier New"/>
                <a:ea typeface="Courier New"/>
                <a:cs typeface="Courier New"/>
                <a:sym typeface="Courier New"/>
              </a:rPr>
              <a:t>import</a:t>
            </a:r>
            <a:r>
              <a:rPr b="1" lang="it" sz="950">
                <a:solidFill>
                  <a:srgbClr val="4B5563"/>
                </a:solidFill>
                <a:latin typeface="Courier New"/>
                <a:ea typeface="Courier New"/>
                <a:cs typeface="Courier New"/>
                <a:sym typeface="Courier New"/>
              </a:rPr>
              <a:t> pipeline</a:t>
            </a:r>
            <a:endParaRPr b="1" sz="9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950">
                <a:solidFill>
                  <a:srgbClr val="4B5563"/>
                </a:solidFill>
                <a:latin typeface="Courier New"/>
                <a:ea typeface="Courier New"/>
                <a:cs typeface="Courier New"/>
                <a:sym typeface="Courier New"/>
              </a:rPr>
              <a:t>summarizer = pipeline(</a:t>
            </a:r>
            <a:r>
              <a:rPr b="1" lang="it" sz="950">
                <a:solidFill>
                  <a:srgbClr val="50A14F"/>
                </a:solidFill>
                <a:latin typeface="Courier New"/>
                <a:ea typeface="Courier New"/>
                <a:cs typeface="Courier New"/>
                <a:sym typeface="Courier New"/>
              </a:rPr>
              <a:t>"summarization"</a:t>
            </a:r>
            <a:r>
              <a:rPr b="1" lang="it" sz="950">
                <a:solidFill>
                  <a:srgbClr val="4B5563"/>
                </a:solidFill>
                <a:latin typeface="Courier New"/>
                <a:ea typeface="Courier New"/>
                <a:cs typeface="Courier New"/>
                <a:sym typeface="Courier New"/>
              </a:rPr>
              <a:t>)</a:t>
            </a:r>
            <a:endParaRPr b="1" sz="9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950">
                <a:solidFill>
                  <a:srgbClr val="4B5563"/>
                </a:solidFill>
                <a:latin typeface="Courier New"/>
                <a:ea typeface="Courier New"/>
                <a:cs typeface="Courier New"/>
                <a:sym typeface="Courier New"/>
              </a:rPr>
              <a:t>summarizer(    </a:t>
            </a:r>
            <a:r>
              <a:rPr b="1" lang="it" sz="950">
                <a:solidFill>
                  <a:srgbClr val="50A14F"/>
                </a:solidFill>
                <a:latin typeface="Courier New"/>
                <a:ea typeface="Courier New"/>
                <a:cs typeface="Courier New"/>
                <a:sym typeface="Courier New"/>
              </a:rPr>
              <a:t>""" America has changed dramatically during recent years. Not only has the number of graduates in traditional engineering disciplines such as mechanical, civil, electrical, chemical, and aeronautical engineering declined, but in most of the premier American universities engineering curricula now concentrate on and encourage largely the study of engineering science. As a result, there are declining offerings in engineering subjects dealing with infrastructure, the environment, and related issues, and greater concentration on high technology subjects, largely supporting increasingly complex scientific developments. While the latter is important, it should not be at the expense of more traditional engineering. </a:t>
            </a:r>
            <a:r>
              <a:rPr b="1" lang="it" sz="950">
                <a:solidFill>
                  <a:srgbClr val="50A14F"/>
                </a:solidFill>
                <a:latin typeface="Courier New"/>
                <a:ea typeface="Courier New"/>
                <a:cs typeface="Courier New"/>
                <a:sym typeface="Courier New"/>
              </a:rPr>
              <a:t>"</a:t>
            </a:r>
            <a:r>
              <a:rPr b="1" lang="it" sz="950">
                <a:solidFill>
                  <a:srgbClr val="50A14F"/>
                </a:solidFill>
                <a:latin typeface="Courier New"/>
                <a:ea typeface="Courier New"/>
                <a:cs typeface="Courier New"/>
                <a:sym typeface="Courier New"/>
              </a:rPr>
              <a:t>"" </a:t>
            </a:r>
            <a:r>
              <a:rPr b="1" lang="it" sz="950">
                <a:solidFill>
                  <a:srgbClr val="4B5563"/>
                </a:solidFill>
                <a:latin typeface="Courier New"/>
                <a:ea typeface="Courier New"/>
                <a:cs typeface="Courier New"/>
                <a:sym typeface="Courier New"/>
              </a:rPr>
              <a:t>)</a:t>
            </a:r>
            <a:endParaRPr b="1" sz="9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1600"/>
              </a:spcAft>
              <a:buNone/>
            </a:pPr>
            <a:r>
              <a:rPr b="1" lang="it" sz="950">
                <a:solidFill>
                  <a:srgbClr val="4B5563"/>
                </a:solidFill>
                <a:latin typeface="Courier New"/>
                <a:ea typeface="Courier New"/>
                <a:cs typeface="Courier New"/>
                <a:sym typeface="Courier New"/>
              </a:rPr>
              <a:t>[{</a:t>
            </a:r>
            <a:r>
              <a:rPr b="1" lang="it" sz="950">
                <a:solidFill>
                  <a:srgbClr val="50A14F"/>
                </a:solidFill>
                <a:latin typeface="Courier New"/>
                <a:ea typeface="Courier New"/>
                <a:cs typeface="Courier New"/>
                <a:sym typeface="Courier New"/>
              </a:rPr>
              <a:t>'summary_text'</a:t>
            </a:r>
            <a:r>
              <a:rPr b="1" lang="it" sz="950">
                <a:solidFill>
                  <a:srgbClr val="4B5563"/>
                </a:solidFill>
                <a:latin typeface="Courier New"/>
                <a:ea typeface="Courier New"/>
                <a:cs typeface="Courier New"/>
                <a:sym typeface="Courier New"/>
              </a:rPr>
              <a:t>: </a:t>
            </a:r>
            <a:r>
              <a:rPr b="1" lang="it" sz="950">
                <a:solidFill>
                  <a:srgbClr val="50A14F"/>
                </a:solidFill>
                <a:latin typeface="Courier New"/>
                <a:ea typeface="Courier New"/>
                <a:cs typeface="Courier New"/>
                <a:sym typeface="Courier New"/>
              </a:rPr>
              <a:t>' America has changed dramatically during recent years . The number of engineering graduates in the U.S. has declined in traditional engineering disciplines such as mechanical, civil, electrical, chemical, and aeronautical engineering . Rapidly developing economies such as China and India, as well as other industrial countries in Europe and Asia, continue to encourage and advance engineering .'</a:t>
            </a:r>
            <a:r>
              <a:rPr b="1" lang="it" sz="950">
                <a:solidFill>
                  <a:srgbClr val="4B5563"/>
                </a:solidFill>
                <a:latin typeface="Courier New"/>
                <a:ea typeface="Courier New"/>
                <a:cs typeface="Courier New"/>
                <a:sym typeface="Courier New"/>
              </a:rPr>
              <a:t>}]</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Translation</a:t>
            </a:r>
            <a:endParaRPr/>
          </a:p>
        </p:txBody>
      </p:sp>
      <p:sp>
        <p:nvSpPr>
          <p:cNvPr id="142" name="Google Shape;14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1350">
                <a:solidFill>
                  <a:srgbClr val="A626A4"/>
                </a:solidFill>
                <a:latin typeface="Courier New"/>
                <a:ea typeface="Courier New"/>
                <a:cs typeface="Courier New"/>
                <a:sym typeface="Courier New"/>
              </a:rPr>
              <a:t>from</a:t>
            </a:r>
            <a:r>
              <a:rPr b="1" lang="it" sz="1350">
                <a:solidFill>
                  <a:srgbClr val="4B5563"/>
                </a:solidFill>
                <a:latin typeface="Courier New"/>
                <a:ea typeface="Courier New"/>
                <a:cs typeface="Courier New"/>
                <a:sym typeface="Courier New"/>
              </a:rPr>
              <a:t> transformers </a:t>
            </a:r>
            <a:r>
              <a:rPr b="1" lang="it" sz="1350">
                <a:solidFill>
                  <a:srgbClr val="A626A4"/>
                </a:solidFill>
                <a:latin typeface="Courier New"/>
                <a:ea typeface="Courier New"/>
                <a:cs typeface="Courier New"/>
                <a:sym typeface="Courier New"/>
              </a:rPr>
              <a:t>import</a:t>
            </a:r>
            <a:r>
              <a:rPr b="1" lang="it" sz="1350">
                <a:solidFill>
                  <a:srgbClr val="4B5563"/>
                </a:solidFill>
                <a:latin typeface="Courier New"/>
                <a:ea typeface="Courier New"/>
                <a:cs typeface="Courier New"/>
                <a:sym typeface="Courier New"/>
              </a:rPr>
              <a:t> pipeline</a:t>
            </a:r>
            <a:endParaRPr b="1" sz="1350">
              <a:solidFill>
                <a:srgbClr val="4B5563"/>
              </a:solidFill>
              <a:latin typeface="Courier New"/>
              <a:ea typeface="Courier New"/>
              <a:cs typeface="Courier New"/>
              <a:sym typeface="Courier New"/>
            </a:endParaRPr>
          </a:p>
          <a:p>
            <a:pPr indent="0" lvl="0" marL="0" rtl="0" algn="l">
              <a:spcBef>
                <a:spcPts val="1200"/>
              </a:spcBef>
              <a:spcAft>
                <a:spcPts val="0"/>
              </a:spcAft>
              <a:buNone/>
            </a:pPr>
            <a:r>
              <a:t/>
            </a:r>
            <a:endParaRPr b="1" sz="13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350">
                <a:solidFill>
                  <a:srgbClr val="4B5563"/>
                </a:solidFill>
                <a:latin typeface="Courier New"/>
                <a:ea typeface="Courier New"/>
                <a:cs typeface="Courier New"/>
                <a:sym typeface="Courier New"/>
              </a:rPr>
              <a:t>translator = pipeline(</a:t>
            </a:r>
            <a:r>
              <a:rPr b="1" lang="it" sz="1350">
                <a:solidFill>
                  <a:srgbClr val="50A14F"/>
                </a:solidFill>
                <a:latin typeface="Courier New"/>
                <a:ea typeface="Courier New"/>
                <a:cs typeface="Courier New"/>
                <a:sym typeface="Courier New"/>
              </a:rPr>
              <a:t>"translation"</a:t>
            </a:r>
            <a:r>
              <a:rPr b="1" lang="it" sz="1350">
                <a:solidFill>
                  <a:srgbClr val="4B5563"/>
                </a:solidFill>
                <a:latin typeface="Courier New"/>
                <a:ea typeface="Courier New"/>
                <a:cs typeface="Courier New"/>
                <a:sym typeface="Courier New"/>
              </a:rPr>
              <a:t>, model=</a:t>
            </a:r>
            <a:r>
              <a:rPr b="1" lang="it" sz="1350">
                <a:solidFill>
                  <a:srgbClr val="50A14F"/>
                </a:solidFill>
                <a:latin typeface="Courier New"/>
                <a:ea typeface="Courier New"/>
                <a:cs typeface="Courier New"/>
                <a:sym typeface="Courier New"/>
              </a:rPr>
              <a:t>"Helsinki-NLP/opus-mt-fr-en"</a:t>
            </a:r>
            <a:r>
              <a:rPr b="1" lang="it" sz="1350">
                <a:solidFill>
                  <a:srgbClr val="4B5563"/>
                </a:solidFill>
                <a:latin typeface="Courier New"/>
                <a:ea typeface="Courier New"/>
                <a:cs typeface="Courier New"/>
                <a:sym typeface="Courier New"/>
              </a:rPr>
              <a:t>)</a:t>
            </a:r>
            <a:endParaRPr b="1" sz="13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Clr>
                <a:schemeClr val="dk1"/>
              </a:buClr>
              <a:buSzPts val="1100"/>
              <a:buFont typeface="Arial"/>
              <a:buNone/>
            </a:pPr>
            <a:r>
              <a:rPr b="1" lang="it" sz="1350">
                <a:solidFill>
                  <a:srgbClr val="4B5563"/>
                </a:solidFill>
                <a:latin typeface="Courier New"/>
                <a:ea typeface="Courier New"/>
                <a:cs typeface="Courier New"/>
                <a:sym typeface="Courier New"/>
              </a:rPr>
              <a:t>translator(</a:t>
            </a:r>
            <a:r>
              <a:rPr b="1" lang="it" sz="1350">
                <a:solidFill>
                  <a:srgbClr val="50A14F"/>
                </a:solidFill>
                <a:latin typeface="Courier New"/>
                <a:ea typeface="Courier New"/>
                <a:cs typeface="Courier New"/>
                <a:sym typeface="Courier New"/>
              </a:rPr>
              <a:t>"Ce cours est produit par Hugging Face."</a:t>
            </a:r>
            <a:r>
              <a:rPr b="1" lang="it" sz="1350">
                <a:solidFill>
                  <a:srgbClr val="4B5563"/>
                </a:solidFill>
                <a:latin typeface="Courier New"/>
                <a:ea typeface="Courier New"/>
                <a:cs typeface="Courier New"/>
                <a:sym typeface="Courier New"/>
              </a:rPr>
              <a:t>)</a:t>
            </a:r>
            <a:endParaRPr b="1" sz="13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1600"/>
              </a:spcAft>
              <a:buNone/>
            </a:pPr>
            <a:r>
              <a:rPr b="1" lang="it" sz="1350">
                <a:solidFill>
                  <a:srgbClr val="4B5563"/>
                </a:solidFill>
                <a:latin typeface="Courier New"/>
                <a:ea typeface="Courier New"/>
                <a:cs typeface="Courier New"/>
                <a:sym typeface="Courier New"/>
              </a:rPr>
              <a:t>[{</a:t>
            </a:r>
            <a:r>
              <a:rPr b="1" lang="it" sz="1350">
                <a:solidFill>
                  <a:srgbClr val="50A14F"/>
                </a:solidFill>
                <a:latin typeface="Courier New"/>
                <a:ea typeface="Courier New"/>
                <a:cs typeface="Courier New"/>
                <a:sym typeface="Courier New"/>
              </a:rPr>
              <a:t>'translation_text'</a:t>
            </a:r>
            <a:r>
              <a:rPr b="1" lang="it" sz="1350">
                <a:solidFill>
                  <a:srgbClr val="4B5563"/>
                </a:solidFill>
                <a:latin typeface="Courier New"/>
                <a:ea typeface="Courier New"/>
                <a:cs typeface="Courier New"/>
                <a:sym typeface="Courier New"/>
              </a:rPr>
              <a:t>: </a:t>
            </a:r>
            <a:r>
              <a:rPr b="1" lang="it" sz="1350">
                <a:solidFill>
                  <a:srgbClr val="50A14F"/>
                </a:solidFill>
                <a:latin typeface="Courier New"/>
                <a:ea typeface="Courier New"/>
                <a:cs typeface="Courier New"/>
                <a:sym typeface="Courier New"/>
              </a:rPr>
              <a:t>'This course is produced by Hugging Face.'</a:t>
            </a:r>
            <a:r>
              <a:rPr b="1" lang="it" sz="1350">
                <a:solidFill>
                  <a:srgbClr val="4B5563"/>
                </a:solidFill>
                <a:latin typeface="Courier New"/>
                <a:ea typeface="Courier New"/>
                <a:cs typeface="Courier New"/>
                <a:sym typeface="Courier New"/>
              </a:rPr>
              <a:t>}]</a:t>
            </a:r>
            <a:endParaRPr b="1" sz="2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Models and Datasets available</a:t>
            </a:r>
            <a:endParaRPr/>
          </a:p>
        </p:txBody>
      </p:sp>
      <p:sp>
        <p:nvSpPr>
          <p:cNvPr id="149" name="Google Shape;14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sz="1000">
                <a:latin typeface="Arial"/>
                <a:ea typeface="Arial"/>
                <a:cs typeface="Arial"/>
                <a:sym typeface="Arial"/>
              </a:rPr>
              <a:t>‹#›</a:t>
            </a:fld>
            <a:endParaRPr sz="1000">
              <a:latin typeface="Arial"/>
              <a:ea typeface="Arial"/>
              <a:cs typeface="Arial"/>
              <a:sym typeface="Arial"/>
            </a:endParaRPr>
          </a:p>
        </p:txBody>
      </p:sp>
      <p:sp>
        <p:nvSpPr>
          <p:cNvPr id="150" name="Google Shape;15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Models: </a:t>
            </a:r>
            <a:r>
              <a:rPr lang="it" u="sng">
                <a:solidFill>
                  <a:schemeClr val="hlink"/>
                </a:solidFill>
                <a:hlinkClick r:id="rId3"/>
              </a:rPr>
              <a:t>https://huggingface.co/models</a:t>
            </a:r>
            <a:r>
              <a:rPr lang="it"/>
              <a:t> </a:t>
            </a:r>
            <a:endParaRPr/>
          </a:p>
          <a:p>
            <a:pPr indent="0" lvl="0" marL="0" rtl="0" algn="l">
              <a:spcBef>
                <a:spcPts val="1200"/>
              </a:spcBef>
              <a:spcAft>
                <a:spcPts val="1200"/>
              </a:spcAft>
              <a:buNone/>
            </a:pPr>
            <a:r>
              <a:rPr lang="it"/>
              <a:t>Datasets: </a:t>
            </a:r>
            <a:r>
              <a:rPr lang="it" u="sng">
                <a:solidFill>
                  <a:schemeClr val="hlink"/>
                </a:solidFill>
                <a:hlinkClick r:id="rId4"/>
              </a:rPr>
              <a:t>https://huggingface.co/datasets</a:t>
            </a:r>
            <a:r>
              <a:rPr lang="it"/>
              <a:t> </a:t>
            </a:r>
            <a:endParaRPr/>
          </a:p>
        </p:txBody>
      </p:sp>
      <p:pic>
        <p:nvPicPr>
          <p:cNvPr id="151" name="Google Shape;151;p28"/>
          <p:cNvPicPr preferRelativeResize="0"/>
          <p:nvPr/>
        </p:nvPicPr>
        <p:blipFill>
          <a:blip r:embed="rId5">
            <a:alphaModFix/>
          </a:blip>
          <a:stretch>
            <a:fillRect/>
          </a:stretch>
        </p:blipFill>
        <p:spPr>
          <a:xfrm>
            <a:off x="2735013" y="2075675"/>
            <a:ext cx="3673975" cy="28046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Main concepts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Example</a:t>
            </a:r>
            <a:endParaRPr/>
          </a:p>
        </p:txBody>
      </p:sp>
      <p:sp>
        <p:nvSpPr>
          <p:cNvPr id="162" name="Google Shape;162;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sz="1450">
                <a:solidFill>
                  <a:srgbClr val="A626A4"/>
                </a:solidFill>
                <a:latin typeface="Courier New"/>
                <a:ea typeface="Courier New"/>
                <a:cs typeface="Courier New"/>
                <a:sym typeface="Courier New"/>
              </a:rPr>
              <a:t>from</a:t>
            </a:r>
            <a:r>
              <a:rPr b="1" lang="it" sz="1450">
                <a:solidFill>
                  <a:srgbClr val="4B5563"/>
                </a:solidFill>
                <a:latin typeface="Courier New"/>
                <a:ea typeface="Courier New"/>
                <a:cs typeface="Courier New"/>
                <a:sym typeface="Courier New"/>
              </a:rPr>
              <a:t> transformers </a:t>
            </a:r>
            <a:r>
              <a:rPr b="1" lang="it" sz="1450">
                <a:solidFill>
                  <a:srgbClr val="A626A4"/>
                </a:solidFill>
                <a:latin typeface="Courier New"/>
                <a:ea typeface="Courier New"/>
                <a:cs typeface="Courier New"/>
                <a:sym typeface="Courier New"/>
              </a:rPr>
              <a:t>import</a:t>
            </a:r>
            <a:r>
              <a:rPr b="1" lang="it" sz="1450">
                <a:solidFill>
                  <a:srgbClr val="4B5563"/>
                </a:solidFill>
                <a:latin typeface="Courier New"/>
                <a:ea typeface="Courier New"/>
                <a:cs typeface="Courier New"/>
                <a:sym typeface="Courier New"/>
              </a:rPr>
              <a:t> pipeline</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classifier = pipeline(</a:t>
            </a:r>
            <a:r>
              <a:rPr b="1" lang="it" sz="1450">
                <a:solidFill>
                  <a:srgbClr val="50A14F"/>
                </a:solidFill>
                <a:latin typeface="Courier New"/>
                <a:ea typeface="Courier New"/>
                <a:cs typeface="Courier New"/>
                <a:sym typeface="Courier New"/>
              </a:rPr>
              <a:t>"sentiment-analysis"</a:t>
            </a:r>
            <a:r>
              <a:rPr b="1" lang="it" sz="1450">
                <a:solidFill>
                  <a:srgbClr val="4B5563"/>
                </a:solidFill>
                <a:latin typeface="Courier New"/>
                <a:ea typeface="Courier New"/>
                <a:cs typeface="Courier New"/>
                <a:sym typeface="Courier New"/>
              </a:rPr>
              <a:t>)</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classifier(</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    [</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        </a:t>
            </a:r>
            <a:r>
              <a:rPr b="1" lang="it" sz="1450">
                <a:solidFill>
                  <a:srgbClr val="50A14F"/>
                </a:solidFill>
                <a:latin typeface="Courier New"/>
                <a:ea typeface="Courier New"/>
                <a:cs typeface="Courier New"/>
                <a:sym typeface="Courier New"/>
              </a:rPr>
              <a:t>"I've been waiting for a HuggingFace course my whole life."</a:t>
            </a:r>
            <a:r>
              <a:rPr b="1" lang="it" sz="1450">
                <a:solidFill>
                  <a:srgbClr val="4B5563"/>
                </a:solidFill>
                <a:latin typeface="Courier New"/>
                <a:ea typeface="Courier New"/>
                <a:cs typeface="Courier New"/>
                <a:sym typeface="Courier New"/>
              </a:rPr>
              <a:t>,</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        </a:t>
            </a:r>
            <a:r>
              <a:rPr b="1" lang="it" sz="1450">
                <a:solidFill>
                  <a:srgbClr val="50A14F"/>
                </a:solidFill>
                <a:latin typeface="Courier New"/>
                <a:ea typeface="Courier New"/>
                <a:cs typeface="Courier New"/>
                <a:sym typeface="Courier New"/>
              </a:rPr>
              <a:t>"I hate this so much!"</a:t>
            </a:r>
            <a:r>
              <a:rPr b="1" lang="it" sz="1450">
                <a:solidFill>
                  <a:srgbClr val="4B5563"/>
                </a:solidFill>
                <a:latin typeface="Courier New"/>
                <a:ea typeface="Courier New"/>
                <a:cs typeface="Courier New"/>
                <a:sym typeface="Courier New"/>
              </a:rPr>
              <a:t>,</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    ]</a:t>
            </a:r>
            <a:endParaRPr b="1" sz="14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1600"/>
              </a:spcAft>
              <a:buNone/>
            </a:pPr>
            <a:r>
              <a:rPr b="1" lang="it" sz="1450">
                <a:solidFill>
                  <a:srgbClr val="4B5563"/>
                </a:solidFill>
                <a:latin typeface="Courier New"/>
                <a:ea typeface="Courier New"/>
                <a:cs typeface="Courier New"/>
                <a:sym typeface="Courier New"/>
              </a:rPr>
              <a:t>)</a:t>
            </a:r>
            <a:endParaRPr b="1" sz="23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it"/>
              <a:t>Behind a pipeline</a:t>
            </a:r>
            <a:endParaRPr/>
          </a:p>
        </p:txBody>
      </p:sp>
      <p:sp>
        <p:nvSpPr>
          <p:cNvPr id="168" name="Google Shape;16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9" name="Google Shape;169;p31"/>
          <p:cNvPicPr preferRelativeResize="0"/>
          <p:nvPr/>
        </p:nvPicPr>
        <p:blipFill>
          <a:blip r:embed="rId3">
            <a:alphaModFix/>
          </a:blip>
          <a:stretch>
            <a:fillRect/>
          </a:stretch>
        </p:blipFill>
        <p:spPr>
          <a:xfrm>
            <a:off x="311700" y="1460791"/>
            <a:ext cx="8520600" cy="279975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Tokenizer (1)</a:t>
            </a:r>
            <a:endParaRPr/>
          </a:p>
        </p:txBody>
      </p:sp>
      <p:sp>
        <p:nvSpPr>
          <p:cNvPr id="175" name="Google Shape;175;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The tokenizer is responsible for:</a:t>
            </a:r>
            <a:endParaRPr/>
          </a:p>
          <a:p>
            <a:pPr indent="-342900" lvl="0" marL="457200" rtl="0" algn="l">
              <a:spcBef>
                <a:spcPts val="1200"/>
              </a:spcBef>
              <a:spcAft>
                <a:spcPts val="0"/>
              </a:spcAft>
              <a:buSzPts val="1800"/>
              <a:buChar char="●"/>
            </a:pPr>
            <a:r>
              <a:rPr lang="it"/>
              <a:t>Splitting the input into words, subwords, or symbols (like punctuation) that are called tokens</a:t>
            </a:r>
            <a:endParaRPr/>
          </a:p>
          <a:p>
            <a:pPr indent="-342900" lvl="0" marL="457200" rtl="0" algn="l">
              <a:spcBef>
                <a:spcPts val="0"/>
              </a:spcBef>
              <a:spcAft>
                <a:spcPts val="0"/>
              </a:spcAft>
              <a:buSzPts val="1800"/>
              <a:buChar char="●"/>
            </a:pPr>
            <a:r>
              <a:rPr lang="it"/>
              <a:t>Mapping each token to an integer</a:t>
            </a:r>
            <a:endParaRPr/>
          </a:p>
          <a:p>
            <a:pPr indent="-342900" lvl="0" marL="457200" rtl="0" algn="l">
              <a:spcBef>
                <a:spcPts val="0"/>
              </a:spcBef>
              <a:spcAft>
                <a:spcPts val="0"/>
              </a:spcAft>
              <a:buSzPts val="1800"/>
              <a:buChar char="●"/>
            </a:pPr>
            <a:r>
              <a:rPr lang="it"/>
              <a:t>Adding additional inputs that may be useful to the model</a:t>
            </a:r>
            <a:endParaRPr/>
          </a:p>
          <a:p>
            <a:pPr indent="0" lvl="0" marL="0" rtl="0" algn="l">
              <a:spcBef>
                <a:spcPts val="1200"/>
              </a:spcBef>
              <a:spcAft>
                <a:spcPts val="0"/>
              </a:spcAft>
              <a:buNone/>
            </a:pPr>
            <a:r>
              <a:rPr lang="it"/>
              <a:t>All this preprocessing needs to be done in exactly the same way as when the model was pretrained</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Tokenizer (2)</a:t>
            </a:r>
            <a:endParaRPr/>
          </a:p>
        </p:txBody>
      </p:sp>
      <p:sp>
        <p:nvSpPr>
          <p:cNvPr id="181" name="Google Shape;181;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Word-based</a:t>
            </a:r>
            <a:endParaRPr/>
          </a:p>
          <a:p>
            <a:pPr indent="-317500" lvl="1" marL="914400" rtl="0" algn="l">
              <a:spcBef>
                <a:spcPts val="0"/>
              </a:spcBef>
              <a:spcAft>
                <a:spcPts val="0"/>
              </a:spcAft>
              <a:buSzPts val="1400"/>
              <a:buChar char="○"/>
            </a:pPr>
            <a:r>
              <a:rPr lang="it"/>
              <a:t>Large vocabulary</a:t>
            </a:r>
            <a:endParaRPr/>
          </a:p>
          <a:p>
            <a:pPr indent="-317500" lvl="1" marL="914400" rtl="0" algn="l">
              <a:spcBef>
                <a:spcPts val="0"/>
              </a:spcBef>
              <a:spcAft>
                <a:spcPts val="0"/>
              </a:spcAft>
              <a:buSzPts val="1400"/>
              <a:buChar char="○"/>
            </a:pPr>
            <a:r>
              <a:rPr lang="it"/>
              <a:t>Many OOV tokens</a:t>
            </a:r>
            <a:endParaRPr/>
          </a:p>
          <a:p>
            <a:pPr indent="-342900" lvl="0" marL="457200" rtl="0" algn="l">
              <a:spcBef>
                <a:spcPts val="0"/>
              </a:spcBef>
              <a:spcAft>
                <a:spcPts val="0"/>
              </a:spcAft>
              <a:buSzPts val="1800"/>
              <a:buChar char="●"/>
            </a:pPr>
            <a:r>
              <a:rPr lang="it"/>
              <a:t>Character-based</a:t>
            </a:r>
            <a:endParaRPr/>
          </a:p>
          <a:p>
            <a:pPr indent="-317500" lvl="1" marL="914400" rtl="0" algn="l">
              <a:spcBef>
                <a:spcPts val="0"/>
              </a:spcBef>
              <a:spcAft>
                <a:spcPts val="0"/>
              </a:spcAft>
              <a:buSzPts val="1400"/>
              <a:buChar char="○"/>
            </a:pPr>
            <a:r>
              <a:rPr lang="it"/>
              <a:t>Vocabulary is smaller</a:t>
            </a:r>
            <a:endParaRPr/>
          </a:p>
          <a:p>
            <a:pPr indent="-317500" lvl="1" marL="914400" rtl="0" algn="l">
              <a:spcBef>
                <a:spcPts val="0"/>
              </a:spcBef>
              <a:spcAft>
                <a:spcPts val="0"/>
              </a:spcAft>
              <a:buSzPts val="1400"/>
              <a:buChar char="○"/>
            </a:pPr>
            <a:r>
              <a:rPr lang="it"/>
              <a:t>Fewer OOV tokens</a:t>
            </a:r>
            <a:endParaRPr/>
          </a:p>
          <a:p>
            <a:pPr indent="-342900" lvl="0" marL="457200" rtl="0" algn="l">
              <a:spcBef>
                <a:spcPts val="0"/>
              </a:spcBef>
              <a:spcAft>
                <a:spcPts val="0"/>
              </a:spcAft>
              <a:buSzPts val="1800"/>
              <a:buChar char="●"/>
            </a:pPr>
            <a:r>
              <a:rPr lang="it"/>
              <a:t>Subword-based</a:t>
            </a:r>
            <a:endParaRPr/>
          </a:p>
          <a:p>
            <a:pPr indent="-317500" lvl="1" marL="914400" rtl="0" algn="l">
              <a:spcBef>
                <a:spcPts val="0"/>
              </a:spcBef>
              <a:spcAft>
                <a:spcPts val="0"/>
              </a:spcAft>
              <a:buSzPts val="1400"/>
              <a:buChar char="○"/>
            </a:pPr>
            <a:r>
              <a:rPr lang="it"/>
              <a:t>Good coverage with small vocabularies</a:t>
            </a:r>
            <a:endParaRPr/>
          </a:p>
          <a:p>
            <a:pPr indent="-317500" lvl="1" marL="914400" rtl="0" algn="l">
              <a:spcBef>
                <a:spcPts val="0"/>
              </a:spcBef>
              <a:spcAft>
                <a:spcPts val="0"/>
              </a:spcAft>
              <a:buSzPts val="1400"/>
              <a:buChar char="○"/>
            </a:pPr>
            <a:r>
              <a:rPr lang="it"/>
              <a:t>Close to no unknown tokens</a:t>
            </a:r>
            <a:endParaRPr/>
          </a:p>
          <a:p>
            <a:pPr indent="-317500" lvl="1" marL="914400" rtl="0" algn="l">
              <a:spcBef>
                <a:spcPts val="0"/>
              </a:spcBef>
              <a:spcAft>
                <a:spcPts val="0"/>
              </a:spcAft>
              <a:buSzPts val="1400"/>
              <a:buChar char="○"/>
            </a:pPr>
            <a:r>
              <a:rPr lang="it"/>
              <a:t>WordPiece (BERT)</a:t>
            </a:r>
            <a:endParaRPr/>
          </a:p>
          <a:p>
            <a:pPr indent="-317500" lvl="2" marL="1371600" rtl="0" algn="l">
              <a:spcBef>
                <a:spcPts val="0"/>
              </a:spcBef>
              <a:spcAft>
                <a:spcPts val="0"/>
              </a:spcAft>
              <a:buSzPts val="1400"/>
              <a:buChar char="■"/>
            </a:pPr>
            <a:r>
              <a:rPr lang="it" sz="1500"/>
              <a:t>'granola bars' -&gt; 'gran', '##ola', 'bars', where ## indicates the start of the substring.</a:t>
            </a:r>
            <a:endParaRPr sz="1500"/>
          </a:p>
        </p:txBody>
      </p:sp>
      <p:pic>
        <p:nvPicPr>
          <p:cNvPr id="182" name="Google Shape;182;p33"/>
          <p:cNvPicPr preferRelativeResize="0"/>
          <p:nvPr/>
        </p:nvPicPr>
        <p:blipFill>
          <a:blip r:embed="rId3">
            <a:alphaModFix/>
          </a:blip>
          <a:stretch>
            <a:fillRect/>
          </a:stretch>
        </p:blipFill>
        <p:spPr>
          <a:xfrm>
            <a:off x="3050375" y="1017724"/>
            <a:ext cx="5781924" cy="1339400"/>
          </a:xfrm>
          <a:prstGeom prst="rect">
            <a:avLst/>
          </a:prstGeom>
          <a:noFill/>
          <a:ln>
            <a:noFill/>
          </a:ln>
        </p:spPr>
      </p:pic>
      <p:pic>
        <p:nvPicPr>
          <p:cNvPr id="183" name="Google Shape;183;p33"/>
          <p:cNvPicPr preferRelativeResize="0"/>
          <p:nvPr/>
        </p:nvPicPr>
        <p:blipFill>
          <a:blip r:embed="rId4">
            <a:alphaModFix/>
          </a:blip>
          <a:stretch>
            <a:fillRect/>
          </a:stretch>
        </p:blipFill>
        <p:spPr>
          <a:xfrm>
            <a:off x="3050375" y="2456175"/>
            <a:ext cx="5781923" cy="559000"/>
          </a:xfrm>
          <a:prstGeom prst="rect">
            <a:avLst/>
          </a:prstGeom>
          <a:noFill/>
          <a:ln>
            <a:noFill/>
          </a:ln>
        </p:spPr>
      </p:pic>
      <p:pic>
        <p:nvPicPr>
          <p:cNvPr id="184" name="Google Shape;184;p33"/>
          <p:cNvPicPr preferRelativeResize="0"/>
          <p:nvPr/>
        </p:nvPicPr>
        <p:blipFill>
          <a:blip r:embed="rId5">
            <a:alphaModFix/>
          </a:blip>
          <a:stretch>
            <a:fillRect/>
          </a:stretch>
        </p:blipFill>
        <p:spPr>
          <a:xfrm>
            <a:off x="3838325" y="3368675"/>
            <a:ext cx="4993973" cy="470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it"/>
              <a:t>Tokenizer (3)</a:t>
            </a:r>
            <a:endParaRPr/>
          </a:p>
        </p:txBody>
      </p:sp>
      <p:sp>
        <p:nvSpPr>
          <p:cNvPr id="190" name="Google Shape;190;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it" sz="1250">
                <a:solidFill>
                  <a:srgbClr val="A626A4"/>
                </a:solidFill>
                <a:latin typeface="Courier New"/>
                <a:ea typeface="Courier New"/>
                <a:cs typeface="Courier New"/>
                <a:sym typeface="Courier New"/>
              </a:rPr>
              <a:t>from</a:t>
            </a:r>
            <a:r>
              <a:rPr b="1" lang="it" sz="1250">
                <a:solidFill>
                  <a:srgbClr val="4B5563"/>
                </a:solidFill>
                <a:latin typeface="Courier New"/>
                <a:ea typeface="Courier New"/>
                <a:cs typeface="Courier New"/>
                <a:sym typeface="Courier New"/>
              </a:rPr>
              <a:t> transformers </a:t>
            </a:r>
            <a:r>
              <a:rPr b="1" lang="it" sz="1250">
                <a:solidFill>
                  <a:srgbClr val="A626A4"/>
                </a:solidFill>
                <a:latin typeface="Courier New"/>
                <a:ea typeface="Courier New"/>
                <a:cs typeface="Courier New"/>
                <a:sym typeface="Courier New"/>
              </a:rPr>
              <a:t>import</a:t>
            </a:r>
            <a:r>
              <a:rPr b="1" lang="it" sz="1250">
                <a:solidFill>
                  <a:srgbClr val="4B5563"/>
                </a:solidFill>
                <a:latin typeface="Courier New"/>
                <a:ea typeface="Courier New"/>
                <a:cs typeface="Courier New"/>
                <a:sym typeface="Courier New"/>
              </a:rPr>
              <a:t> AutoTokenizer</a:t>
            </a:r>
            <a:endParaRPr b="1" sz="1250">
              <a:solidFill>
                <a:srgbClr val="4B5563"/>
              </a:solidFill>
              <a:latin typeface="Courier New"/>
              <a:ea typeface="Courier New"/>
              <a:cs typeface="Courier New"/>
              <a:sym typeface="Courier New"/>
            </a:endParaRPr>
          </a:p>
          <a:p>
            <a:pPr indent="0" lvl="0" marL="0" rtl="0" algn="l">
              <a:lnSpc>
                <a:spcPct val="90000"/>
              </a:lnSpc>
              <a:spcBef>
                <a:spcPts val="1200"/>
              </a:spcBef>
              <a:spcAft>
                <a:spcPts val="0"/>
              </a:spcAft>
              <a:buNone/>
            </a:pPr>
            <a:r>
              <a:rPr b="1" lang="it" sz="1250">
                <a:solidFill>
                  <a:srgbClr val="4B5563"/>
                </a:solidFill>
                <a:latin typeface="Courier New"/>
                <a:ea typeface="Courier New"/>
                <a:cs typeface="Courier New"/>
                <a:sym typeface="Courier New"/>
              </a:rPr>
              <a:t>checkpoint = </a:t>
            </a:r>
            <a:r>
              <a:rPr b="1" lang="it" sz="1250">
                <a:solidFill>
                  <a:srgbClr val="50A14F"/>
                </a:solidFill>
                <a:latin typeface="Courier New"/>
                <a:ea typeface="Courier New"/>
                <a:cs typeface="Courier New"/>
                <a:sym typeface="Courier New"/>
              </a:rPr>
              <a:t>"distilbert-base-uncased-finetuned-sst-2-english"</a:t>
            </a:r>
            <a:endParaRPr b="1" sz="1250">
              <a:solidFill>
                <a:srgbClr val="4B5563"/>
              </a:solidFill>
              <a:latin typeface="Courier New"/>
              <a:ea typeface="Courier New"/>
              <a:cs typeface="Courier New"/>
              <a:sym typeface="Courier New"/>
            </a:endParaRPr>
          </a:p>
          <a:p>
            <a:pPr indent="0" lvl="0" marL="0" rtl="0" algn="l">
              <a:lnSpc>
                <a:spcPct val="90000"/>
              </a:lnSpc>
              <a:spcBef>
                <a:spcPts val="1600"/>
              </a:spcBef>
              <a:spcAft>
                <a:spcPts val="0"/>
              </a:spcAft>
              <a:buNone/>
            </a:pPr>
            <a:r>
              <a:rPr b="1" lang="it" sz="1250">
                <a:solidFill>
                  <a:srgbClr val="4B5563"/>
                </a:solidFill>
                <a:latin typeface="Courier New"/>
                <a:ea typeface="Courier New"/>
                <a:cs typeface="Courier New"/>
                <a:sym typeface="Courier New"/>
              </a:rPr>
              <a:t>tokenizer = AutoTokenizer.from_pretrained(checkpoint)</a:t>
            </a:r>
            <a:endParaRPr b="1" sz="1250">
              <a:solidFill>
                <a:srgbClr val="4B5563"/>
              </a:solidFill>
              <a:latin typeface="Courier New"/>
              <a:ea typeface="Courier New"/>
              <a:cs typeface="Courier New"/>
              <a:sym typeface="Courier New"/>
            </a:endParaRPr>
          </a:p>
          <a:p>
            <a:pPr indent="0" lvl="0" marL="0" rtl="0" algn="l">
              <a:lnSpc>
                <a:spcPct val="90000"/>
              </a:lnSpc>
              <a:spcBef>
                <a:spcPts val="1600"/>
              </a:spcBef>
              <a:spcAft>
                <a:spcPts val="0"/>
              </a:spcAft>
              <a:buNone/>
            </a:pPr>
            <a:r>
              <a:rPr b="1" lang="it" sz="1250">
                <a:solidFill>
                  <a:srgbClr val="4B5563"/>
                </a:solidFill>
                <a:latin typeface="Courier New"/>
                <a:ea typeface="Courier New"/>
                <a:cs typeface="Courier New"/>
                <a:sym typeface="Courier New"/>
              </a:rPr>
              <a:t>raw_inputs = [ </a:t>
            </a:r>
            <a:r>
              <a:rPr b="1" lang="it" sz="1250">
                <a:solidFill>
                  <a:srgbClr val="50A14F"/>
                </a:solidFill>
                <a:latin typeface="Courier New"/>
                <a:ea typeface="Courier New"/>
                <a:cs typeface="Courier New"/>
                <a:sym typeface="Courier New"/>
              </a:rPr>
              <a:t>"I've been waiting for a HuggingFace course my whole life."</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"I hate this so much!"</a:t>
            </a:r>
            <a:r>
              <a:rPr b="1" lang="it" sz="1250">
                <a:solidFill>
                  <a:srgbClr val="4B5563"/>
                </a:solidFill>
                <a:latin typeface="Courier New"/>
                <a:ea typeface="Courier New"/>
                <a:cs typeface="Courier New"/>
                <a:sym typeface="Courier New"/>
              </a:rPr>
              <a:t>, ]</a:t>
            </a:r>
            <a:endParaRPr b="1" sz="1250">
              <a:solidFill>
                <a:srgbClr val="4B5563"/>
              </a:solidFill>
              <a:latin typeface="Courier New"/>
              <a:ea typeface="Courier New"/>
              <a:cs typeface="Courier New"/>
              <a:sym typeface="Courier New"/>
            </a:endParaRPr>
          </a:p>
          <a:p>
            <a:pPr indent="0" lvl="0" marL="0" rtl="0" algn="l">
              <a:lnSpc>
                <a:spcPct val="90000"/>
              </a:lnSpc>
              <a:spcBef>
                <a:spcPts val="1600"/>
              </a:spcBef>
              <a:spcAft>
                <a:spcPts val="0"/>
              </a:spcAft>
              <a:buNone/>
            </a:pPr>
            <a:r>
              <a:rPr b="1" lang="it" sz="1250">
                <a:solidFill>
                  <a:srgbClr val="4B5563"/>
                </a:solidFill>
                <a:latin typeface="Courier New"/>
                <a:ea typeface="Courier New"/>
                <a:cs typeface="Courier New"/>
                <a:sym typeface="Courier New"/>
              </a:rPr>
              <a:t>inputs = tokenizer(raw_inputs, padding=</a:t>
            </a:r>
            <a:r>
              <a:rPr b="1" lang="it" sz="1250">
                <a:solidFill>
                  <a:srgbClr val="0184BB"/>
                </a:solidFill>
                <a:latin typeface="Courier New"/>
                <a:ea typeface="Courier New"/>
                <a:cs typeface="Courier New"/>
                <a:sym typeface="Courier New"/>
              </a:rPr>
              <a:t>True</a:t>
            </a:r>
            <a:r>
              <a:rPr b="1" lang="it" sz="1250">
                <a:solidFill>
                  <a:srgbClr val="4B5563"/>
                </a:solidFill>
                <a:latin typeface="Courier New"/>
                <a:ea typeface="Courier New"/>
                <a:cs typeface="Courier New"/>
                <a:sym typeface="Courier New"/>
              </a:rPr>
              <a:t>, truncation=</a:t>
            </a:r>
            <a:r>
              <a:rPr b="1" lang="it" sz="1250">
                <a:solidFill>
                  <a:srgbClr val="0184BB"/>
                </a:solidFill>
                <a:latin typeface="Courier New"/>
                <a:ea typeface="Courier New"/>
                <a:cs typeface="Courier New"/>
                <a:sym typeface="Courier New"/>
              </a:rPr>
              <a:t>True</a:t>
            </a:r>
            <a:r>
              <a:rPr b="1" lang="it" sz="1250">
                <a:solidFill>
                  <a:srgbClr val="4B5563"/>
                </a:solidFill>
                <a:latin typeface="Courier New"/>
                <a:ea typeface="Courier New"/>
                <a:cs typeface="Courier New"/>
                <a:sym typeface="Courier New"/>
              </a:rPr>
              <a:t>, return_tensors=</a:t>
            </a:r>
            <a:r>
              <a:rPr b="1" lang="it" sz="1250">
                <a:solidFill>
                  <a:srgbClr val="50A14F"/>
                </a:solidFill>
                <a:latin typeface="Courier New"/>
                <a:ea typeface="Courier New"/>
                <a:cs typeface="Courier New"/>
                <a:sym typeface="Courier New"/>
              </a:rPr>
              <a:t>"pt"</a:t>
            </a:r>
            <a:r>
              <a:rPr b="1" lang="it" sz="1250">
                <a:solidFill>
                  <a:srgbClr val="4B5563"/>
                </a:solidFill>
                <a:latin typeface="Courier New"/>
                <a:ea typeface="Courier New"/>
                <a:cs typeface="Courier New"/>
                <a:sym typeface="Courier New"/>
              </a:rPr>
              <a:t>)</a:t>
            </a:r>
            <a:endParaRPr b="1" sz="1250">
              <a:solidFill>
                <a:srgbClr val="4B5563"/>
              </a:solidFill>
              <a:latin typeface="Courier New"/>
              <a:ea typeface="Courier New"/>
              <a:cs typeface="Courier New"/>
              <a:sym typeface="Courier New"/>
            </a:endParaRPr>
          </a:p>
          <a:p>
            <a:pPr indent="0" lvl="0" marL="0" rtl="0" algn="l">
              <a:lnSpc>
                <a:spcPct val="90000"/>
              </a:lnSpc>
              <a:spcBef>
                <a:spcPts val="1600"/>
              </a:spcBef>
              <a:spcAft>
                <a:spcPts val="0"/>
              </a:spcAft>
              <a:buNone/>
            </a:pP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'input_ids'</a:t>
            </a:r>
            <a:r>
              <a:rPr b="1" lang="it" sz="1250">
                <a:solidFill>
                  <a:srgbClr val="4B5563"/>
                </a:solidFill>
                <a:latin typeface="Courier New"/>
                <a:ea typeface="Courier New"/>
                <a:cs typeface="Courier New"/>
                <a:sym typeface="Courier New"/>
              </a:rPr>
              <a:t>: tensor([ [  </a:t>
            </a:r>
            <a:r>
              <a:rPr b="1" lang="it" sz="1250">
                <a:solidFill>
                  <a:srgbClr val="986801"/>
                </a:solidFill>
                <a:latin typeface="Courier New"/>
                <a:ea typeface="Courier New"/>
                <a:cs typeface="Courier New"/>
                <a:sym typeface="Courier New"/>
              </a:rPr>
              <a:t>101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1045</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1005</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2310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2042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3403</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2005</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1037</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17662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12172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2607</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2026</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2878</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2166</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1012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102</a:t>
            </a:r>
            <a:r>
              <a:rPr b="1" lang="it" sz="1250">
                <a:solidFill>
                  <a:srgbClr val="4B5563"/>
                </a:solidFill>
                <a:latin typeface="Courier New"/>
                <a:ea typeface="Courier New"/>
                <a:cs typeface="Courier New"/>
                <a:sym typeface="Courier New"/>
              </a:rPr>
              <a:t>], [  </a:t>
            </a:r>
            <a:r>
              <a:rPr b="1" lang="it" sz="1250">
                <a:solidFill>
                  <a:srgbClr val="986801"/>
                </a:solidFill>
                <a:latin typeface="Courier New"/>
                <a:ea typeface="Courier New"/>
                <a:cs typeface="Courier New"/>
                <a:sym typeface="Courier New"/>
              </a:rPr>
              <a:t>101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1045</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5223</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2023</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2061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2172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999</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 </a:t>
            </a:r>
            <a:endParaRPr b="1" sz="1250">
              <a:solidFill>
                <a:srgbClr val="4B5563"/>
              </a:solidFill>
              <a:latin typeface="Courier New"/>
              <a:ea typeface="Courier New"/>
              <a:cs typeface="Courier New"/>
              <a:sym typeface="Courier New"/>
            </a:endParaRPr>
          </a:p>
          <a:p>
            <a:pPr indent="0" lvl="0" marL="0" rtl="0" algn="l">
              <a:lnSpc>
                <a:spcPct val="90000"/>
              </a:lnSpc>
              <a:spcBef>
                <a:spcPts val="1600"/>
              </a:spcBef>
              <a:spcAft>
                <a:spcPts val="1600"/>
              </a:spcAft>
              <a:buNone/>
            </a:pPr>
            <a:r>
              <a:rPr b="1" lang="it" sz="1250">
                <a:solidFill>
                  <a:srgbClr val="4B5563"/>
                </a:solidFill>
                <a:latin typeface="Courier New"/>
                <a:ea typeface="Courier New"/>
                <a:cs typeface="Courier New"/>
                <a:sym typeface="Courier New"/>
              </a:rPr>
              <a:t>  </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'attention_mask'</a:t>
            </a:r>
            <a:r>
              <a:rPr b="1" lang="it" sz="1250">
                <a:solidFill>
                  <a:srgbClr val="4B5563"/>
                </a:solidFill>
                <a:latin typeface="Courier New"/>
                <a:ea typeface="Courier New"/>
                <a:cs typeface="Courier New"/>
                <a:sym typeface="Courier New"/>
              </a:rPr>
              <a:t>: tensor([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 }</a:t>
            </a:r>
            <a:endParaRPr b="1" sz="1250">
              <a:solidFill>
                <a:srgbClr val="4B5563"/>
              </a:solidFill>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it"/>
              <a:t>Tokenizer (4)</a:t>
            </a:r>
            <a:endParaRPr/>
          </a:p>
        </p:txBody>
      </p:sp>
      <p:sp>
        <p:nvSpPr>
          <p:cNvPr id="196" name="Google Shape;196;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it"/>
              <a:t>Padding </a:t>
            </a:r>
            <a:r>
              <a:rPr lang="it"/>
              <a:t>makes sure all our sentences have the same length by adding a special word called the </a:t>
            </a:r>
            <a:r>
              <a:rPr b="1" lang="it"/>
              <a:t>padding token</a:t>
            </a:r>
            <a:r>
              <a:rPr lang="it"/>
              <a:t> to the sentences with fewer values.</a:t>
            </a:r>
            <a:endParaRPr/>
          </a:p>
          <a:p>
            <a:pPr indent="-317500" lvl="1" marL="914400" rtl="0" algn="l">
              <a:spcBef>
                <a:spcPts val="0"/>
              </a:spcBef>
              <a:spcAft>
                <a:spcPts val="0"/>
              </a:spcAft>
              <a:buSzPts val="1400"/>
              <a:buChar char="○"/>
            </a:pPr>
            <a:r>
              <a:rPr lang="it"/>
              <a:t>The padding token ID can be found in </a:t>
            </a:r>
            <a:r>
              <a:rPr i="1" lang="it"/>
              <a:t>tokenizer.pad_token_id</a:t>
            </a:r>
            <a:endParaRPr/>
          </a:p>
          <a:p>
            <a:pPr indent="-342900" lvl="0" marL="457200" rtl="0" algn="l">
              <a:spcBef>
                <a:spcPts val="0"/>
              </a:spcBef>
              <a:spcAft>
                <a:spcPts val="0"/>
              </a:spcAft>
              <a:buSzPts val="1800"/>
              <a:buChar char="●"/>
            </a:pPr>
            <a:r>
              <a:rPr b="1" lang="it"/>
              <a:t>Attention masks</a:t>
            </a:r>
            <a:r>
              <a:rPr lang="it"/>
              <a:t> are tensors with the exact same shape as the input IDs tensor, filled with 0s and 1s: 1s indicate the corresponding tokens should be attended to, and 0s indicate the corresponding tokens should not be attended to (i.e., they should be ignored by the attention layers of the model).</a:t>
            </a:r>
            <a:endParaRPr/>
          </a:p>
          <a:p>
            <a:pPr indent="-342900" lvl="0" marL="457200" rtl="0" algn="l">
              <a:spcBef>
                <a:spcPts val="0"/>
              </a:spcBef>
              <a:spcAft>
                <a:spcPts val="0"/>
              </a:spcAft>
              <a:buSzPts val="1800"/>
              <a:buChar char="●"/>
            </a:pPr>
            <a:r>
              <a:rPr lang="it"/>
              <a:t>With Transformer models, there is a </a:t>
            </a:r>
            <a:r>
              <a:rPr b="1" lang="it"/>
              <a:t>limit to the lengths of the sequences</a:t>
            </a:r>
            <a:r>
              <a:rPr lang="it"/>
              <a:t> we can pass the models (e.g., 512 or 1024 tokens)</a:t>
            </a:r>
            <a:endParaRPr/>
          </a:p>
          <a:p>
            <a:pPr indent="-317500" lvl="1" marL="914400" rtl="0" algn="l">
              <a:spcBef>
                <a:spcPts val="0"/>
              </a:spcBef>
              <a:spcAft>
                <a:spcPts val="0"/>
              </a:spcAft>
              <a:buSzPts val="1400"/>
              <a:buChar char="○"/>
            </a:pPr>
            <a:r>
              <a:rPr lang="it"/>
              <a:t>Use a model with a longer supported sequence length.</a:t>
            </a:r>
            <a:endParaRPr/>
          </a:p>
          <a:p>
            <a:pPr indent="-317500" lvl="1" marL="914400" rtl="0" algn="l">
              <a:spcBef>
                <a:spcPts val="0"/>
              </a:spcBef>
              <a:spcAft>
                <a:spcPts val="0"/>
              </a:spcAft>
              <a:buSzPts val="1400"/>
              <a:buChar char="○"/>
            </a:pPr>
            <a:r>
              <a:rPr b="1" lang="it"/>
              <a:t>Truncate</a:t>
            </a:r>
            <a:r>
              <a:rPr lang="it"/>
              <a:t> your sequences.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it"/>
              <a:t>Tokenizer (3)</a:t>
            </a:r>
            <a:endParaRPr/>
          </a:p>
        </p:txBody>
      </p:sp>
      <p:sp>
        <p:nvSpPr>
          <p:cNvPr id="202" name="Google Shape;202;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it" sz="1250">
                <a:solidFill>
                  <a:srgbClr val="A626A4"/>
                </a:solidFill>
                <a:latin typeface="Courier New"/>
                <a:ea typeface="Courier New"/>
                <a:cs typeface="Courier New"/>
                <a:sym typeface="Courier New"/>
              </a:rPr>
              <a:t>from</a:t>
            </a:r>
            <a:r>
              <a:rPr b="1" lang="it" sz="1250">
                <a:solidFill>
                  <a:srgbClr val="4B5563"/>
                </a:solidFill>
                <a:latin typeface="Courier New"/>
                <a:ea typeface="Courier New"/>
                <a:cs typeface="Courier New"/>
                <a:sym typeface="Courier New"/>
              </a:rPr>
              <a:t> transformers </a:t>
            </a:r>
            <a:r>
              <a:rPr b="1" lang="it" sz="1250">
                <a:solidFill>
                  <a:srgbClr val="A626A4"/>
                </a:solidFill>
                <a:latin typeface="Courier New"/>
                <a:ea typeface="Courier New"/>
                <a:cs typeface="Courier New"/>
                <a:sym typeface="Courier New"/>
              </a:rPr>
              <a:t>import</a:t>
            </a:r>
            <a:r>
              <a:rPr b="1" lang="it" sz="1250">
                <a:solidFill>
                  <a:srgbClr val="4B5563"/>
                </a:solidFill>
                <a:latin typeface="Courier New"/>
                <a:ea typeface="Courier New"/>
                <a:cs typeface="Courier New"/>
                <a:sym typeface="Courier New"/>
              </a:rPr>
              <a:t> AutoTokenizer</a:t>
            </a:r>
            <a:endParaRPr b="1" sz="1250">
              <a:solidFill>
                <a:srgbClr val="4B5563"/>
              </a:solidFill>
              <a:latin typeface="Courier New"/>
              <a:ea typeface="Courier New"/>
              <a:cs typeface="Courier New"/>
              <a:sym typeface="Courier New"/>
            </a:endParaRPr>
          </a:p>
          <a:p>
            <a:pPr indent="0" lvl="0" marL="0" rtl="0" algn="l">
              <a:lnSpc>
                <a:spcPct val="90000"/>
              </a:lnSpc>
              <a:spcBef>
                <a:spcPts val="1200"/>
              </a:spcBef>
              <a:spcAft>
                <a:spcPts val="0"/>
              </a:spcAft>
              <a:buNone/>
            </a:pPr>
            <a:r>
              <a:rPr b="1" lang="it" sz="1250">
                <a:solidFill>
                  <a:srgbClr val="4B5563"/>
                </a:solidFill>
                <a:latin typeface="Courier New"/>
                <a:ea typeface="Courier New"/>
                <a:cs typeface="Courier New"/>
                <a:sym typeface="Courier New"/>
              </a:rPr>
              <a:t>checkpoint = </a:t>
            </a:r>
            <a:r>
              <a:rPr b="1" lang="it" sz="1250">
                <a:solidFill>
                  <a:srgbClr val="50A14F"/>
                </a:solidFill>
                <a:latin typeface="Courier New"/>
                <a:ea typeface="Courier New"/>
                <a:cs typeface="Courier New"/>
                <a:sym typeface="Courier New"/>
              </a:rPr>
              <a:t>"distilbert-base-uncased-finetuned-sst-2-english"</a:t>
            </a:r>
            <a:endParaRPr b="1" sz="1250">
              <a:solidFill>
                <a:srgbClr val="4B5563"/>
              </a:solidFill>
              <a:latin typeface="Courier New"/>
              <a:ea typeface="Courier New"/>
              <a:cs typeface="Courier New"/>
              <a:sym typeface="Courier New"/>
            </a:endParaRPr>
          </a:p>
          <a:p>
            <a:pPr indent="0" lvl="0" marL="0" rtl="0" algn="l">
              <a:lnSpc>
                <a:spcPct val="90000"/>
              </a:lnSpc>
              <a:spcBef>
                <a:spcPts val="1600"/>
              </a:spcBef>
              <a:spcAft>
                <a:spcPts val="0"/>
              </a:spcAft>
              <a:buNone/>
            </a:pPr>
            <a:r>
              <a:rPr b="1" lang="it" sz="1250">
                <a:solidFill>
                  <a:srgbClr val="4B5563"/>
                </a:solidFill>
                <a:latin typeface="Courier New"/>
                <a:ea typeface="Courier New"/>
                <a:cs typeface="Courier New"/>
                <a:sym typeface="Courier New"/>
              </a:rPr>
              <a:t>tokenizer = AutoTokenizer.from_pretrained(checkpoint)</a:t>
            </a:r>
            <a:endParaRPr b="1" sz="1250">
              <a:solidFill>
                <a:srgbClr val="4B5563"/>
              </a:solidFill>
              <a:latin typeface="Courier New"/>
              <a:ea typeface="Courier New"/>
              <a:cs typeface="Courier New"/>
              <a:sym typeface="Courier New"/>
            </a:endParaRPr>
          </a:p>
          <a:p>
            <a:pPr indent="0" lvl="0" marL="0" rtl="0" algn="l">
              <a:lnSpc>
                <a:spcPct val="90000"/>
              </a:lnSpc>
              <a:spcBef>
                <a:spcPts val="1600"/>
              </a:spcBef>
              <a:spcAft>
                <a:spcPts val="0"/>
              </a:spcAft>
              <a:buNone/>
            </a:pPr>
            <a:r>
              <a:rPr b="1" lang="it" sz="1250">
                <a:solidFill>
                  <a:srgbClr val="4B5563"/>
                </a:solidFill>
                <a:latin typeface="Courier New"/>
                <a:ea typeface="Courier New"/>
                <a:cs typeface="Courier New"/>
                <a:sym typeface="Courier New"/>
              </a:rPr>
              <a:t>raw_inputs = [ </a:t>
            </a:r>
            <a:r>
              <a:rPr b="1" lang="it" sz="1250">
                <a:solidFill>
                  <a:srgbClr val="50A14F"/>
                </a:solidFill>
                <a:latin typeface="Courier New"/>
                <a:ea typeface="Courier New"/>
                <a:cs typeface="Courier New"/>
                <a:sym typeface="Courier New"/>
              </a:rPr>
              <a:t>"I've been waiting for a HuggingFace course my whole life."</a:t>
            </a: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"I hate this so much!"</a:t>
            </a:r>
            <a:r>
              <a:rPr b="1" lang="it" sz="1250">
                <a:solidFill>
                  <a:srgbClr val="4B5563"/>
                </a:solidFill>
                <a:latin typeface="Courier New"/>
                <a:ea typeface="Courier New"/>
                <a:cs typeface="Courier New"/>
                <a:sym typeface="Courier New"/>
              </a:rPr>
              <a:t>, ]</a:t>
            </a:r>
            <a:endParaRPr b="1" sz="1250">
              <a:solidFill>
                <a:srgbClr val="4B5563"/>
              </a:solidFill>
              <a:latin typeface="Courier New"/>
              <a:ea typeface="Courier New"/>
              <a:cs typeface="Courier New"/>
              <a:sym typeface="Courier New"/>
            </a:endParaRPr>
          </a:p>
          <a:p>
            <a:pPr indent="0" lvl="0" marL="0" rtl="0" algn="l">
              <a:lnSpc>
                <a:spcPct val="90000"/>
              </a:lnSpc>
              <a:spcBef>
                <a:spcPts val="1600"/>
              </a:spcBef>
              <a:spcAft>
                <a:spcPts val="0"/>
              </a:spcAft>
              <a:buNone/>
            </a:pPr>
            <a:r>
              <a:rPr b="1" lang="it" sz="1250">
                <a:solidFill>
                  <a:srgbClr val="4B5563"/>
                </a:solidFill>
                <a:latin typeface="Courier New"/>
                <a:ea typeface="Courier New"/>
                <a:cs typeface="Courier New"/>
                <a:sym typeface="Courier New"/>
              </a:rPr>
              <a:t>inputs = tokenizer(raw_inputs, padding=</a:t>
            </a:r>
            <a:r>
              <a:rPr b="1" lang="it" sz="1250">
                <a:solidFill>
                  <a:srgbClr val="0184BB"/>
                </a:solidFill>
                <a:latin typeface="Courier New"/>
                <a:ea typeface="Courier New"/>
                <a:cs typeface="Courier New"/>
                <a:sym typeface="Courier New"/>
              </a:rPr>
              <a:t>True</a:t>
            </a:r>
            <a:r>
              <a:rPr b="1" lang="it" sz="1250">
                <a:solidFill>
                  <a:srgbClr val="4B5563"/>
                </a:solidFill>
                <a:latin typeface="Courier New"/>
                <a:ea typeface="Courier New"/>
                <a:cs typeface="Courier New"/>
                <a:sym typeface="Courier New"/>
              </a:rPr>
              <a:t>, truncation=</a:t>
            </a:r>
            <a:r>
              <a:rPr b="1" lang="it" sz="1250">
                <a:solidFill>
                  <a:srgbClr val="0184BB"/>
                </a:solidFill>
                <a:latin typeface="Courier New"/>
                <a:ea typeface="Courier New"/>
                <a:cs typeface="Courier New"/>
                <a:sym typeface="Courier New"/>
              </a:rPr>
              <a:t>True</a:t>
            </a:r>
            <a:r>
              <a:rPr b="1" lang="it" sz="1250">
                <a:solidFill>
                  <a:srgbClr val="4B5563"/>
                </a:solidFill>
                <a:latin typeface="Courier New"/>
                <a:ea typeface="Courier New"/>
                <a:cs typeface="Courier New"/>
                <a:sym typeface="Courier New"/>
              </a:rPr>
              <a:t>, return_tensors=</a:t>
            </a:r>
            <a:r>
              <a:rPr b="1" lang="it" sz="1250">
                <a:solidFill>
                  <a:srgbClr val="50A14F"/>
                </a:solidFill>
                <a:latin typeface="Courier New"/>
                <a:ea typeface="Courier New"/>
                <a:cs typeface="Courier New"/>
                <a:sym typeface="Courier New"/>
              </a:rPr>
              <a:t>"pt"</a:t>
            </a:r>
            <a:r>
              <a:rPr b="1" lang="it" sz="1250">
                <a:solidFill>
                  <a:srgbClr val="4B5563"/>
                </a:solidFill>
                <a:latin typeface="Courier New"/>
                <a:ea typeface="Courier New"/>
                <a:cs typeface="Courier New"/>
                <a:sym typeface="Courier New"/>
              </a:rPr>
              <a:t>)</a:t>
            </a:r>
            <a:endParaRPr b="1" sz="1250">
              <a:solidFill>
                <a:srgbClr val="4B5563"/>
              </a:solidFill>
              <a:latin typeface="Courier New"/>
              <a:ea typeface="Courier New"/>
              <a:cs typeface="Courier New"/>
              <a:sym typeface="Courier New"/>
            </a:endParaRPr>
          </a:p>
          <a:p>
            <a:pPr indent="0" lvl="0" marL="0" rtl="0" algn="l">
              <a:lnSpc>
                <a:spcPct val="90000"/>
              </a:lnSpc>
              <a:spcBef>
                <a:spcPts val="1600"/>
              </a:spcBef>
              <a:spcAft>
                <a:spcPts val="0"/>
              </a:spcAft>
              <a:buNone/>
            </a:pP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'input_ids'</a:t>
            </a:r>
            <a:r>
              <a:rPr b="1" lang="it" sz="1250">
                <a:solidFill>
                  <a:srgbClr val="4B5563"/>
                </a:solidFill>
                <a:latin typeface="Courier New"/>
                <a:ea typeface="Courier New"/>
                <a:cs typeface="Courier New"/>
                <a:sym typeface="Courier New"/>
              </a:rPr>
              <a:t>: tensor([ [  </a:t>
            </a:r>
            <a:r>
              <a:rPr b="1" lang="it" sz="1250">
                <a:solidFill>
                  <a:srgbClr val="986801"/>
                </a:solidFill>
                <a:latin typeface="Courier New"/>
                <a:ea typeface="Courier New"/>
                <a:cs typeface="Courier New"/>
                <a:sym typeface="Courier New"/>
              </a:rPr>
              <a:t>101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1045</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1005</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2310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2042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3403</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2005</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1037</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17662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12172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2607</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2026</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2878</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2166</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1012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102</a:t>
            </a:r>
            <a:r>
              <a:rPr b="1" lang="it" sz="1250">
                <a:solidFill>
                  <a:srgbClr val="4B5563"/>
                </a:solidFill>
                <a:latin typeface="Courier New"/>
                <a:ea typeface="Courier New"/>
                <a:cs typeface="Courier New"/>
                <a:sym typeface="Courier New"/>
              </a:rPr>
              <a:t>], [  </a:t>
            </a:r>
            <a:r>
              <a:rPr b="1" lang="it" sz="1250">
                <a:solidFill>
                  <a:srgbClr val="986801"/>
                </a:solidFill>
                <a:latin typeface="Courier New"/>
                <a:ea typeface="Courier New"/>
                <a:cs typeface="Courier New"/>
                <a:sym typeface="Courier New"/>
              </a:rPr>
              <a:t>101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1045</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5223</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2023</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2061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2172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999</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102</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 </a:t>
            </a:r>
            <a:endParaRPr b="1" sz="1250">
              <a:solidFill>
                <a:srgbClr val="4B5563"/>
              </a:solidFill>
              <a:latin typeface="Courier New"/>
              <a:ea typeface="Courier New"/>
              <a:cs typeface="Courier New"/>
              <a:sym typeface="Courier New"/>
            </a:endParaRPr>
          </a:p>
          <a:p>
            <a:pPr indent="0" lvl="0" marL="0" rtl="0" algn="l">
              <a:lnSpc>
                <a:spcPct val="90000"/>
              </a:lnSpc>
              <a:spcBef>
                <a:spcPts val="1600"/>
              </a:spcBef>
              <a:spcAft>
                <a:spcPts val="1600"/>
              </a:spcAft>
              <a:buNone/>
            </a:pPr>
            <a:r>
              <a:rPr b="1" lang="it" sz="1250">
                <a:solidFill>
                  <a:srgbClr val="4B5563"/>
                </a:solidFill>
                <a:latin typeface="Courier New"/>
                <a:ea typeface="Courier New"/>
                <a:cs typeface="Courier New"/>
                <a:sym typeface="Courier New"/>
              </a:rPr>
              <a:t>    </a:t>
            </a:r>
            <a:r>
              <a:rPr b="1" lang="it" sz="1250">
                <a:solidFill>
                  <a:srgbClr val="50A14F"/>
                </a:solidFill>
                <a:latin typeface="Courier New"/>
                <a:ea typeface="Courier New"/>
                <a:cs typeface="Courier New"/>
                <a:sym typeface="Courier New"/>
              </a:rPr>
              <a:t>'attention_mask'</a:t>
            </a:r>
            <a:r>
              <a:rPr b="1" lang="it" sz="1250">
                <a:solidFill>
                  <a:srgbClr val="4B5563"/>
                </a:solidFill>
                <a:latin typeface="Courier New"/>
                <a:ea typeface="Courier New"/>
                <a:cs typeface="Courier New"/>
                <a:sym typeface="Courier New"/>
              </a:rPr>
              <a:t>: tensor([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1</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a:t>
            </a:r>
            <a:r>
              <a:rPr b="1" lang="it" sz="1250">
                <a:solidFill>
                  <a:srgbClr val="986801"/>
                </a:solidFill>
                <a:latin typeface="Courier New"/>
                <a:ea typeface="Courier New"/>
                <a:cs typeface="Courier New"/>
                <a:sym typeface="Courier New"/>
              </a:rPr>
              <a:t>0</a:t>
            </a:r>
            <a:r>
              <a:rPr b="1" lang="it" sz="1250">
                <a:solidFill>
                  <a:srgbClr val="4B5563"/>
                </a:solidFill>
                <a:latin typeface="Courier New"/>
                <a:ea typeface="Courier New"/>
                <a:cs typeface="Courier New"/>
                <a:sym typeface="Courier New"/>
              </a:rPr>
              <a:t>] ]) }</a:t>
            </a:r>
            <a:endParaRPr b="1" sz="1250">
              <a:solidFill>
                <a:srgbClr val="4B5563"/>
              </a:solidFill>
              <a:latin typeface="Courier New"/>
              <a:ea typeface="Courier New"/>
              <a:cs typeface="Courier New"/>
              <a:sym typeface="Courier New"/>
            </a:endParaRPr>
          </a:p>
        </p:txBody>
      </p:sp>
      <p:sp>
        <p:nvSpPr>
          <p:cNvPr id="203" name="Google Shape;203;p36"/>
          <p:cNvSpPr/>
          <p:nvPr/>
        </p:nvSpPr>
        <p:spPr>
          <a:xfrm>
            <a:off x="3119125" y="3216100"/>
            <a:ext cx="364500" cy="231600"/>
          </a:xfrm>
          <a:prstGeom prst="rect">
            <a:avLst/>
          </a:prstGeom>
          <a:noFill/>
          <a:ln cap="flat" cmpd="sng" w="19050">
            <a:solidFill>
              <a:srgbClr val="A3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36"/>
          <p:cNvSpPr/>
          <p:nvPr/>
        </p:nvSpPr>
        <p:spPr>
          <a:xfrm>
            <a:off x="5145475" y="3388425"/>
            <a:ext cx="364500" cy="231600"/>
          </a:xfrm>
          <a:prstGeom prst="rect">
            <a:avLst/>
          </a:prstGeom>
          <a:noFill/>
          <a:ln cap="flat" cmpd="sng" w="19050">
            <a:solidFill>
              <a:srgbClr val="A3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36"/>
          <p:cNvSpPr/>
          <p:nvPr/>
        </p:nvSpPr>
        <p:spPr>
          <a:xfrm>
            <a:off x="5955800" y="3388425"/>
            <a:ext cx="364500" cy="231600"/>
          </a:xfrm>
          <a:prstGeom prst="rect">
            <a:avLst/>
          </a:prstGeom>
          <a:noFill/>
          <a:ln cap="flat" cmpd="sng" w="19050">
            <a:solidFill>
              <a:srgbClr val="A3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36"/>
          <p:cNvSpPr/>
          <p:nvPr/>
        </p:nvSpPr>
        <p:spPr>
          <a:xfrm>
            <a:off x="2479825" y="3547025"/>
            <a:ext cx="364500" cy="231600"/>
          </a:xfrm>
          <a:prstGeom prst="rect">
            <a:avLst/>
          </a:prstGeom>
          <a:noFill/>
          <a:ln cap="flat" cmpd="sng" w="19050">
            <a:solidFill>
              <a:srgbClr val="A3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36"/>
          <p:cNvSpPr/>
          <p:nvPr/>
        </p:nvSpPr>
        <p:spPr>
          <a:xfrm>
            <a:off x="5591300" y="4516825"/>
            <a:ext cx="364500" cy="231600"/>
          </a:xfrm>
          <a:prstGeom prst="rect">
            <a:avLst/>
          </a:prstGeom>
          <a:noFill/>
          <a:ln cap="flat" cmpd="sng" w="19050">
            <a:solidFill>
              <a:srgbClr val="A3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36"/>
          <p:cNvSpPr txBox="1"/>
          <p:nvPr/>
        </p:nvSpPr>
        <p:spPr>
          <a:xfrm>
            <a:off x="6067200" y="4516825"/>
            <a:ext cx="1687800" cy="23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it" sz="1800">
                <a:solidFill>
                  <a:schemeClr val="dk2"/>
                </a:solidFill>
              </a:rPr>
              <a:t>Special tokens</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it"/>
              <a:t>Model (1)</a:t>
            </a:r>
            <a:endParaRPr/>
          </a:p>
        </p:txBody>
      </p:sp>
      <p:sp>
        <p:nvSpPr>
          <p:cNvPr id="214" name="Google Shape;214;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1450">
                <a:solidFill>
                  <a:srgbClr val="A626A4"/>
                </a:solidFill>
                <a:latin typeface="Courier New"/>
                <a:ea typeface="Courier New"/>
                <a:cs typeface="Courier New"/>
                <a:sym typeface="Courier New"/>
              </a:rPr>
              <a:t>from</a:t>
            </a:r>
            <a:r>
              <a:rPr b="1" lang="it" sz="1450">
                <a:solidFill>
                  <a:srgbClr val="4B5563"/>
                </a:solidFill>
                <a:latin typeface="Courier New"/>
                <a:ea typeface="Courier New"/>
                <a:cs typeface="Courier New"/>
                <a:sym typeface="Courier New"/>
              </a:rPr>
              <a:t> transformers </a:t>
            </a:r>
            <a:r>
              <a:rPr b="1" lang="it" sz="1450">
                <a:solidFill>
                  <a:srgbClr val="A626A4"/>
                </a:solidFill>
                <a:latin typeface="Courier New"/>
                <a:ea typeface="Courier New"/>
                <a:cs typeface="Courier New"/>
                <a:sym typeface="Courier New"/>
              </a:rPr>
              <a:t>import</a:t>
            </a:r>
            <a:r>
              <a:rPr b="1" lang="it" sz="1450">
                <a:solidFill>
                  <a:srgbClr val="4B5563"/>
                </a:solidFill>
                <a:latin typeface="Courier New"/>
                <a:ea typeface="Courier New"/>
                <a:cs typeface="Courier New"/>
                <a:sym typeface="Courier New"/>
              </a:rPr>
              <a:t> AutoModel</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checkpoint = </a:t>
            </a:r>
            <a:r>
              <a:rPr b="1" lang="it" sz="1450">
                <a:solidFill>
                  <a:srgbClr val="50A14F"/>
                </a:solidFill>
                <a:latin typeface="Courier New"/>
                <a:ea typeface="Courier New"/>
                <a:cs typeface="Courier New"/>
                <a:sym typeface="Courier New"/>
              </a:rPr>
              <a:t>"distilbert-base-uncased-finetuned-sst-2-english"</a:t>
            </a:r>
            <a:endParaRPr b="1" sz="14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None/>
            </a:pPr>
            <a:r>
              <a:rPr b="1" lang="it" sz="1450">
                <a:solidFill>
                  <a:srgbClr val="4B5563"/>
                </a:solidFill>
                <a:latin typeface="Courier New"/>
                <a:ea typeface="Courier New"/>
                <a:cs typeface="Courier New"/>
                <a:sym typeface="Courier New"/>
              </a:rPr>
              <a:t>model = AutoModel.from_pretrained(checkpoint)</a:t>
            </a:r>
            <a:endParaRPr b="1" sz="1450">
              <a:solidFill>
                <a:srgbClr val="4B5563"/>
              </a:solidFill>
              <a:latin typeface="Courier New"/>
              <a:ea typeface="Courier New"/>
              <a:cs typeface="Courier New"/>
              <a:sym typeface="Courier New"/>
            </a:endParaRPr>
          </a:p>
          <a:p>
            <a:pPr indent="0" lvl="0" marL="0" rtl="0" algn="l">
              <a:lnSpc>
                <a:spcPct val="171429"/>
              </a:lnSpc>
              <a:spcBef>
                <a:spcPts val="1600"/>
              </a:spcBef>
              <a:spcAft>
                <a:spcPts val="1600"/>
              </a:spcAft>
              <a:buNone/>
            </a:pPr>
            <a:r>
              <a:rPr lang="it" sz="1550">
                <a:solidFill>
                  <a:srgbClr val="4B5563"/>
                </a:solidFill>
              </a:rPr>
              <a:t>This architecture contains only the base Transformer module: given some inputs, it outputs what we’ll call </a:t>
            </a:r>
            <a:r>
              <a:rPr b="1" lang="it" sz="1550">
                <a:solidFill>
                  <a:srgbClr val="4B5563"/>
                </a:solidFill>
              </a:rPr>
              <a:t>hidden states</a:t>
            </a:r>
            <a:r>
              <a:rPr lang="it" sz="1550">
                <a:solidFill>
                  <a:srgbClr val="4B5563"/>
                </a:solidFill>
              </a:rPr>
              <a:t>, also known as features. For each model input, we’ll retrieve a high-dimensional vector representing the contextual understanding of that input by the Transformer model.</a:t>
            </a:r>
            <a:endParaRPr sz="1550">
              <a:solidFill>
                <a:srgbClr val="4B5563"/>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it"/>
              <a:t>Model (2)</a:t>
            </a:r>
            <a:endParaRPr/>
          </a:p>
        </p:txBody>
      </p:sp>
      <p:sp>
        <p:nvSpPr>
          <p:cNvPr id="220" name="Google Shape;220;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lnSpc>
                <a:spcPct val="171429"/>
              </a:lnSpc>
              <a:spcBef>
                <a:spcPts val="1600"/>
              </a:spcBef>
              <a:spcAft>
                <a:spcPts val="0"/>
              </a:spcAft>
              <a:buNone/>
            </a:pPr>
            <a:r>
              <a:rPr b="1" lang="it" sz="1458">
                <a:solidFill>
                  <a:srgbClr val="4B5563"/>
                </a:solidFill>
                <a:latin typeface="Courier New"/>
                <a:ea typeface="Courier New"/>
                <a:cs typeface="Courier New"/>
                <a:sym typeface="Courier New"/>
              </a:rPr>
              <a:t>outputs = model(**inputs)</a:t>
            </a:r>
            <a:endParaRPr b="1" sz="1458">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None/>
            </a:pPr>
            <a:r>
              <a:rPr b="1" lang="it" sz="1458">
                <a:solidFill>
                  <a:srgbClr val="C18401"/>
                </a:solidFill>
                <a:latin typeface="Courier New"/>
                <a:ea typeface="Courier New"/>
                <a:cs typeface="Courier New"/>
                <a:sym typeface="Courier New"/>
              </a:rPr>
              <a:t>print</a:t>
            </a:r>
            <a:r>
              <a:rPr b="1" lang="it" sz="1458">
                <a:solidFill>
                  <a:srgbClr val="4B5563"/>
                </a:solidFill>
                <a:latin typeface="Courier New"/>
                <a:ea typeface="Courier New"/>
                <a:cs typeface="Courier New"/>
                <a:sym typeface="Courier New"/>
              </a:rPr>
              <a:t>(outputs.last_hidden_state.shape)</a:t>
            </a:r>
            <a:endParaRPr b="1" sz="1458">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None/>
            </a:pPr>
            <a:r>
              <a:rPr b="1" lang="it" sz="1458">
                <a:solidFill>
                  <a:srgbClr val="4B5563"/>
                </a:solidFill>
                <a:latin typeface="Courier New"/>
                <a:ea typeface="Courier New"/>
                <a:cs typeface="Courier New"/>
                <a:sym typeface="Courier New"/>
              </a:rPr>
              <a:t>torch.Size([</a:t>
            </a:r>
            <a:r>
              <a:rPr b="1" lang="it" sz="1458">
                <a:solidFill>
                  <a:srgbClr val="986801"/>
                </a:solidFill>
                <a:latin typeface="Courier New"/>
                <a:ea typeface="Courier New"/>
                <a:cs typeface="Courier New"/>
                <a:sym typeface="Courier New"/>
              </a:rPr>
              <a:t>2</a:t>
            </a:r>
            <a:r>
              <a:rPr b="1" lang="it" sz="1458">
                <a:solidFill>
                  <a:srgbClr val="4B5563"/>
                </a:solidFill>
                <a:latin typeface="Courier New"/>
                <a:ea typeface="Courier New"/>
                <a:cs typeface="Courier New"/>
                <a:sym typeface="Courier New"/>
              </a:rPr>
              <a:t>, </a:t>
            </a:r>
            <a:r>
              <a:rPr b="1" lang="it" sz="1458">
                <a:solidFill>
                  <a:srgbClr val="986801"/>
                </a:solidFill>
                <a:latin typeface="Courier New"/>
                <a:ea typeface="Courier New"/>
                <a:cs typeface="Courier New"/>
                <a:sym typeface="Courier New"/>
              </a:rPr>
              <a:t>16</a:t>
            </a:r>
            <a:r>
              <a:rPr b="1" lang="it" sz="1458">
                <a:solidFill>
                  <a:srgbClr val="4B5563"/>
                </a:solidFill>
                <a:latin typeface="Courier New"/>
                <a:ea typeface="Courier New"/>
                <a:cs typeface="Courier New"/>
                <a:sym typeface="Courier New"/>
              </a:rPr>
              <a:t>, </a:t>
            </a:r>
            <a:r>
              <a:rPr b="1" lang="it" sz="1458">
                <a:solidFill>
                  <a:srgbClr val="986801"/>
                </a:solidFill>
                <a:latin typeface="Courier New"/>
                <a:ea typeface="Courier New"/>
                <a:cs typeface="Courier New"/>
                <a:sym typeface="Courier New"/>
              </a:rPr>
              <a:t>768</a:t>
            </a:r>
            <a:r>
              <a:rPr b="1" lang="it" sz="1458">
                <a:solidFill>
                  <a:srgbClr val="4B5563"/>
                </a:solidFill>
                <a:latin typeface="Courier New"/>
                <a:ea typeface="Courier New"/>
                <a:cs typeface="Courier New"/>
                <a:sym typeface="Courier New"/>
              </a:rPr>
              <a:t>])</a:t>
            </a:r>
            <a:endParaRPr b="1" sz="2308"/>
          </a:p>
          <a:p>
            <a:pPr indent="-334327" lvl="0" marL="457200" rtl="0" algn="l">
              <a:spcBef>
                <a:spcPts val="1600"/>
              </a:spcBef>
              <a:spcAft>
                <a:spcPts val="0"/>
              </a:spcAft>
              <a:buSzPct val="100000"/>
              <a:buChar char="●"/>
            </a:pPr>
            <a:r>
              <a:rPr b="1" lang="it"/>
              <a:t>Batch size</a:t>
            </a:r>
            <a:r>
              <a:rPr lang="it"/>
              <a:t>: The number of sequences processed at a time (2 in our example).</a:t>
            </a:r>
            <a:endParaRPr/>
          </a:p>
          <a:p>
            <a:pPr indent="-334327" lvl="0" marL="457200" rtl="0" algn="l">
              <a:spcBef>
                <a:spcPts val="0"/>
              </a:spcBef>
              <a:spcAft>
                <a:spcPts val="0"/>
              </a:spcAft>
              <a:buSzPct val="100000"/>
              <a:buChar char="●"/>
            </a:pPr>
            <a:r>
              <a:rPr b="1" lang="it"/>
              <a:t>Sequence length</a:t>
            </a:r>
            <a:r>
              <a:rPr lang="it"/>
              <a:t>: The length of the numerical representation of the sequence (16 in our example).</a:t>
            </a:r>
            <a:endParaRPr/>
          </a:p>
          <a:p>
            <a:pPr indent="-334327" lvl="0" marL="457200" rtl="0" algn="l">
              <a:spcBef>
                <a:spcPts val="0"/>
              </a:spcBef>
              <a:spcAft>
                <a:spcPts val="0"/>
              </a:spcAft>
              <a:buSzPct val="100000"/>
              <a:buChar char="●"/>
            </a:pPr>
            <a:r>
              <a:rPr b="1" lang="it"/>
              <a:t>Hidden size</a:t>
            </a:r>
            <a:r>
              <a:rPr lang="it"/>
              <a:t>: The vector dimension of each model input.</a:t>
            </a:r>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it"/>
              <a:t>Model (3)</a:t>
            </a:r>
            <a:endParaRPr/>
          </a:p>
        </p:txBody>
      </p:sp>
      <p:sp>
        <p:nvSpPr>
          <p:cNvPr id="226" name="Google Shape;226;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While these hidden states can be useful on their own, they’re usually inputs to another part of the model, known as the </a:t>
            </a:r>
            <a:r>
              <a:rPr b="1" lang="it"/>
              <a:t>head</a:t>
            </a:r>
            <a:endParaRPr b="1"/>
          </a:p>
        </p:txBody>
      </p:sp>
      <p:pic>
        <p:nvPicPr>
          <p:cNvPr id="227" name="Google Shape;227;p39"/>
          <p:cNvPicPr preferRelativeResize="0"/>
          <p:nvPr/>
        </p:nvPicPr>
        <p:blipFill>
          <a:blip r:embed="rId3">
            <a:alphaModFix/>
          </a:blip>
          <a:stretch>
            <a:fillRect/>
          </a:stretch>
        </p:blipFill>
        <p:spPr>
          <a:xfrm>
            <a:off x="3387849" y="2477100"/>
            <a:ext cx="5663302" cy="2303500"/>
          </a:xfrm>
          <a:prstGeom prst="rect">
            <a:avLst/>
          </a:prstGeom>
          <a:noFill/>
          <a:ln>
            <a:noFill/>
          </a:ln>
        </p:spPr>
      </p:pic>
      <p:sp>
        <p:nvSpPr>
          <p:cNvPr id="228" name="Google Shape;228;p39"/>
          <p:cNvSpPr txBox="1"/>
          <p:nvPr/>
        </p:nvSpPr>
        <p:spPr>
          <a:xfrm>
            <a:off x="375850" y="2038875"/>
            <a:ext cx="3707100" cy="24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it" sz="1800">
                <a:solidFill>
                  <a:schemeClr val="dk2"/>
                </a:solidFill>
              </a:rPr>
              <a:t>*Model (retrieve the hidden states)</a:t>
            </a:r>
            <a:endParaRPr i="1" sz="1800">
              <a:solidFill>
                <a:schemeClr val="dk2"/>
              </a:solidFill>
            </a:endParaRPr>
          </a:p>
          <a:p>
            <a:pPr indent="0" lvl="0" marL="0" rtl="0" algn="l">
              <a:spcBef>
                <a:spcPts val="0"/>
              </a:spcBef>
              <a:spcAft>
                <a:spcPts val="0"/>
              </a:spcAft>
              <a:buClr>
                <a:schemeClr val="dk1"/>
              </a:buClr>
              <a:buSzPts val="1100"/>
              <a:buFont typeface="Arial"/>
              <a:buNone/>
            </a:pPr>
            <a:r>
              <a:rPr i="1" lang="it" sz="1800">
                <a:solidFill>
                  <a:schemeClr val="dk2"/>
                </a:solidFill>
              </a:rPr>
              <a:t>*ForCausalLM</a:t>
            </a:r>
            <a:endParaRPr i="1" sz="1800">
              <a:solidFill>
                <a:schemeClr val="dk2"/>
              </a:solidFill>
            </a:endParaRPr>
          </a:p>
          <a:p>
            <a:pPr indent="0" lvl="0" marL="0" rtl="0" algn="l">
              <a:spcBef>
                <a:spcPts val="0"/>
              </a:spcBef>
              <a:spcAft>
                <a:spcPts val="0"/>
              </a:spcAft>
              <a:buClr>
                <a:schemeClr val="dk1"/>
              </a:buClr>
              <a:buSzPts val="1100"/>
              <a:buFont typeface="Arial"/>
              <a:buNone/>
            </a:pPr>
            <a:r>
              <a:rPr i="1" lang="it" sz="1800">
                <a:solidFill>
                  <a:schemeClr val="dk2"/>
                </a:solidFill>
              </a:rPr>
              <a:t>*ForMaskedLM</a:t>
            </a:r>
            <a:endParaRPr i="1" sz="1800">
              <a:solidFill>
                <a:schemeClr val="dk2"/>
              </a:solidFill>
            </a:endParaRPr>
          </a:p>
          <a:p>
            <a:pPr indent="0" lvl="0" marL="0" rtl="0" algn="l">
              <a:spcBef>
                <a:spcPts val="0"/>
              </a:spcBef>
              <a:spcAft>
                <a:spcPts val="0"/>
              </a:spcAft>
              <a:buClr>
                <a:schemeClr val="dk1"/>
              </a:buClr>
              <a:buSzPts val="1100"/>
              <a:buFont typeface="Arial"/>
              <a:buNone/>
            </a:pPr>
            <a:r>
              <a:rPr i="1" lang="it" sz="1800">
                <a:solidFill>
                  <a:schemeClr val="dk2"/>
                </a:solidFill>
              </a:rPr>
              <a:t>*ForMultipleChoice</a:t>
            </a:r>
            <a:endParaRPr i="1" sz="1800">
              <a:solidFill>
                <a:schemeClr val="dk2"/>
              </a:solidFill>
            </a:endParaRPr>
          </a:p>
          <a:p>
            <a:pPr indent="0" lvl="0" marL="0" rtl="0" algn="l">
              <a:spcBef>
                <a:spcPts val="0"/>
              </a:spcBef>
              <a:spcAft>
                <a:spcPts val="0"/>
              </a:spcAft>
              <a:buClr>
                <a:schemeClr val="dk1"/>
              </a:buClr>
              <a:buSzPts val="1100"/>
              <a:buFont typeface="Arial"/>
              <a:buNone/>
            </a:pPr>
            <a:r>
              <a:rPr i="1" lang="it" sz="1800">
                <a:solidFill>
                  <a:schemeClr val="dk2"/>
                </a:solidFill>
              </a:rPr>
              <a:t>*ForQuestionAnswering</a:t>
            </a:r>
            <a:endParaRPr i="1" sz="1800">
              <a:solidFill>
                <a:schemeClr val="dk2"/>
              </a:solidFill>
            </a:endParaRPr>
          </a:p>
          <a:p>
            <a:pPr indent="0" lvl="0" marL="0" rtl="0" algn="l">
              <a:spcBef>
                <a:spcPts val="0"/>
              </a:spcBef>
              <a:spcAft>
                <a:spcPts val="0"/>
              </a:spcAft>
              <a:buClr>
                <a:schemeClr val="dk1"/>
              </a:buClr>
              <a:buSzPts val="1100"/>
              <a:buFont typeface="Arial"/>
              <a:buNone/>
            </a:pPr>
            <a:r>
              <a:rPr i="1" lang="it" sz="1800">
                <a:solidFill>
                  <a:schemeClr val="dk2"/>
                </a:solidFill>
              </a:rPr>
              <a:t>*ForSequenceClassification</a:t>
            </a:r>
            <a:endParaRPr i="1" sz="1800">
              <a:solidFill>
                <a:schemeClr val="dk2"/>
              </a:solidFill>
            </a:endParaRPr>
          </a:p>
          <a:p>
            <a:pPr indent="0" lvl="0" marL="0" rtl="0" algn="l">
              <a:spcBef>
                <a:spcPts val="0"/>
              </a:spcBef>
              <a:spcAft>
                <a:spcPts val="0"/>
              </a:spcAft>
              <a:buClr>
                <a:schemeClr val="dk1"/>
              </a:buClr>
              <a:buSzPts val="1100"/>
              <a:buFont typeface="Arial"/>
              <a:buNone/>
            </a:pPr>
            <a:r>
              <a:rPr i="1" lang="it" sz="1800">
                <a:solidFill>
                  <a:schemeClr val="dk2"/>
                </a:solidFill>
              </a:rPr>
              <a:t>*ForTokenClassification</a:t>
            </a:r>
            <a:endParaRPr i="1"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it"/>
              <a:t>Model (4)</a:t>
            </a:r>
            <a:endParaRPr/>
          </a:p>
        </p:txBody>
      </p:sp>
      <p:sp>
        <p:nvSpPr>
          <p:cNvPr id="234" name="Google Shape;23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it" sz="1974">
                <a:solidFill>
                  <a:srgbClr val="4B5563"/>
                </a:solidFill>
              </a:rPr>
              <a:t>T</a:t>
            </a:r>
            <a:r>
              <a:rPr lang="it" sz="1974">
                <a:solidFill>
                  <a:srgbClr val="4B5563"/>
                </a:solidFill>
              </a:rPr>
              <a:t>o be able to classify the sentences as positive or negative </a:t>
            </a:r>
            <a:r>
              <a:rPr lang="it" sz="1974">
                <a:solidFill>
                  <a:srgbClr val="4B5563"/>
                </a:solidFill>
              </a:rPr>
              <a:t>we need a model with a sequence classification head</a:t>
            </a:r>
            <a:endParaRPr sz="1974">
              <a:solidFill>
                <a:srgbClr val="4B5563"/>
              </a:solidFill>
            </a:endParaRPr>
          </a:p>
          <a:p>
            <a:pPr indent="0" lvl="0" marL="0" rtl="0" algn="l">
              <a:spcBef>
                <a:spcPts val="1200"/>
              </a:spcBef>
              <a:spcAft>
                <a:spcPts val="0"/>
              </a:spcAft>
              <a:buNone/>
            </a:pPr>
            <a:r>
              <a:rPr b="1" lang="it" sz="1604">
                <a:solidFill>
                  <a:srgbClr val="A626A4"/>
                </a:solidFill>
                <a:latin typeface="Courier New"/>
                <a:ea typeface="Courier New"/>
                <a:cs typeface="Courier New"/>
                <a:sym typeface="Courier New"/>
              </a:rPr>
              <a:t>from</a:t>
            </a:r>
            <a:r>
              <a:rPr b="1" lang="it" sz="1604">
                <a:solidFill>
                  <a:srgbClr val="4B5563"/>
                </a:solidFill>
                <a:latin typeface="Courier New"/>
                <a:ea typeface="Courier New"/>
                <a:cs typeface="Courier New"/>
                <a:sym typeface="Courier New"/>
              </a:rPr>
              <a:t> transformers </a:t>
            </a:r>
            <a:r>
              <a:rPr b="1" lang="it" sz="1604">
                <a:solidFill>
                  <a:srgbClr val="A626A4"/>
                </a:solidFill>
                <a:latin typeface="Courier New"/>
                <a:ea typeface="Courier New"/>
                <a:cs typeface="Courier New"/>
                <a:sym typeface="Courier New"/>
              </a:rPr>
              <a:t>import</a:t>
            </a:r>
            <a:r>
              <a:rPr b="1" lang="it" sz="1604">
                <a:solidFill>
                  <a:srgbClr val="4B5563"/>
                </a:solidFill>
                <a:latin typeface="Courier New"/>
                <a:ea typeface="Courier New"/>
                <a:cs typeface="Courier New"/>
                <a:sym typeface="Courier New"/>
              </a:rPr>
              <a:t> AutoModelForSequenceClassification</a:t>
            </a:r>
            <a:endParaRPr b="1" sz="1604">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604">
                <a:solidFill>
                  <a:srgbClr val="4B5563"/>
                </a:solidFill>
                <a:latin typeface="Courier New"/>
                <a:ea typeface="Courier New"/>
                <a:cs typeface="Courier New"/>
                <a:sym typeface="Courier New"/>
              </a:rPr>
              <a:t>checkpoint = </a:t>
            </a:r>
            <a:r>
              <a:rPr b="1" lang="it" sz="1604">
                <a:solidFill>
                  <a:srgbClr val="50A14F"/>
                </a:solidFill>
                <a:latin typeface="Courier New"/>
                <a:ea typeface="Courier New"/>
                <a:cs typeface="Courier New"/>
                <a:sym typeface="Courier New"/>
              </a:rPr>
              <a:t>"distilbert-base-uncased-finetuned-sst-2-english"</a:t>
            </a:r>
            <a:endParaRPr b="1" sz="1604">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604">
                <a:solidFill>
                  <a:srgbClr val="4B5563"/>
                </a:solidFill>
                <a:latin typeface="Courier New"/>
                <a:ea typeface="Courier New"/>
                <a:cs typeface="Courier New"/>
                <a:sym typeface="Courier New"/>
              </a:rPr>
              <a:t>model = AutoModelForSequenceClassification.from_pretrained(checkpoint)</a:t>
            </a:r>
            <a:endParaRPr b="1" sz="1604">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None/>
            </a:pPr>
            <a:r>
              <a:rPr b="1" lang="it" sz="1604">
                <a:solidFill>
                  <a:srgbClr val="4B5563"/>
                </a:solidFill>
                <a:latin typeface="Courier New"/>
                <a:ea typeface="Courier New"/>
                <a:cs typeface="Courier New"/>
                <a:sym typeface="Courier New"/>
              </a:rPr>
              <a:t>outputs = model(**inputs)</a:t>
            </a:r>
            <a:endParaRPr b="1" sz="1604">
              <a:solidFill>
                <a:srgbClr val="4B5563"/>
              </a:solidFill>
              <a:latin typeface="Courier New"/>
              <a:ea typeface="Courier New"/>
              <a:cs typeface="Courier New"/>
              <a:sym typeface="Courier New"/>
            </a:endParaRPr>
          </a:p>
          <a:p>
            <a:pPr indent="0" lvl="0" marL="0" rtl="0" algn="l">
              <a:lnSpc>
                <a:spcPct val="171429"/>
              </a:lnSpc>
              <a:spcBef>
                <a:spcPts val="1600"/>
              </a:spcBef>
              <a:spcAft>
                <a:spcPts val="0"/>
              </a:spcAft>
              <a:buNone/>
            </a:pPr>
            <a:r>
              <a:rPr b="1" lang="it" sz="1604">
                <a:solidFill>
                  <a:srgbClr val="C18401"/>
                </a:solidFill>
                <a:latin typeface="Courier New"/>
                <a:ea typeface="Courier New"/>
                <a:cs typeface="Courier New"/>
                <a:sym typeface="Courier New"/>
              </a:rPr>
              <a:t>print</a:t>
            </a:r>
            <a:r>
              <a:rPr b="1" lang="it" sz="1604">
                <a:solidFill>
                  <a:srgbClr val="4B5563"/>
                </a:solidFill>
                <a:latin typeface="Courier New"/>
                <a:ea typeface="Courier New"/>
                <a:cs typeface="Courier New"/>
                <a:sym typeface="Courier New"/>
              </a:rPr>
              <a:t>(outputs.logits)</a:t>
            </a:r>
            <a:endParaRPr b="1" sz="1604">
              <a:solidFill>
                <a:srgbClr val="4B5563"/>
              </a:solidFill>
              <a:latin typeface="Courier New"/>
              <a:ea typeface="Courier New"/>
              <a:cs typeface="Courier New"/>
              <a:sym typeface="Courier New"/>
            </a:endParaRPr>
          </a:p>
          <a:p>
            <a:pPr indent="0" lvl="0" marL="0" rtl="0" algn="l">
              <a:lnSpc>
                <a:spcPct val="171429"/>
              </a:lnSpc>
              <a:spcBef>
                <a:spcPts val="1600"/>
              </a:spcBef>
              <a:spcAft>
                <a:spcPts val="1600"/>
              </a:spcAft>
              <a:buNone/>
            </a:pPr>
            <a:r>
              <a:rPr b="1" lang="it" sz="1604">
                <a:solidFill>
                  <a:srgbClr val="4B5563"/>
                </a:solidFill>
                <a:latin typeface="Courier New"/>
                <a:ea typeface="Courier New"/>
                <a:cs typeface="Courier New"/>
                <a:sym typeface="Courier New"/>
              </a:rPr>
              <a:t>tensor([[-</a:t>
            </a:r>
            <a:r>
              <a:rPr b="1" lang="it" sz="1604">
                <a:solidFill>
                  <a:srgbClr val="986801"/>
                </a:solidFill>
                <a:latin typeface="Courier New"/>
                <a:ea typeface="Courier New"/>
                <a:cs typeface="Courier New"/>
                <a:sym typeface="Courier New"/>
              </a:rPr>
              <a:t>1.5607</a:t>
            </a:r>
            <a:r>
              <a:rPr b="1" lang="it" sz="1604">
                <a:solidFill>
                  <a:srgbClr val="4B5563"/>
                </a:solidFill>
                <a:latin typeface="Courier New"/>
                <a:ea typeface="Courier New"/>
                <a:cs typeface="Courier New"/>
                <a:sym typeface="Courier New"/>
              </a:rPr>
              <a:t>,  </a:t>
            </a:r>
            <a:r>
              <a:rPr b="1" lang="it" sz="1604">
                <a:solidFill>
                  <a:srgbClr val="986801"/>
                </a:solidFill>
                <a:latin typeface="Courier New"/>
                <a:ea typeface="Courier New"/>
                <a:cs typeface="Courier New"/>
                <a:sym typeface="Courier New"/>
              </a:rPr>
              <a:t>1.6123</a:t>
            </a:r>
            <a:r>
              <a:rPr b="1" lang="it" sz="1604">
                <a:solidFill>
                  <a:srgbClr val="4B5563"/>
                </a:solidFill>
                <a:latin typeface="Courier New"/>
                <a:ea typeface="Courier New"/>
                <a:cs typeface="Courier New"/>
                <a:sym typeface="Courier New"/>
              </a:rPr>
              <a:t>], [ </a:t>
            </a:r>
            <a:r>
              <a:rPr b="1" lang="it" sz="1604">
                <a:solidFill>
                  <a:srgbClr val="986801"/>
                </a:solidFill>
                <a:latin typeface="Courier New"/>
                <a:ea typeface="Courier New"/>
                <a:cs typeface="Courier New"/>
                <a:sym typeface="Courier New"/>
              </a:rPr>
              <a:t>4.1692</a:t>
            </a:r>
            <a:r>
              <a:rPr b="1" lang="it" sz="1604">
                <a:solidFill>
                  <a:srgbClr val="4B5563"/>
                </a:solidFill>
                <a:latin typeface="Courier New"/>
                <a:ea typeface="Courier New"/>
                <a:cs typeface="Courier New"/>
                <a:sym typeface="Courier New"/>
              </a:rPr>
              <a:t>, -</a:t>
            </a:r>
            <a:r>
              <a:rPr b="1" lang="it" sz="1604">
                <a:solidFill>
                  <a:srgbClr val="986801"/>
                </a:solidFill>
                <a:latin typeface="Courier New"/>
                <a:ea typeface="Courier New"/>
                <a:cs typeface="Courier New"/>
                <a:sym typeface="Courier New"/>
              </a:rPr>
              <a:t>3.3464</a:t>
            </a:r>
            <a:r>
              <a:rPr b="1" lang="it" sz="1604">
                <a:solidFill>
                  <a:srgbClr val="4B5563"/>
                </a:solidFill>
                <a:latin typeface="Courier New"/>
                <a:ea typeface="Courier New"/>
                <a:cs typeface="Courier New"/>
                <a:sym typeface="Courier New"/>
              </a:rPr>
              <a:t>]])</a:t>
            </a:r>
            <a:endParaRPr b="1" sz="2454"/>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it"/>
              <a:t>Model (5)</a:t>
            </a:r>
            <a:endParaRPr/>
          </a:p>
        </p:txBody>
      </p:sp>
      <p:sp>
        <p:nvSpPr>
          <p:cNvPr id="240" name="Google Shape;240;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Our model predicted [-1.5607, 1.6123] for the first sentence and [ 4.1692, -3.3464] for the second one. Those are not probabilities but </a:t>
            </a:r>
            <a:r>
              <a:rPr b="1" lang="it"/>
              <a:t>logits</a:t>
            </a:r>
            <a:r>
              <a:rPr lang="it"/>
              <a:t>, the raw, unnormalized scores outputted by the last layer of the model. To be converted to probabilities, they need to go through a SoftMax layer</a:t>
            </a:r>
            <a:endParaRPr/>
          </a:p>
          <a:p>
            <a:pPr indent="0" lvl="0" marL="0" rtl="0" algn="l">
              <a:spcBef>
                <a:spcPts val="1200"/>
              </a:spcBef>
              <a:spcAft>
                <a:spcPts val="0"/>
              </a:spcAft>
              <a:buNone/>
            </a:pPr>
            <a:r>
              <a:rPr b="1" lang="it" sz="1450">
                <a:solidFill>
                  <a:srgbClr val="A626A4"/>
                </a:solidFill>
                <a:latin typeface="Courier New"/>
                <a:ea typeface="Courier New"/>
                <a:cs typeface="Courier New"/>
                <a:sym typeface="Courier New"/>
              </a:rPr>
              <a:t>import</a:t>
            </a:r>
            <a:r>
              <a:rPr b="1" lang="it" sz="1450">
                <a:solidFill>
                  <a:srgbClr val="4B5563"/>
                </a:solidFill>
                <a:latin typeface="Courier New"/>
                <a:ea typeface="Courier New"/>
                <a:cs typeface="Courier New"/>
                <a:sym typeface="Courier New"/>
              </a:rPr>
              <a:t> torch</a:t>
            </a:r>
            <a:endParaRPr b="1" sz="1450">
              <a:solidFill>
                <a:srgbClr val="4B5563"/>
              </a:solidFill>
              <a:latin typeface="Courier New"/>
              <a:ea typeface="Courier New"/>
              <a:cs typeface="Courier New"/>
              <a:sym typeface="Courier New"/>
            </a:endParaRPr>
          </a:p>
          <a:p>
            <a:pPr indent="0" lvl="0" marL="0" rtl="0" algn="l">
              <a:spcBef>
                <a:spcPts val="1200"/>
              </a:spcBef>
              <a:spcAft>
                <a:spcPts val="0"/>
              </a:spcAft>
              <a:buNone/>
            </a:pPr>
            <a:r>
              <a:rPr b="1" lang="it" sz="1450">
                <a:solidFill>
                  <a:srgbClr val="4B5563"/>
                </a:solidFill>
                <a:latin typeface="Courier New"/>
                <a:ea typeface="Courier New"/>
                <a:cs typeface="Courier New"/>
                <a:sym typeface="Courier New"/>
              </a:rPr>
              <a:t>predictions = torch.nn.functional.softmax(outputs.logits, dim=-</a:t>
            </a:r>
            <a:r>
              <a:rPr b="1" lang="it" sz="1450">
                <a:solidFill>
                  <a:srgbClr val="986801"/>
                </a:solidFill>
                <a:latin typeface="Courier New"/>
                <a:ea typeface="Courier New"/>
                <a:cs typeface="Courier New"/>
                <a:sym typeface="Courier New"/>
              </a:rPr>
              <a:t>1</a:t>
            </a:r>
            <a:r>
              <a:rPr b="1" lang="it" sz="1450">
                <a:solidFill>
                  <a:srgbClr val="4B5563"/>
                </a:solidFill>
                <a:latin typeface="Courier New"/>
                <a:ea typeface="Courier New"/>
                <a:cs typeface="Courier New"/>
                <a:sym typeface="Courier New"/>
              </a:rPr>
              <a:t>)</a:t>
            </a:r>
            <a:endParaRPr b="1" sz="1450">
              <a:solidFill>
                <a:srgbClr val="4B5563"/>
              </a:solidFill>
              <a:latin typeface="Courier New"/>
              <a:ea typeface="Courier New"/>
              <a:cs typeface="Courier New"/>
              <a:sym typeface="Courier New"/>
            </a:endParaRPr>
          </a:p>
          <a:p>
            <a:pPr indent="0" lvl="0" marL="0" rtl="0" algn="l">
              <a:spcBef>
                <a:spcPts val="1200"/>
              </a:spcBef>
              <a:spcAft>
                <a:spcPts val="1200"/>
              </a:spcAft>
              <a:buNone/>
            </a:pPr>
            <a:r>
              <a:rPr lang="it">
                <a:highlight>
                  <a:srgbClr val="FFFFFF"/>
                </a:highlight>
              </a:rPr>
              <a:t>Now we can see that the model predicted [0.0402, 0.9598] for the first sentence and [0.9995, 0.0005] for the second one. These are recognizable probability scores.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References</a:t>
            </a:r>
            <a:endParaRPr/>
          </a:p>
        </p:txBody>
      </p:sp>
      <p:sp>
        <p:nvSpPr>
          <p:cNvPr id="246" name="Google Shape;246;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HuggingFace course: </a:t>
            </a:r>
            <a:r>
              <a:rPr lang="it" u="sng">
                <a:solidFill>
                  <a:schemeClr val="hlink"/>
                </a:solidFill>
                <a:hlinkClick r:id="rId3"/>
              </a:rPr>
              <a:t>https://huggingface.co/course</a:t>
            </a:r>
            <a:r>
              <a:rPr lang="it"/>
              <a:t> </a:t>
            </a:r>
            <a:endParaRPr/>
          </a:p>
          <a:p>
            <a:pPr indent="-342900" lvl="0" marL="457200" rtl="0" algn="l">
              <a:spcBef>
                <a:spcPts val="0"/>
              </a:spcBef>
              <a:spcAft>
                <a:spcPts val="0"/>
              </a:spcAft>
              <a:buSzPts val="1800"/>
              <a:buChar char="●"/>
            </a:pPr>
            <a:r>
              <a:rPr lang="it"/>
              <a:t>Transformer architecture implemented from scratch: </a:t>
            </a:r>
            <a:r>
              <a:rPr lang="it" u="sng">
                <a:solidFill>
                  <a:schemeClr val="hlink"/>
                </a:solidFill>
                <a:hlinkClick r:id="rId4"/>
              </a:rPr>
              <a:t>https://github.com/aladdinpersson/Machine-Learning-Collection/blob/master/ML/Pytorch/more_advanced/transformer_from_scratch/transformer_from_scratch.py</a:t>
            </a:r>
            <a:r>
              <a:rPr lang="it"/>
              <a:t> </a:t>
            </a:r>
            <a:endParaRPr/>
          </a:p>
          <a:p>
            <a:pPr indent="-342900" lvl="0" marL="457200" rtl="0" algn="l">
              <a:spcBef>
                <a:spcPts val="0"/>
              </a:spcBef>
              <a:spcAft>
                <a:spcPts val="0"/>
              </a:spcAft>
              <a:buSzPts val="1800"/>
              <a:buChar char="●"/>
            </a:pPr>
            <a:r>
              <a:rPr lang="it"/>
              <a:t>Explanation of the Transformer architecture and derived models</a:t>
            </a:r>
            <a:endParaRPr/>
          </a:p>
          <a:p>
            <a:pPr indent="-317500" lvl="1" marL="914400" rtl="0" algn="l">
              <a:spcBef>
                <a:spcPts val="0"/>
              </a:spcBef>
              <a:spcAft>
                <a:spcPts val="0"/>
              </a:spcAft>
              <a:buSzPts val="1400"/>
              <a:buChar char="○"/>
            </a:pPr>
            <a:r>
              <a:rPr lang="it" u="sng">
                <a:solidFill>
                  <a:schemeClr val="hlink"/>
                </a:solidFill>
                <a:hlinkClick r:id="rId5"/>
              </a:rPr>
              <a:t>https://jalammar.github.io/illustrated-transformer/</a:t>
            </a:r>
            <a:r>
              <a:rPr lang="it"/>
              <a:t> </a:t>
            </a:r>
            <a:endParaRPr/>
          </a:p>
          <a:p>
            <a:pPr indent="-317500" lvl="1" marL="914400" rtl="0" algn="l">
              <a:spcBef>
                <a:spcPts val="0"/>
              </a:spcBef>
              <a:spcAft>
                <a:spcPts val="0"/>
              </a:spcAft>
              <a:buSzPts val="1400"/>
              <a:buChar char="○"/>
            </a:pPr>
            <a:r>
              <a:rPr lang="it" u="sng">
                <a:solidFill>
                  <a:schemeClr val="hlink"/>
                </a:solidFill>
                <a:hlinkClick r:id="rId6"/>
              </a:rPr>
              <a:t>https://jalammar.github.io/illustrated-gpt2/</a:t>
            </a:r>
            <a:r>
              <a:rPr lang="it"/>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0" name="Shape 250"/>
        <p:cNvGrpSpPr/>
        <p:nvPr/>
      </p:nvGrpSpPr>
      <p:grpSpPr>
        <a:xfrm>
          <a:off x="0" y="0"/>
          <a:ext cx="0" cy="0"/>
          <a:chOff x="0" y="0"/>
          <a:chExt cx="0" cy="0"/>
        </a:xfrm>
      </p:grpSpPr>
      <p:sp>
        <p:nvSpPr>
          <p:cNvPr id="251" name="Google Shape;251;p4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Bonus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 name="Shape 255"/>
        <p:cNvGrpSpPr/>
        <p:nvPr/>
      </p:nvGrpSpPr>
      <p:grpSpPr>
        <a:xfrm>
          <a:off x="0" y="0"/>
          <a:ext cx="0" cy="0"/>
          <a:chOff x="0" y="0"/>
          <a:chExt cx="0" cy="0"/>
        </a:xfrm>
      </p:grpSpPr>
      <p:sp>
        <p:nvSpPr>
          <p:cNvPr id="256" name="Google Shape;25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Deep Entity Matching with Pre-Trained Language Models</a:t>
            </a:r>
            <a:endParaRPr/>
          </a:p>
        </p:txBody>
      </p:sp>
      <p:sp>
        <p:nvSpPr>
          <p:cNvPr id="257" name="Google Shape;257;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5915" lvl="0" marL="457200" rtl="0" algn="l">
              <a:lnSpc>
                <a:spcPct val="95000"/>
              </a:lnSpc>
              <a:spcBef>
                <a:spcPts val="0"/>
              </a:spcBef>
              <a:spcAft>
                <a:spcPts val="0"/>
              </a:spcAft>
              <a:buSzPts val="1690"/>
              <a:buChar char="●"/>
            </a:pPr>
            <a:r>
              <a:rPr lang="it" sz="1690"/>
              <a:t>A pre-trained language model adapted to the EM task</a:t>
            </a:r>
            <a:endParaRPr sz="1690"/>
          </a:p>
          <a:p>
            <a:pPr indent="-335915" lvl="1" marL="914400" rtl="0" algn="l">
              <a:lnSpc>
                <a:spcPct val="95000"/>
              </a:lnSpc>
              <a:spcBef>
                <a:spcPts val="0"/>
              </a:spcBef>
              <a:spcAft>
                <a:spcPts val="0"/>
              </a:spcAft>
              <a:buSzPts val="1690"/>
              <a:buChar char="○"/>
            </a:pPr>
            <a:r>
              <a:rPr lang="it" sz="1690"/>
              <a:t>A binary classifier added on top of the CLS token embedding</a:t>
            </a:r>
            <a:endParaRPr sz="1690"/>
          </a:p>
          <a:p>
            <a:pPr indent="0" lvl="0" marL="457200" rtl="0" algn="l">
              <a:lnSpc>
                <a:spcPct val="95000"/>
              </a:lnSpc>
              <a:spcBef>
                <a:spcPts val="1200"/>
              </a:spcBef>
              <a:spcAft>
                <a:spcPts val="0"/>
              </a:spcAft>
              <a:buNone/>
            </a:pPr>
            <a:r>
              <a:t/>
            </a:r>
            <a:endParaRPr sz="1690"/>
          </a:p>
          <a:p>
            <a:pPr indent="-335915" lvl="0" marL="457200" rtl="0" algn="l">
              <a:lnSpc>
                <a:spcPct val="95000"/>
              </a:lnSpc>
              <a:spcBef>
                <a:spcPts val="1200"/>
              </a:spcBef>
              <a:spcAft>
                <a:spcPts val="0"/>
              </a:spcAft>
              <a:buSzPts val="1690"/>
              <a:buChar char="●"/>
            </a:pPr>
            <a:r>
              <a:rPr lang="it" sz="1690"/>
              <a:t>Optimizations (mainly in the data)</a:t>
            </a:r>
            <a:endParaRPr sz="1690"/>
          </a:p>
          <a:p>
            <a:pPr indent="-335915" lvl="1" marL="914400" rtl="0" algn="l">
              <a:lnSpc>
                <a:spcPct val="95000"/>
              </a:lnSpc>
              <a:spcBef>
                <a:spcPts val="0"/>
              </a:spcBef>
              <a:spcAft>
                <a:spcPts val="0"/>
              </a:spcAft>
              <a:buSzPts val="1690"/>
              <a:buChar char="○"/>
            </a:pPr>
            <a:r>
              <a:rPr lang="it" sz="1690"/>
              <a:t>Attribute separators</a:t>
            </a:r>
            <a:endParaRPr sz="1690"/>
          </a:p>
          <a:p>
            <a:pPr indent="-335915" lvl="1" marL="914400" rtl="0" algn="l">
              <a:lnSpc>
                <a:spcPct val="95000"/>
              </a:lnSpc>
              <a:spcBef>
                <a:spcPts val="0"/>
              </a:spcBef>
              <a:spcAft>
                <a:spcPts val="0"/>
              </a:spcAft>
              <a:buSzPts val="1690"/>
              <a:buChar char="○"/>
            </a:pPr>
            <a:r>
              <a:rPr lang="it" sz="1690"/>
              <a:t>Domain knowledge injection</a:t>
            </a:r>
            <a:endParaRPr sz="1690"/>
          </a:p>
          <a:p>
            <a:pPr indent="-335915" lvl="1" marL="914400" rtl="0" algn="l">
              <a:lnSpc>
                <a:spcPct val="95000"/>
              </a:lnSpc>
              <a:spcBef>
                <a:spcPts val="0"/>
              </a:spcBef>
              <a:spcAft>
                <a:spcPts val="0"/>
              </a:spcAft>
              <a:buSzPts val="1690"/>
              <a:buChar char="○"/>
            </a:pPr>
            <a:r>
              <a:rPr lang="it" sz="1690"/>
              <a:t>TF-IDF summarization</a:t>
            </a:r>
            <a:endParaRPr sz="1690"/>
          </a:p>
          <a:p>
            <a:pPr indent="0" lvl="0" marL="0" rtl="0" algn="l">
              <a:lnSpc>
                <a:spcPct val="95000"/>
              </a:lnSpc>
              <a:spcBef>
                <a:spcPts val="1200"/>
              </a:spcBef>
              <a:spcAft>
                <a:spcPts val="1200"/>
              </a:spcAft>
              <a:buSzPts val="605"/>
              <a:buNone/>
            </a:pPr>
            <a:r>
              <a:t/>
            </a:r>
            <a:endParaRPr sz="1690"/>
          </a:p>
        </p:txBody>
      </p:sp>
      <p:pic>
        <p:nvPicPr>
          <p:cNvPr id="258" name="Google Shape;258;p44"/>
          <p:cNvPicPr preferRelativeResize="0"/>
          <p:nvPr/>
        </p:nvPicPr>
        <p:blipFill>
          <a:blip r:embed="rId3">
            <a:alphaModFix/>
          </a:blip>
          <a:stretch>
            <a:fillRect/>
          </a:stretch>
        </p:blipFill>
        <p:spPr>
          <a:xfrm>
            <a:off x="5232225" y="1741711"/>
            <a:ext cx="3447475" cy="2346925"/>
          </a:xfrm>
          <a:prstGeom prst="rect">
            <a:avLst/>
          </a:prstGeom>
          <a:noFill/>
          <a:ln>
            <a:noFill/>
          </a:ln>
        </p:spPr>
      </p:pic>
      <p:pic>
        <p:nvPicPr>
          <p:cNvPr id="259" name="Google Shape;259;p44"/>
          <p:cNvPicPr preferRelativeResize="0"/>
          <p:nvPr/>
        </p:nvPicPr>
        <p:blipFill>
          <a:blip r:embed="rId4">
            <a:alphaModFix/>
          </a:blip>
          <a:stretch>
            <a:fillRect/>
          </a:stretch>
        </p:blipFill>
        <p:spPr>
          <a:xfrm>
            <a:off x="337500" y="3623531"/>
            <a:ext cx="4430925" cy="984656"/>
          </a:xfrm>
          <a:prstGeom prst="rect">
            <a:avLst/>
          </a:prstGeom>
          <a:noFill/>
          <a:ln>
            <a:noFill/>
          </a:ln>
        </p:spPr>
      </p:pic>
      <p:pic>
        <p:nvPicPr>
          <p:cNvPr id="260" name="Google Shape;260;p44"/>
          <p:cNvPicPr preferRelativeResize="0"/>
          <p:nvPr/>
        </p:nvPicPr>
        <p:blipFill>
          <a:blip r:embed="rId5">
            <a:alphaModFix/>
          </a:blip>
          <a:stretch>
            <a:fillRect/>
          </a:stretch>
        </p:blipFill>
        <p:spPr>
          <a:xfrm>
            <a:off x="5049670" y="4070700"/>
            <a:ext cx="3812570" cy="299025"/>
          </a:xfrm>
          <a:prstGeom prst="rect">
            <a:avLst/>
          </a:prstGeom>
          <a:noFill/>
          <a:ln>
            <a:noFill/>
          </a:ln>
        </p:spPr>
      </p:pic>
      <p:sp>
        <p:nvSpPr>
          <p:cNvPr id="261" name="Google Shape;261;p44"/>
          <p:cNvSpPr txBox="1"/>
          <p:nvPr/>
        </p:nvSpPr>
        <p:spPr>
          <a:xfrm>
            <a:off x="969450" y="4568875"/>
            <a:ext cx="7205100" cy="39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sz="1300" u="sng">
                <a:solidFill>
                  <a:schemeClr val="accent5"/>
                </a:solidFill>
                <a:latin typeface="Verdana"/>
                <a:ea typeface="Verdana"/>
                <a:cs typeface="Verdana"/>
                <a:sym typeface="Verdana"/>
                <a:hlinkClick r:id="rId6">
                  <a:extLst>
                    <a:ext uri="{A12FA001-AC4F-418D-AE19-62706E023703}">
                      <ahyp:hlinkClr val="tx"/>
                    </a:ext>
                  </a:extLst>
                </a:hlinkClick>
              </a:rPr>
              <a:t>https://www.vldb.org/pvldb/vol14/p50-li.pdf</a:t>
            </a:r>
            <a:r>
              <a:rPr lang="it">
                <a:solidFill>
                  <a:schemeClr val="dk1"/>
                </a:solidFill>
                <a:latin typeface="Verdana"/>
                <a:ea typeface="Verdana"/>
                <a:cs typeface="Verdana"/>
                <a:sym typeface="Verdana"/>
              </a:rPr>
              <a:t>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